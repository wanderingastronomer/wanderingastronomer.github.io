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4630400" cy="8229600"/>
  <p:notesSz cx="8229600" cy="14630400"/>
  <p:embeddedFontLst>
    <p:embeddedFont>
      <p:font typeface="Tomorrow Semi Bold"/>
      <p:regular r:id="rId26"/>
    </p:embeddedFont>
    <p:embeddedFont>
      <p:font typeface="Tomorrow Semi Bold"/>
      <p:regular r:id="rId27"/>
    </p:embeddedFont>
    <p:embeddedFont>
      <p:font typeface="Tomorrow Semi Bold"/>
      <p:regular r:id="rId28"/>
    </p:embeddedFont>
    <p:embeddedFont>
      <p:font typeface="Tomorrow Semi Bold"/>
      <p:regular r:id="rId29"/>
    </p:embeddedFont>
    <p:embeddedFont>
      <p:font typeface="Tomorrow"/>
      <p:regular r:id="rId30"/>
    </p:embeddedFont>
    <p:embeddedFont>
      <p:font typeface="Tomorrow"/>
      <p:regular r:id="rId31"/>
    </p:embeddedFont>
    <p:embeddedFont>
      <p:font typeface="Tomorrow"/>
      <p:regular r:id="rId32"/>
    </p:embeddedFont>
    <p:embeddedFont>
      <p:font typeface="Tomorrow"/>
      <p:regular r:id="rId3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font" Target="fonts/font1.fntdata"/><Relationship Id="rId27" Type="http://schemas.openxmlformats.org/officeDocument/2006/relationships/font" Target="fonts/font2.fntdata"/><Relationship Id="rId28" Type="http://schemas.openxmlformats.org/officeDocument/2006/relationships/font" Target="fonts/font3.fntdata"/><Relationship Id="rId29" Type="http://schemas.openxmlformats.org/officeDocument/2006/relationships/font" Target="fonts/font4.fntdata"/><Relationship Id="rId30" Type="http://schemas.openxmlformats.org/officeDocument/2006/relationships/font" Target="fonts/font5.fntdata"/><Relationship Id="rId31" Type="http://schemas.openxmlformats.org/officeDocument/2006/relationships/font" Target="fonts/font6.fntdata"/><Relationship Id="rId32" Type="http://schemas.openxmlformats.org/officeDocument/2006/relationships/font" Target="fonts/font7.fntdata"/><Relationship Id="rId33"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D0D0C"/>
          </a:solidFill>
          <a:ln/>
        </p:spPr>
      </p:sp>
      <p:sp>
        <p:nvSpPr>
          <p:cNvPr id="3" name="Shape 1"/>
          <p:cNvSpPr/>
          <p:nvPr/>
        </p:nvSpPr>
        <p:spPr>
          <a:xfrm>
            <a:off x="0" y="0"/>
            <a:ext cx="14630400" cy="8229600"/>
          </a:xfrm>
          <a:prstGeom prst="rect">
            <a:avLst/>
          </a:prstGeom>
          <a:solidFill>
            <a:srgbClr val="1D1D1B"/>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9.png"/><Relationship Id="rId10" Type="http://schemas.openxmlformats.org/officeDocument/2006/relationships/image" Target="../media/image-4-10.svg"/><Relationship Id="rId11" Type="http://schemas.openxmlformats.org/officeDocument/2006/relationships/image" Target="../media/image-4-11.png"/><Relationship Id="rId12" Type="http://schemas.openxmlformats.org/officeDocument/2006/relationships/image" Target="../media/image-4-12.svg"/><Relationship Id="rId13" Type="http://schemas.openxmlformats.org/officeDocument/2006/relationships/image" Target="../media/image-4-13.png"/><Relationship Id="rId14" Type="http://schemas.openxmlformats.org/officeDocument/2006/relationships/image" Target="../media/image-4-14.svg"/><Relationship Id="rId15" Type="http://schemas.openxmlformats.org/officeDocument/2006/relationships/image" Target="../media/image-4-15.png"/><Relationship Id="rId16" Type="http://schemas.openxmlformats.org/officeDocument/2006/relationships/image" Target="../media/image-4-16.svg"/><Relationship Id="rId17" Type="http://schemas.openxmlformats.org/officeDocument/2006/relationships/image" Target="../media/image-4-17.png"/><Relationship Id="rId18" Type="http://schemas.openxmlformats.org/officeDocument/2006/relationships/image" Target="../media/image-4-18.svg"/><Relationship Id="rId19" Type="http://schemas.openxmlformats.org/officeDocument/2006/relationships/image" Target="../media/image-4-19.png"/><Relationship Id="rId20" Type="http://schemas.openxmlformats.org/officeDocument/2006/relationships/image" Target="../media/image-4-20.svg"/><Relationship Id="rId21" Type="http://schemas.openxmlformats.org/officeDocument/2006/relationships/slideLayout" Target="../slideLayouts/slideLayout5.xml"/><Relationship Id="rId2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slideLayout" Target="../slideLayouts/slideLayout16.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svg"/><Relationship Id="rId3" Type="http://schemas.openxmlformats.org/officeDocument/2006/relationships/slideLayout" Target="../slideLayouts/slideLayout17.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svg"/><Relationship Id="rId3" Type="http://schemas.openxmlformats.org/officeDocument/2006/relationships/slideLayout" Target="../slideLayouts/slideLayout18.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svg"/><Relationship Id="rId5" Type="http://schemas.openxmlformats.org/officeDocument/2006/relationships/image" Target="../media/image-18-5.png"/><Relationship Id="rId6" Type="http://schemas.openxmlformats.org/officeDocument/2006/relationships/image" Target="../media/image-18-6.svg"/><Relationship Id="rId7" Type="http://schemas.openxmlformats.org/officeDocument/2006/relationships/image" Target="../media/image-18-7.png"/><Relationship Id="rId8" Type="http://schemas.openxmlformats.org/officeDocument/2006/relationships/image" Target="../media/image-18-8.svg"/><Relationship Id="rId9" Type="http://schemas.openxmlformats.org/officeDocument/2006/relationships/slideLayout" Target="../slideLayouts/slideLayout19.xml"/><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github.com/ACM-Franklin/Fall-2025-Team-NCL-Terminalators" TargetMode="External"/><Relationship Id="rId2" Type="http://schemas.openxmlformats.org/officeDocument/2006/relationships/slideLayout" Target="../slideLayouts/slideLayout20.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93790" y="1678305"/>
            <a:ext cx="13042821" cy="3260646"/>
          </a:xfrm>
          <a:prstGeom prst="rect">
            <a:avLst/>
          </a:prstGeom>
        </p:spPr>
      </p:pic>
      <p:sp>
        <p:nvSpPr>
          <p:cNvPr id="3" name="Text 0"/>
          <p:cNvSpPr/>
          <p:nvPr/>
        </p:nvSpPr>
        <p:spPr>
          <a:xfrm>
            <a:off x="1802844" y="5236607"/>
            <a:ext cx="11024711" cy="620078"/>
          </a:xfrm>
          <a:prstGeom prst="rect">
            <a:avLst/>
          </a:prstGeom>
          <a:noFill/>
          <a:ln/>
        </p:spPr>
        <p:txBody>
          <a:bodyPr wrap="none" lIns="0" tIns="0" rIns="0" bIns="0" rtlCol="0" anchor="t"/>
          <a:lstStyle/>
          <a:p>
            <a:pPr algn="ctr" indent="0" marL="0">
              <a:lnSpc>
                <a:spcPts val="4850"/>
              </a:lnSpc>
              <a:buNone/>
            </a:pPr>
            <a:r>
              <a:rPr lang="en-US" sz="3900" dirty="0">
                <a:solidFill>
                  <a:srgbClr val="EDEDE8"/>
                </a:solidFill>
                <a:latin typeface="Tomorrow Semi Bold" pitchFamily="34" charset="0"/>
                <a:ea typeface="Tomorrow Semi Bold" pitchFamily="34" charset="-122"/>
                <a:cs typeface="Tomorrow Semi Bold" pitchFamily="34" charset="-120"/>
              </a:rPr>
              <a:t>What to Expect in the National Cyber League</a:t>
            </a:r>
            <a:endParaRPr lang="en-US" sz="3900" dirty="0"/>
          </a:p>
        </p:txBody>
      </p:sp>
      <p:sp>
        <p:nvSpPr>
          <p:cNvPr id="4" name="Text 1"/>
          <p:cNvSpPr/>
          <p:nvPr/>
        </p:nvSpPr>
        <p:spPr>
          <a:xfrm>
            <a:off x="793790" y="6154341"/>
            <a:ext cx="13042821" cy="396954"/>
          </a:xfrm>
          <a:prstGeom prst="rect">
            <a:avLst/>
          </a:prstGeom>
          <a:noFill/>
          <a:ln/>
        </p:spPr>
        <p:txBody>
          <a:bodyPr wrap="none" lIns="0" tIns="0" rIns="0" bIns="0" rtlCol="0" anchor="t"/>
          <a:lstStyle/>
          <a:p>
            <a:pPr algn="ctr" indent="0" marL="0">
              <a:lnSpc>
                <a:spcPts val="3100"/>
              </a:lnSpc>
              <a:buNone/>
            </a:pPr>
            <a:r>
              <a:rPr lang="en-US" sz="1950" dirty="0">
                <a:solidFill>
                  <a:srgbClr val="C9C9C0"/>
                </a:solidFill>
                <a:latin typeface="Tomorrow" pitchFamily="34" charset="0"/>
                <a:ea typeface="Tomorrow" pitchFamily="34" charset="-122"/>
                <a:cs typeface="Tomorrow" pitchFamily="34" charset="-120"/>
              </a:rPr>
              <a:t>Spring 2026 Prep Meeting — Your Roadmap to Capture the Flag</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480072"/>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EDEDE8"/>
                </a:solidFill>
                <a:latin typeface="Tomorrow Semi Bold" pitchFamily="34" charset="0"/>
                <a:ea typeface="Tomorrow Semi Bold" pitchFamily="34" charset="-122"/>
                <a:cs typeface="Tomorrow Semi Bold" pitchFamily="34" charset="-120"/>
              </a:rPr>
              <a:t>What Is the NCL?</a:t>
            </a:r>
            <a:endParaRPr lang="en-US" sz="3900" dirty="0"/>
          </a:p>
        </p:txBody>
      </p:sp>
      <p:sp>
        <p:nvSpPr>
          <p:cNvPr id="3" name="Text 1"/>
          <p:cNvSpPr/>
          <p:nvPr/>
        </p:nvSpPr>
        <p:spPr>
          <a:xfrm>
            <a:off x="793790" y="3397806"/>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The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National Cyber League (NCL)</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is one of the most respected cybersecurity competitions in the country. Every season — spring and fall — thousands of students from hundreds of universities go head-to-head in a battle of technical skill and creative problem-solving.</a:t>
            </a:r>
            <a:endParaRPr lang="en-US" sz="1550" dirty="0"/>
          </a:p>
        </p:txBody>
      </p:sp>
      <p:sp>
        <p:nvSpPr>
          <p:cNvPr id="4" name="Text 2"/>
          <p:cNvSpPr/>
          <p:nvPr/>
        </p:nvSpPr>
        <p:spPr>
          <a:xfrm>
            <a:off x="793790" y="4256127"/>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It's a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Capture the Flag (CTF)</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style competition: you're given real-world cybersecurity challenges, and you solve them to earn points. No trick questions, no fluff — just hands-on skills that directly translate to the job market.</a:t>
            </a:r>
            <a:endParaRPr lang="en-US" sz="1550" dirty="0"/>
          </a:p>
        </p:txBody>
      </p:sp>
      <p:sp>
        <p:nvSpPr>
          <p:cNvPr id="5" name="Text 3"/>
          <p:cNvSpPr/>
          <p:nvPr/>
        </p:nvSpPr>
        <p:spPr>
          <a:xfrm>
            <a:off x="793790" y="5114449"/>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The NCL is recognized by employers and educators as a legitimate benchmark of cybersecurity ability. Your scores go onto a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Scouting Report</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that you can share with recruiters and feature on your resume — a tangible, data-backed credential that sets you apart.</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402318"/>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EDEDE8"/>
                </a:solidFill>
                <a:latin typeface="Tomorrow Semi Bold" pitchFamily="34" charset="0"/>
                <a:ea typeface="Tomorrow Semi Bold" pitchFamily="34" charset="-122"/>
                <a:cs typeface="Tomorrow Semi Bold" pitchFamily="34" charset="-120"/>
              </a:rPr>
              <a:t>How Does It Work?</a:t>
            </a:r>
            <a:endParaRPr lang="en-US" sz="3900" dirty="0"/>
          </a:p>
        </p:txBody>
      </p:sp>
      <p:sp>
        <p:nvSpPr>
          <p:cNvPr id="3" name="Text 1"/>
          <p:cNvSpPr/>
          <p:nvPr/>
        </p:nvSpPr>
        <p:spPr>
          <a:xfrm>
            <a:off x="793790" y="2419231"/>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The competition unfolds across two major phases, each running over a full weekend window. Think of the solo game as your warmup and the team game as the main event.</a:t>
            </a:r>
            <a:endParaRPr lang="en-US" sz="1550" dirty="0"/>
          </a:p>
        </p:txBody>
      </p:sp>
      <p:sp>
        <p:nvSpPr>
          <p:cNvPr id="4" name="Shape 2"/>
          <p:cNvSpPr/>
          <p:nvPr/>
        </p:nvSpPr>
        <p:spPr>
          <a:xfrm>
            <a:off x="793790" y="3277553"/>
            <a:ext cx="13042821" cy="2691289"/>
          </a:xfrm>
          <a:prstGeom prst="roundRect">
            <a:avLst>
              <a:gd name="adj" fmla="val 1106"/>
            </a:avLst>
          </a:prstGeom>
          <a:solidFill>
            <a:srgbClr val="3C3C3A"/>
          </a:solidFill>
          <a:ln/>
        </p:spPr>
      </p:sp>
      <p:sp>
        <p:nvSpPr>
          <p:cNvPr id="5" name="Shape 3"/>
          <p:cNvSpPr/>
          <p:nvPr/>
        </p:nvSpPr>
        <p:spPr>
          <a:xfrm>
            <a:off x="793790" y="3277553"/>
            <a:ext cx="6521410" cy="2691289"/>
          </a:xfrm>
          <a:prstGeom prst="roundRect">
            <a:avLst>
              <a:gd name="adj" fmla="val 1106"/>
            </a:avLst>
          </a:prstGeom>
          <a:solidFill>
            <a:srgbClr val="3C3C3A"/>
          </a:solidFill>
          <a:ln/>
        </p:spPr>
      </p:sp>
      <p:sp>
        <p:nvSpPr>
          <p:cNvPr id="6" name="Text 4"/>
          <p:cNvSpPr/>
          <p:nvPr/>
        </p:nvSpPr>
        <p:spPr>
          <a:xfrm>
            <a:off x="992148" y="3475911"/>
            <a:ext cx="2896314" cy="310158"/>
          </a:xfrm>
          <a:prstGeom prst="rect">
            <a:avLst/>
          </a:prstGeom>
          <a:noFill/>
          <a:ln/>
        </p:spPr>
        <p:txBody>
          <a:bodyPr wrap="none" lIns="0" tIns="0" rIns="0" bIns="0" rtlCol="0" anchor="t"/>
          <a:lstStyle/>
          <a:p>
            <a:pPr algn="l" indent="0" marL="0">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Individual Game (Solo)</a:t>
            </a:r>
            <a:endParaRPr lang="en-US" sz="1950" dirty="0"/>
          </a:p>
        </p:txBody>
      </p:sp>
      <p:sp>
        <p:nvSpPr>
          <p:cNvPr id="7" name="Text 5"/>
          <p:cNvSpPr/>
          <p:nvPr/>
        </p:nvSpPr>
        <p:spPr>
          <a:xfrm>
            <a:off x="992148" y="3905131"/>
            <a:ext cx="6124694" cy="1408986"/>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C9C9C0"/>
                </a:solidFill>
                <a:latin typeface="Tomorrow" pitchFamily="34" charset="0"/>
                <a:ea typeface="Tomorrow" pitchFamily="34" charset="-122"/>
                <a:cs typeface="Tomorrow" pitchFamily="34" charset="-120"/>
              </a:rPr>
              <a:t>You compete alone against the clock</a:t>
            </a:r>
            <a:endParaRPr lang="en-US" sz="1550" dirty="0"/>
          </a:p>
          <a:p>
            <a:pPr algn="l" marL="342900" indent="-342900">
              <a:lnSpc>
                <a:spcPts val="2500"/>
              </a:lnSpc>
              <a:buSzPct val="100000"/>
              <a:buChar char="•"/>
            </a:pPr>
            <a:r>
              <a:rPr lang="en-US" sz="1550" dirty="0">
                <a:solidFill>
                  <a:srgbClr val="C9C9C0"/>
                </a:solidFill>
                <a:latin typeface="Tomorrow" pitchFamily="34" charset="0"/>
                <a:ea typeface="Tomorrow" pitchFamily="34" charset="-122"/>
                <a:cs typeface="Tomorrow" pitchFamily="34" charset="-120"/>
              </a:rPr>
              <a:t>Opens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Friday 1:00 PM</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closes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Sunday 9:00 PM</a:t>
            </a:r>
            <a:endParaRPr lang="en-US" sz="1550" dirty="0"/>
          </a:p>
          <a:p>
            <a:pPr algn="l" marL="342900" indent="-342900">
              <a:lnSpc>
                <a:spcPts val="2500"/>
              </a:lnSpc>
              <a:buSzPct val="100000"/>
              <a:buChar char="•"/>
            </a:pPr>
            <a:r>
              <a:rPr lang="en-US" sz="1550" dirty="0">
                <a:solidFill>
                  <a:srgbClr val="C9C9C0"/>
                </a:solidFill>
                <a:latin typeface="Tomorrow" pitchFamily="34" charset="0"/>
                <a:ea typeface="Tomorrow" pitchFamily="34" charset="-122"/>
                <a:cs typeface="Tomorrow" pitchFamily="34" charset="-120"/>
              </a:rPr>
              <a:t>Your solo performance determines your bracket and national placement</a:t>
            </a:r>
            <a:endParaRPr lang="en-US" sz="1550" dirty="0"/>
          </a:p>
        </p:txBody>
      </p:sp>
      <p:sp>
        <p:nvSpPr>
          <p:cNvPr id="8" name="Shape 6"/>
          <p:cNvSpPr/>
          <p:nvPr/>
        </p:nvSpPr>
        <p:spPr>
          <a:xfrm>
            <a:off x="7315200" y="3277553"/>
            <a:ext cx="6521410" cy="2691289"/>
          </a:xfrm>
          <a:prstGeom prst="rect">
            <a:avLst/>
          </a:prstGeom>
          <a:solidFill>
            <a:srgbClr val="3C3C3A"/>
          </a:solidFill>
          <a:ln/>
        </p:spPr>
      </p:sp>
      <p:sp>
        <p:nvSpPr>
          <p:cNvPr id="9" name="Shape 7"/>
          <p:cNvSpPr/>
          <p:nvPr/>
        </p:nvSpPr>
        <p:spPr>
          <a:xfrm>
            <a:off x="7315200" y="3277553"/>
            <a:ext cx="22860" cy="2691289"/>
          </a:xfrm>
          <a:prstGeom prst="roundRect">
            <a:avLst>
              <a:gd name="adj" fmla="val 130232"/>
            </a:avLst>
          </a:prstGeom>
          <a:solidFill>
            <a:srgbClr val="555553"/>
          </a:solidFill>
          <a:ln/>
        </p:spPr>
      </p:sp>
      <p:sp>
        <p:nvSpPr>
          <p:cNvPr id="10" name="Text 8"/>
          <p:cNvSpPr/>
          <p:nvPr/>
        </p:nvSpPr>
        <p:spPr>
          <a:xfrm>
            <a:off x="7513558" y="3475911"/>
            <a:ext cx="3391733" cy="310158"/>
          </a:xfrm>
          <a:prstGeom prst="rect">
            <a:avLst/>
          </a:prstGeom>
          <a:noFill/>
          <a:ln/>
        </p:spPr>
        <p:txBody>
          <a:bodyPr wrap="none" lIns="0" tIns="0" rIns="0" bIns="0" rtlCol="0" anchor="t"/>
          <a:lstStyle/>
          <a:p>
            <a:pPr algn="l" indent="0" marL="0">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Team Game (Collaborative)</a:t>
            </a:r>
            <a:endParaRPr lang="en-US" sz="1950" dirty="0"/>
          </a:p>
        </p:txBody>
      </p:sp>
      <p:sp>
        <p:nvSpPr>
          <p:cNvPr id="11" name="Text 9"/>
          <p:cNvSpPr/>
          <p:nvPr/>
        </p:nvSpPr>
        <p:spPr>
          <a:xfrm>
            <a:off x="7513558" y="3905131"/>
            <a:ext cx="6124694" cy="1865352"/>
          </a:xfrm>
          <a:prstGeom prst="rect">
            <a:avLst/>
          </a:prstGeom>
          <a:noFill/>
          <a:ln/>
        </p:spPr>
        <p:txBody>
          <a:bodyPr wrap="square" lIns="0" tIns="0" rIns="0" bIns="0" rtlCol="0" anchor="t"/>
          <a:lstStyle/>
          <a:p>
            <a:pPr algn="l" marL="342900" indent="-342900">
              <a:lnSpc>
                <a:spcPts val="2500"/>
              </a:lnSpc>
              <a:buSzPct val="100000"/>
              <a:buChar char="•"/>
            </a:pPr>
            <a:r>
              <a:rPr lang="en-US" sz="1550" dirty="0">
                <a:solidFill>
                  <a:srgbClr val="C9C9C0"/>
                </a:solidFill>
                <a:latin typeface="Tomorrow" pitchFamily="34" charset="0"/>
                <a:ea typeface="Tomorrow" pitchFamily="34" charset="-122"/>
                <a:cs typeface="Tomorrow" pitchFamily="34" charset="-120"/>
              </a:rPr>
              <a:t>Two weekends after the individual game</a:t>
            </a:r>
            <a:endParaRPr lang="en-US" sz="1550" dirty="0"/>
          </a:p>
          <a:p>
            <a:pPr algn="l" marL="342900" indent="-342900">
              <a:lnSpc>
                <a:spcPts val="2500"/>
              </a:lnSpc>
              <a:buSzPct val="100000"/>
              <a:buChar char="•"/>
            </a:pPr>
            <a:r>
              <a:rPr lang="en-US" sz="1550" dirty="0">
                <a:solidFill>
                  <a:srgbClr val="C9C9C0"/>
                </a:solidFill>
                <a:latin typeface="Tomorrow" pitchFamily="34" charset="0"/>
                <a:ea typeface="Tomorrow" pitchFamily="34" charset="-122"/>
                <a:cs typeface="Tomorrow" pitchFamily="34" charset="-120"/>
              </a:rPr>
              <a:t>Same time window: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Friday 1 PM — Sunday 9 PM</a:t>
            </a:r>
            <a:endParaRPr lang="en-US" sz="1550" dirty="0"/>
          </a:p>
          <a:p>
            <a:pPr algn="l" marL="342900" indent="-342900">
              <a:lnSpc>
                <a:spcPts val="2500"/>
              </a:lnSpc>
              <a:buSzPct val="100000"/>
              <a:buChar char="•"/>
            </a:pPr>
            <a:r>
              <a:rPr lang="en-US" sz="1550" dirty="0">
                <a:solidFill>
                  <a:srgbClr val="C9C9C0"/>
                </a:solidFill>
                <a:latin typeface="Tomorrow" pitchFamily="34" charset="0"/>
                <a:ea typeface="Tomorrow" pitchFamily="34" charset="-122"/>
                <a:cs typeface="Tomorrow" pitchFamily="34" charset="-120"/>
              </a:rPr>
              <a:t>Teams of up to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7 people</a:t>
            </a:r>
            <a:endParaRPr lang="en-US" sz="1550" dirty="0"/>
          </a:p>
          <a:p>
            <a:pPr algn="l" marL="342900" indent="-342900">
              <a:lnSpc>
                <a:spcPts val="2500"/>
              </a:lnSpc>
              <a:buSzPct val="100000"/>
              <a:buChar char="•"/>
            </a:pPr>
            <a:r>
              <a:rPr lang="en-US" sz="1550" dirty="0">
                <a:solidFill>
                  <a:srgbClr val="C9C9C0"/>
                </a:solidFill>
                <a:latin typeface="Tomorrow" pitchFamily="34" charset="0"/>
                <a:ea typeface="Tomorrow" pitchFamily="34" charset="-122"/>
                <a:cs typeface="Tomorrow" pitchFamily="34" charset="-120"/>
              </a:rPr>
              <a:t>Same categories, but harder challenges</a:t>
            </a:r>
            <a:endParaRPr lang="en-US" sz="1550" dirty="0"/>
          </a:p>
          <a:p>
            <a:pPr algn="l" marL="342900" indent="-342900">
              <a:lnSpc>
                <a:spcPts val="2500"/>
              </a:lnSpc>
              <a:buSzPct val="100000"/>
              <a:buChar char="•"/>
            </a:pPr>
            <a:r>
              <a:rPr lang="en-US" sz="1550" dirty="0">
                <a:solidFill>
                  <a:srgbClr val="C9C9C0"/>
                </a:solidFill>
                <a:latin typeface="Tomorrow" pitchFamily="34" charset="0"/>
                <a:ea typeface="Tomorrow" pitchFamily="34" charset="-122"/>
                <a:cs typeface="Tomorrow" pitchFamily="34" charset="-120"/>
              </a:rPr>
              <a:t>Strategy matters — divide and conquer by skillset</a:t>
            </a:r>
            <a:endParaRPr lang="en-US" sz="1550" dirty="0"/>
          </a:p>
        </p:txBody>
      </p:sp>
      <p:sp>
        <p:nvSpPr>
          <p:cNvPr id="12" name="Text 10"/>
          <p:cNvSpPr/>
          <p:nvPr/>
        </p:nvSpPr>
        <p:spPr>
          <a:xfrm>
            <a:off x="793790" y="6192083"/>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Both games use the same platform and the same categories. The solo round lets you identify your personal strengths, while the team round rewards coordination and specialization.</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93790" y="637342"/>
            <a:ext cx="2177296" cy="324326"/>
          </a:xfrm>
          <a:prstGeom prst="roundRect">
            <a:avLst>
              <a:gd name="adj" fmla="val 6609"/>
            </a:avLst>
          </a:prstGeom>
          <a:solidFill>
            <a:srgbClr val="272725"/>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00946" y="728067"/>
            <a:ext cx="142875" cy="142875"/>
          </a:xfrm>
          <a:prstGeom prst="rect">
            <a:avLst/>
          </a:prstGeom>
        </p:spPr>
      </p:pic>
      <p:sp>
        <p:nvSpPr>
          <p:cNvPr id="4" name="Text 1"/>
          <p:cNvSpPr/>
          <p:nvPr/>
        </p:nvSpPr>
        <p:spPr>
          <a:xfrm>
            <a:off x="1115258" y="690920"/>
            <a:ext cx="1748671" cy="217170"/>
          </a:xfrm>
          <a:prstGeom prst="rect">
            <a:avLst/>
          </a:prstGeom>
          <a:noFill/>
          <a:ln/>
        </p:spPr>
        <p:txBody>
          <a:bodyPr wrap="none" lIns="0" tIns="0" rIns="0" bIns="0" rtlCol="0" anchor="t"/>
          <a:lstStyle/>
          <a:p>
            <a:pPr algn="l" indent="0" marL="0">
              <a:lnSpc>
                <a:spcPts val="1700"/>
              </a:lnSpc>
              <a:buNone/>
            </a:pPr>
            <a:r>
              <a:rPr lang="en-US" sz="1100" dirty="0">
                <a:solidFill>
                  <a:srgbClr val="C9C9C0"/>
                </a:solidFill>
                <a:latin typeface="Tomorrow" pitchFamily="34" charset="0"/>
                <a:ea typeface="Tomorrow" pitchFamily="34" charset="-122"/>
                <a:cs typeface="Tomorrow" pitchFamily="34" charset="-120"/>
              </a:rPr>
              <a:t>COMPETITION OVERVIEW</a:t>
            </a:r>
            <a:endParaRPr lang="en-US" sz="1100" dirty="0"/>
          </a:p>
        </p:txBody>
      </p:sp>
      <p:sp>
        <p:nvSpPr>
          <p:cNvPr id="5" name="Text 2"/>
          <p:cNvSpPr/>
          <p:nvPr/>
        </p:nvSpPr>
        <p:spPr>
          <a:xfrm>
            <a:off x="793790" y="1025962"/>
            <a:ext cx="7440692" cy="558165"/>
          </a:xfrm>
          <a:prstGeom prst="rect">
            <a:avLst/>
          </a:prstGeom>
          <a:noFill/>
          <a:ln/>
        </p:spPr>
        <p:txBody>
          <a:bodyPr wrap="none" lIns="0" tIns="0" rIns="0" bIns="0" rtlCol="0" anchor="t"/>
          <a:lstStyle/>
          <a:p>
            <a:pPr algn="l" indent="0" marL="0">
              <a:lnSpc>
                <a:spcPts val="4350"/>
              </a:lnSpc>
              <a:buNone/>
            </a:pPr>
            <a:r>
              <a:rPr lang="en-US" sz="3500" dirty="0">
                <a:solidFill>
                  <a:srgbClr val="EDEDE8"/>
                </a:solidFill>
                <a:latin typeface="Tomorrow Semi Bold" pitchFamily="34" charset="0"/>
                <a:ea typeface="Tomorrow Semi Bold" pitchFamily="34" charset="-122"/>
                <a:cs typeface="Tomorrow Semi Bold" pitchFamily="34" charset="-120"/>
              </a:rPr>
              <a:t>The Categories — Your Battlefield</a:t>
            </a:r>
            <a:endParaRPr lang="en-US" sz="3500" dirty="0"/>
          </a:p>
        </p:txBody>
      </p:sp>
      <p:sp>
        <p:nvSpPr>
          <p:cNvPr id="6" name="Text 3"/>
          <p:cNvSpPr/>
          <p:nvPr/>
        </p:nvSpPr>
        <p:spPr>
          <a:xfrm>
            <a:off x="793790" y="1825228"/>
            <a:ext cx="13042821" cy="542925"/>
          </a:xfrm>
          <a:prstGeom prst="rect">
            <a:avLst/>
          </a:prstGeom>
          <a:noFill/>
          <a:ln/>
        </p:spPr>
        <p:txBody>
          <a:bodyPr wrap="square" lIns="0" tIns="0" rIns="0" bIns="0" rtlCol="0" anchor="t"/>
          <a:lstStyle/>
          <a:p>
            <a:pPr algn="l" indent="0" marL="0">
              <a:lnSpc>
                <a:spcPts val="2100"/>
              </a:lnSpc>
              <a:buNone/>
            </a:pPr>
            <a:r>
              <a:rPr lang="en-US" sz="1400" dirty="0">
                <a:solidFill>
                  <a:srgbClr val="C9C9C0"/>
                </a:solidFill>
                <a:latin typeface="Tomorrow" pitchFamily="34" charset="0"/>
                <a:ea typeface="Tomorrow" pitchFamily="34" charset="-122"/>
                <a:cs typeface="Tomorrow" pitchFamily="34" charset="-120"/>
              </a:rPr>
              <a:t>The NCL tests you across </a:t>
            </a:r>
            <a:pPr algn="l" indent="0" marL="0">
              <a:lnSpc>
                <a:spcPts val="2100"/>
              </a:lnSpc>
              <a:buNone/>
            </a:pPr>
            <a:r>
              <a:rPr lang="en-US" sz="1400" b="1" dirty="0">
                <a:solidFill>
                  <a:srgbClr val="C9C9C0"/>
                </a:solidFill>
                <a:latin typeface="Tomorrow" pitchFamily="34" charset="0"/>
                <a:ea typeface="Tomorrow" pitchFamily="34" charset="-122"/>
                <a:cs typeface="Tomorrow" pitchFamily="34" charset="-120"/>
              </a:rPr>
              <a:t>9 categories</a:t>
            </a:r>
            <a:pPr algn="l" indent="0" marL="0">
              <a:lnSpc>
                <a:spcPts val="2100"/>
              </a:lnSpc>
              <a:buNone/>
            </a:pPr>
            <a:r>
              <a:rPr lang="en-US" sz="1400" dirty="0">
                <a:solidFill>
                  <a:srgbClr val="C9C9C0"/>
                </a:solidFill>
                <a:latin typeface="Tomorrow" pitchFamily="34" charset="0"/>
                <a:ea typeface="Tomorrow" pitchFamily="34" charset="-122"/>
                <a:cs typeface="Tomorrow" pitchFamily="34" charset="-120"/>
              </a:rPr>
              <a:t> of cybersecurity skills. Every category has challenges at </a:t>
            </a:r>
            <a:pPr algn="l" indent="0" marL="0">
              <a:lnSpc>
                <a:spcPts val="2100"/>
              </a:lnSpc>
              <a:buNone/>
            </a:pPr>
            <a:r>
              <a:rPr lang="en-US" sz="1400" b="1" dirty="0">
                <a:solidFill>
                  <a:srgbClr val="C9C9C0"/>
                </a:solidFill>
                <a:latin typeface="Tomorrow" pitchFamily="34" charset="0"/>
                <a:ea typeface="Tomorrow" pitchFamily="34" charset="-122"/>
                <a:cs typeface="Tomorrow" pitchFamily="34" charset="-120"/>
              </a:rPr>
              <a:t>Easy</a:t>
            </a:r>
            <a:pPr algn="l" indent="0" marL="0">
              <a:lnSpc>
                <a:spcPts val="2100"/>
              </a:lnSpc>
              <a:buNone/>
            </a:pPr>
            <a:r>
              <a:rPr lang="en-US" sz="1400" dirty="0">
                <a:solidFill>
                  <a:srgbClr val="C9C9C0"/>
                </a:solidFill>
                <a:latin typeface="Tomorrow" pitchFamily="34" charset="0"/>
                <a:ea typeface="Tomorrow" pitchFamily="34" charset="-122"/>
                <a:cs typeface="Tomorrow" pitchFamily="34" charset="-120"/>
              </a:rPr>
              <a:t>, </a:t>
            </a:r>
            <a:pPr algn="l" indent="0" marL="0">
              <a:lnSpc>
                <a:spcPts val="2100"/>
              </a:lnSpc>
              <a:buNone/>
            </a:pPr>
            <a:r>
              <a:rPr lang="en-US" sz="1400" b="1" dirty="0">
                <a:solidFill>
                  <a:srgbClr val="C9C9C0"/>
                </a:solidFill>
                <a:latin typeface="Tomorrow" pitchFamily="34" charset="0"/>
                <a:ea typeface="Tomorrow" pitchFamily="34" charset="-122"/>
                <a:cs typeface="Tomorrow" pitchFamily="34" charset="-120"/>
              </a:rPr>
              <a:t>Medium</a:t>
            </a:r>
            <a:pPr algn="l" indent="0" marL="0">
              <a:lnSpc>
                <a:spcPts val="2100"/>
              </a:lnSpc>
              <a:buNone/>
            </a:pPr>
            <a:r>
              <a:rPr lang="en-US" sz="1400" dirty="0">
                <a:solidFill>
                  <a:srgbClr val="C9C9C0"/>
                </a:solidFill>
                <a:latin typeface="Tomorrow" pitchFamily="34" charset="0"/>
                <a:ea typeface="Tomorrow" pitchFamily="34" charset="-122"/>
                <a:cs typeface="Tomorrow" pitchFamily="34" charset="-120"/>
              </a:rPr>
              <a:t>, and </a:t>
            </a:r>
            <a:pPr algn="l" indent="0" marL="0">
              <a:lnSpc>
                <a:spcPts val="2100"/>
              </a:lnSpc>
              <a:buNone/>
            </a:pPr>
            <a:r>
              <a:rPr lang="en-US" sz="1400" b="1" dirty="0">
                <a:solidFill>
                  <a:srgbClr val="C9C9C0"/>
                </a:solidFill>
                <a:latin typeface="Tomorrow" pitchFamily="34" charset="0"/>
                <a:ea typeface="Tomorrow" pitchFamily="34" charset="-122"/>
                <a:cs typeface="Tomorrow" pitchFamily="34" charset="-120"/>
              </a:rPr>
              <a:t>Hard</a:t>
            </a:r>
            <a:pPr algn="l" indent="0" marL="0">
              <a:lnSpc>
                <a:spcPts val="2100"/>
              </a:lnSpc>
              <a:buNone/>
            </a:pPr>
            <a:r>
              <a:rPr lang="en-US" sz="1400" dirty="0">
                <a:solidFill>
                  <a:srgbClr val="C9C9C0"/>
                </a:solidFill>
                <a:latin typeface="Tomorrow" pitchFamily="34" charset="0"/>
                <a:ea typeface="Tomorrow" pitchFamily="34" charset="-122"/>
                <a:cs typeface="Tomorrow" pitchFamily="34" charset="-120"/>
              </a:rPr>
              <a:t> difficulty levels. You don't need to ace every category — most teams divide them up based on who's strongest where.</a:t>
            </a:r>
            <a:endParaRPr lang="en-US" sz="1400" dirty="0"/>
          </a:p>
        </p:txBody>
      </p:sp>
      <p:sp>
        <p:nvSpPr>
          <p:cNvPr id="7" name="Shape 4"/>
          <p:cNvSpPr/>
          <p:nvPr/>
        </p:nvSpPr>
        <p:spPr>
          <a:xfrm>
            <a:off x="793790" y="2549009"/>
            <a:ext cx="4240411" cy="1332667"/>
          </a:xfrm>
          <a:prstGeom prst="roundRect">
            <a:avLst>
              <a:gd name="adj" fmla="val 2011"/>
            </a:avLst>
          </a:prstGeom>
          <a:solidFill>
            <a:srgbClr val="3C3C3A"/>
          </a:solidFill>
          <a:ln/>
        </p:spPr>
      </p:sp>
      <p:sp>
        <p:nvSpPr>
          <p:cNvPr id="8" name="Shape 5"/>
          <p:cNvSpPr/>
          <p:nvPr/>
        </p:nvSpPr>
        <p:spPr>
          <a:xfrm>
            <a:off x="2646045" y="2727603"/>
            <a:ext cx="535781" cy="535781"/>
          </a:xfrm>
          <a:prstGeom prst="roundRect">
            <a:avLst>
              <a:gd name="adj" fmla="val 17064968"/>
            </a:avLst>
          </a:prstGeom>
          <a:solidFill>
            <a:srgbClr val="E1E1DF"/>
          </a:solidFill>
          <a:ln/>
        </p:spPr>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93325" y="2874883"/>
            <a:ext cx="241102" cy="241102"/>
          </a:xfrm>
          <a:prstGeom prst="rect">
            <a:avLst/>
          </a:prstGeom>
        </p:spPr>
      </p:pic>
      <p:sp>
        <p:nvSpPr>
          <p:cNvPr id="10" name="Text 6"/>
          <p:cNvSpPr/>
          <p:nvPr/>
        </p:nvSpPr>
        <p:spPr>
          <a:xfrm>
            <a:off x="1797606" y="3424118"/>
            <a:ext cx="2232779" cy="278963"/>
          </a:xfrm>
          <a:prstGeom prst="rect">
            <a:avLst/>
          </a:prstGeom>
          <a:noFill/>
          <a:ln/>
        </p:spPr>
        <p:txBody>
          <a:bodyPr wrap="none" lIns="0" tIns="0" rIns="0" bIns="0" rtlCol="0" anchor="t"/>
          <a:lstStyle/>
          <a:p>
            <a:pPr algn="ctr" indent="0" marL="0">
              <a:lnSpc>
                <a:spcPts val="2150"/>
              </a:lnSpc>
              <a:buNone/>
            </a:pPr>
            <a:r>
              <a:rPr lang="en-US" sz="1750" dirty="0">
                <a:solidFill>
                  <a:srgbClr val="C9C9C0"/>
                </a:solidFill>
                <a:latin typeface="Tomorrow Semi Bold" pitchFamily="34" charset="0"/>
                <a:ea typeface="Tomorrow Semi Bold" pitchFamily="34" charset="-122"/>
                <a:cs typeface="Tomorrow Semi Bold" pitchFamily="34" charset="-120"/>
              </a:rPr>
              <a:t>OSINT</a:t>
            </a:r>
            <a:endParaRPr lang="en-US" sz="1750" dirty="0"/>
          </a:p>
        </p:txBody>
      </p:sp>
      <p:sp>
        <p:nvSpPr>
          <p:cNvPr id="11" name="Shape 7"/>
          <p:cNvSpPr/>
          <p:nvPr/>
        </p:nvSpPr>
        <p:spPr>
          <a:xfrm>
            <a:off x="5194935" y="2549009"/>
            <a:ext cx="4240411" cy="1332667"/>
          </a:xfrm>
          <a:prstGeom prst="roundRect">
            <a:avLst>
              <a:gd name="adj" fmla="val 2011"/>
            </a:avLst>
          </a:prstGeom>
          <a:solidFill>
            <a:srgbClr val="3C3C3A"/>
          </a:solidFill>
          <a:ln/>
        </p:spPr>
      </p:sp>
      <p:sp>
        <p:nvSpPr>
          <p:cNvPr id="12" name="Shape 8"/>
          <p:cNvSpPr/>
          <p:nvPr/>
        </p:nvSpPr>
        <p:spPr>
          <a:xfrm>
            <a:off x="7047190" y="2727603"/>
            <a:ext cx="535781" cy="535781"/>
          </a:xfrm>
          <a:prstGeom prst="roundRect">
            <a:avLst>
              <a:gd name="adj" fmla="val 17064968"/>
            </a:avLst>
          </a:prstGeom>
          <a:solidFill>
            <a:srgbClr val="E1E1DF"/>
          </a:solidFill>
          <a:ln/>
        </p:spPr>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94471" y="2874883"/>
            <a:ext cx="241102" cy="241102"/>
          </a:xfrm>
          <a:prstGeom prst="rect">
            <a:avLst/>
          </a:prstGeom>
        </p:spPr>
      </p:pic>
      <p:sp>
        <p:nvSpPr>
          <p:cNvPr id="14" name="Text 9"/>
          <p:cNvSpPr/>
          <p:nvPr/>
        </p:nvSpPr>
        <p:spPr>
          <a:xfrm>
            <a:off x="6198751" y="3424118"/>
            <a:ext cx="2232779" cy="278963"/>
          </a:xfrm>
          <a:prstGeom prst="rect">
            <a:avLst/>
          </a:prstGeom>
          <a:noFill/>
          <a:ln/>
        </p:spPr>
        <p:txBody>
          <a:bodyPr wrap="none" lIns="0" tIns="0" rIns="0" bIns="0" rtlCol="0" anchor="t"/>
          <a:lstStyle/>
          <a:p>
            <a:pPr algn="ctr" indent="0" marL="0">
              <a:lnSpc>
                <a:spcPts val="2150"/>
              </a:lnSpc>
              <a:buNone/>
            </a:pPr>
            <a:r>
              <a:rPr lang="en-US" sz="1750" dirty="0">
                <a:solidFill>
                  <a:srgbClr val="C9C9C0"/>
                </a:solidFill>
                <a:latin typeface="Tomorrow Semi Bold" pitchFamily="34" charset="0"/>
                <a:ea typeface="Tomorrow Semi Bold" pitchFamily="34" charset="-122"/>
                <a:cs typeface="Tomorrow Semi Bold" pitchFamily="34" charset="-120"/>
              </a:rPr>
              <a:t>Cryptography</a:t>
            </a:r>
            <a:endParaRPr lang="en-US" sz="1750" dirty="0"/>
          </a:p>
        </p:txBody>
      </p:sp>
      <p:sp>
        <p:nvSpPr>
          <p:cNvPr id="15" name="Shape 10"/>
          <p:cNvSpPr/>
          <p:nvPr/>
        </p:nvSpPr>
        <p:spPr>
          <a:xfrm>
            <a:off x="9596080" y="2549009"/>
            <a:ext cx="4240411" cy="1332667"/>
          </a:xfrm>
          <a:prstGeom prst="roundRect">
            <a:avLst>
              <a:gd name="adj" fmla="val 2011"/>
            </a:avLst>
          </a:prstGeom>
          <a:solidFill>
            <a:srgbClr val="3C3C3A"/>
          </a:solidFill>
          <a:ln/>
        </p:spPr>
      </p:sp>
      <p:sp>
        <p:nvSpPr>
          <p:cNvPr id="16" name="Shape 11"/>
          <p:cNvSpPr/>
          <p:nvPr/>
        </p:nvSpPr>
        <p:spPr>
          <a:xfrm>
            <a:off x="11448336" y="2727603"/>
            <a:ext cx="535781" cy="535781"/>
          </a:xfrm>
          <a:prstGeom prst="roundRect">
            <a:avLst>
              <a:gd name="adj" fmla="val 17064968"/>
            </a:avLst>
          </a:prstGeom>
          <a:solidFill>
            <a:srgbClr val="E1E1DF"/>
          </a:solidFill>
          <a:ln/>
        </p:spPr>
      </p:sp>
      <p:pic>
        <p:nvPicPr>
          <p:cNvPr id="17"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595616" y="2874883"/>
            <a:ext cx="241102" cy="241102"/>
          </a:xfrm>
          <a:prstGeom prst="rect">
            <a:avLst/>
          </a:prstGeom>
        </p:spPr>
      </p:pic>
      <p:sp>
        <p:nvSpPr>
          <p:cNvPr id="18" name="Text 12"/>
          <p:cNvSpPr/>
          <p:nvPr/>
        </p:nvSpPr>
        <p:spPr>
          <a:xfrm>
            <a:off x="10599896" y="3424118"/>
            <a:ext cx="2232779" cy="278963"/>
          </a:xfrm>
          <a:prstGeom prst="rect">
            <a:avLst/>
          </a:prstGeom>
          <a:noFill/>
          <a:ln/>
        </p:spPr>
        <p:txBody>
          <a:bodyPr wrap="none" lIns="0" tIns="0" rIns="0" bIns="0" rtlCol="0" anchor="t"/>
          <a:lstStyle/>
          <a:p>
            <a:pPr algn="ctr" indent="0" marL="0">
              <a:lnSpc>
                <a:spcPts val="2150"/>
              </a:lnSpc>
              <a:buNone/>
            </a:pPr>
            <a:r>
              <a:rPr lang="en-US" sz="1750" dirty="0">
                <a:solidFill>
                  <a:srgbClr val="C9C9C0"/>
                </a:solidFill>
                <a:latin typeface="Tomorrow Semi Bold" pitchFamily="34" charset="0"/>
                <a:ea typeface="Tomorrow Semi Bold" pitchFamily="34" charset="-122"/>
                <a:cs typeface="Tomorrow Semi Bold" pitchFamily="34" charset="-120"/>
              </a:rPr>
              <a:t>Password Cracking</a:t>
            </a:r>
            <a:endParaRPr lang="en-US" sz="1750" dirty="0"/>
          </a:p>
        </p:txBody>
      </p:sp>
      <p:sp>
        <p:nvSpPr>
          <p:cNvPr id="19" name="Shape 13"/>
          <p:cNvSpPr/>
          <p:nvPr/>
        </p:nvSpPr>
        <p:spPr>
          <a:xfrm>
            <a:off x="793790" y="4042410"/>
            <a:ext cx="4240411" cy="1332667"/>
          </a:xfrm>
          <a:prstGeom prst="roundRect">
            <a:avLst>
              <a:gd name="adj" fmla="val 2011"/>
            </a:avLst>
          </a:prstGeom>
          <a:solidFill>
            <a:srgbClr val="3C3C3A"/>
          </a:solidFill>
          <a:ln/>
        </p:spPr>
      </p:sp>
      <p:sp>
        <p:nvSpPr>
          <p:cNvPr id="20" name="Shape 14"/>
          <p:cNvSpPr/>
          <p:nvPr/>
        </p:nvSpPr>
        <p:spPr>
          <a:xfrm>
            <a:off x="2646045" y="4221004"/>
            <a:ext cx="535781" cy="535781"/>
          </a:xfrm>
          <a:prstGeom prst="roundRect">
            <a:avLst>
              <a:gd name="adj" fmla="val 17064968"/>
            </a:avLst>
          </a:prstGeom>
          <a:solidFill>
            <a:srgbClr val="E1E1DF"/>
          </a:solidFill>
          <a:ln/>
        </p:spPr>
      </p:sp>
      <p:pic>
        <p:nvPicPr>
          <p:cNvPr id="2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93325" y="4368284"/>
            <a:ext cx="241102" cy="241102"/>
          </a:xfrm>
          <a:prstGeom prst="rect">
            <a:avLst/>
          </a:prstGeom>
        </p:spPr>
      </p:pic>
      <p:sp>
        <p:nvSpPr>
          <p:cNvPr id="22" name="Text 15"/>
          <p:cNvSpPr/>
          <p:nvPr/>
        </p:nvSpPr>
        <p:spPr>
          <a:xfrm>
            <a:off x="1797606" y="4917519"/>
            <a:ext cx="2232779" cy="278963"/>
          </a:xfrm>
          <a:prstGeom prst="rect">
            <a:avLst/>
          </a:prstGeom>
          <a:noFill/>
          <a:ln/>
        </p:spPr>
        <p:txBody>
          <a:bodyPr wrap="none" lIns="0" tIns="0" rIns="0" bIns="0" rtlCol="0" anchor="t"/>
          <a:lstStyle/>
          <a:p>
            <a:pPr algn="ctr" indent="0" marL="0">
              <a:lnSpc>
                <a:spcPts val="2150"/>
              </a:lnSpc>
              <a:buNone/>
            </a:pPr>
            <a:r>
              <a:rPr lang="en-US" sz="1750" dirty="0">
                <a:solidFill>
                  <a:srgbClr val="C9C9C0"/>
                </a:solidFill>
                <a:latin typeface="Tomorrow Semi Bold" pitchFamily="34" charset="0"/>
                <a:ea typeface="Tomorrow Semi Bold" pitchFamily="34" charset="-122"/>
                <a:cs typeface="Tomorrow Semi Bold" pitchFamily="34" charset="-120"/>
              </a:rPr>
              <a:t>Log Analysis</a:t>
            </a:r>
            <a:endParaRPr lang="en-US" sz="1750" dirty="0"/>
          </a:p>
        </p:txBody>
      </p:sp>
      <p:sp>
        <p:nvSpPr>
          <p:cNvPr id="23" name="Shape 16"/>
          <p:cNvSpPr/>
          <p:nvPr/>
        </p:nvSpPr>
        <p:spPr>
          <a:xfrm>
            <a:off x="5194935" y="4042410"/>
            <a:ext cx="4240411" cy="1332667"/>
          </a:xfrm>
          <a:prstGeom prst="roundRect">
            <a:avLst>
              <a:gd name="adj" fmla="val 2011"/>
            </a:avLst>
          </a:prstGeom>
          <a:solidFill>
            <a:srgbClr val="3C3C3A"/>
          </a:solidFill>
          <a:ln/>
        </p:spPr>
      </p:sp>
      <p:sp>
        <p:nvSpPr>
          <p:cNvPr id="24" name="Shape 17"/>
          <p:cNvSpPr/>
          <p:nvPr/>
        </p:nvSpPr>
        <p:spPr>
          <a:xfrm>
            <a:off x="7047190" y="4221004"/>
            <a:ext cx="535781" cy="535781"/>
          </a:xfrm>
          <a:prstGeom prst="roundRect">
            <a:avLst>
              <a:gd name="adj" fmla="val 17064968"/>
            </a:avLst>
          </a:prstGeom>
          <a:solidFill>
            <a:srgbClr val="E1E1DF"/>
          </a:solidFill>
          <a:ln/>
        </p:spPr>
      </p:sp>
      <p:pic>
        <p:nvPicPr>
          <p:cNvPr id="25"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194471" y="4368284"/>
            <a:ext cx="241102" cy="241102"/>
          </a:xfrm>
          <a:prstGeom prst="rect">
            <a:avLst/>
          </a:prstGeom>
        </p:spPr>
      </p:pic>
      <p:sp>
        <p:nvSpPr>
          <p:cNvPr id="26" name="Text 18"/>
          <p:cNvSpPr/>
          <p:nvPr/>
        </p:nvSpPr>
        <p:spPr>
          <a:xfrm>
            <a:off x="6198751" y="4917519"/>
            <a:ext cx="2232779" cy="278963"/>
          </a:xfrm>
          <a:prstGeom prst="rect">
            <a:avLst/>
          </a:prstGeom>
          <a:noFill/>
          <a:ln/>
        </p:spPr>
        <p:txBody>
          <a:bodyPr wrap="none" lIns="0" tIns="0" rIns="0" bIns="0" rtlCol="0" anchor="t"/>
          <a:lstStyle/>
          <a:p>
            <a:pPr algn="ctr" indent="0" marL="0">
              <a:lnSpc>
                <a:spcPts val="2150"/>
              </a:lnSpc>
              <a:buNone/>
            </a:pPr>
            <a:r>
              <a:rPr lang="en-US" sz="1750" dirty="0">
                <a:solidFill>
                  <a:srgbClr val="C9C9C0"/>
                </a:solidFill>
                <a:latin typeface="Tomorrow Semi Bold" pitchFamily="34" charset="0"/>
                <a:ea typeface="Tomorrow Semi Bold" pitchFamily="34" charset="-122"/>
                <a:cs typeface="Tomorrow Semi Bold" pitchFamily="34" charset="-120"/>
              </a:rPr>
              <a:t>Network Traffic</a:t>
            </a:r>
            <a:endParaRPr lang="en-US" sz="1750" dirty="0"/>
          </a:p>
        </p:txBody>
      </p:sp>
      <p:sp>
        <p:nvSpPr>
          <p:cNvPr id="27" name="Shape 19"/>
          <p:cNvSpPr/>
          <p:nvPr/>
        </p:nvSpPr>
        <p:spPr>
          <a:xfrm>
            <a:off x="9596080" y="4042410"/>
            <a:ext cx="4240411" cy="1332667"/>
          </a:xfrm>
          <a:prstGeom prst="roundRect">
            <a:avLst>
              <a:gd name="adj" fmla="val 2011"/>
            </a:avLst>
          </a:prstGeom>
          <a:solidFill>
            <a:srgbClr val="3C3C3A"/>
          </a:solidFill>
          <a:ln/>
        </p:spPr>
      </p:sp>
      <p:sp>
        <p:nvSpPr>
          <p:cNvPr id="28" name="Shape 20"/>
          <p:cNvSpPr/>
          <p:nvPr/>
        </p:nvSpPr>
        <p:spPr>
          <a:xfrm>
            <a:off x="11448336" y="4221004"/>
            <a:ext cx="535781" cy="535781"/>
          </a:xfrm>
          <a:prstGeom prst="roundRect">
            <a:avLst>
              <a:gd name="adj" fmla="val 17064968"/>
            </a:avLst>
          </a:prstGeom>
          <a:solidFill>
            <a:srgbClr val="E1E1DF"/>
          </a:solidFill>
          <a:ln/>
        </p:spPr>
      </p:sp>
      <p:pic>
        <p:nvPicPr>
          <p:cNvPr id="29"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1595616" y="4368284"/>
            <a:ext cx="241102" cy="241102"/>
          </a:xfrm>
          <a:prstGeom prst="rect">
            <a:avLst/>
          </a:prstGeom>
        </p:spPr>
      </p:pic>
      <p:sp>
        <p:nvSpPr>
          <p:cNvPr id="30" name="Text 21"/>
          <p:cNvSpPr/>
          <p:nvPr/>
        </p:nvSpPr>
        <p:spPr>
          <a:xfrm>
            <a:off x="10599896" y="4917519"/>
            <a:ext cx="2232779" cy="278963"/>
          </a:xfrm>
          <a:prstGeom prst="rect">
            <a:avLst/>
          </a:prstGeom>
          <a:noFill/>
          <a:ln/>
        </p:spPr>
        <p:txBody>
          <a:bodyPr wrap="none" lIns="0" tIns="0" rIns="0" bIns="0" rtlCol="0" anchor="t"/>
          <a:lstStyle/>
          <a:p>
            <a:pPr algn="ctr" indent="0" marL="0">
              <a:lnSpc>
                <a:spcPts val="2150"/>
              </a:lnSpc>
              <a:buNone/>
            </a:pPr>
            <a:r>
              <a:rPr lang="en-US" sz="1750" dirty="0">
                <a:solidFill>
                  <a:srgbClr val="C9C9C0"/>
                </a:solidFill>
                <a:latin typeface="Tomorrow Semi Bold" pitchFamily="34" charset="0"/>
                <a:ea typeface="Tomorrow Semi Bold" pitchFamily="34" charset="-122"/>
                <a:cs typeface="Tomorrow Semi Bold" pitchFamily="34" charset="-120"/>
              </a:rPr>
              <a:t>Forensics</a:t>
            </a:r>
            <a:endParaRPr lang="en-US" sz="1750" dirty="0"/>
          </a:p>
        </p:txBody>
      </p:sp>
      <p:sp>
        <p:nvSpPr>
          <p:cNvPr id="31" name="Shape 22"/>
          <p:cNvSpPr/>
          <p:nvPr/>
        </p:nvSpPr>
        <p:spPr>
          <a:xfrm>
            <a:off x="793790" y="5535811"/>
            <a:ext cx="4240411" cy="1332667"/>
          </a:xfrm>
          <a:prstGeom prst="roundRect">
            <a:avLst>
              <a:gd name="adj" fmla="val 2011"/>
            </a:avLst>
          </a:prstGeom>
          <a:solidFill>
            <a:srgbClr val="3C3C3A"/>
          </a:solidFill>
          <a:ln/>
        </p:spPr>
      </p:sp>
      <p:sp>
        <p:nvSpPr>
          <p:cNvPr id="32" name="Shape 23"/>
          <p:cNvSpPr/>
          <p:nvPr/>
        </p:nvSpPr>
        <p:spPr>
          <a:xfrm>
            <a:off x="2646045" y="5714405"/>
            <a:ext cx="535781" cy="535781"/>
          </a:xfrm>
          <a:prstGeom prst="roundRect">
            <a:avLst>
              <a:gd name="adj" fmla="val 17064968"/>
            </a:avLst>
          </a:prstGeom>
          <a:solidFill>
            <a:srgbClr val="E1E1DF"/>
          </a:solidFill>
          <a:ln/>
        </p:spPr>
      </p:sp>
      <p:pic>
        <p:nvPicPr>
          <p:cNvPr id="33"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793325" y="5861685"/>
            <a:ext cx="241102" cy="241102"/>
          </a:xfrm>
          <a:prstGeom prst="rect">
            <a:avLst/>
          </a:prstGeom>
        </p:spPr>
      </p:pic>
      <p:sp>
        <p:nvSpPr>
          <p:cNvPr id="34" name="Text 24"/>
          <p:cNvSpPr/>
          <p:nvPr/>
        </p:nvSpPr>
        <p:spPr>
          <a:xfrm>
            <a:off x="1797606" y="6410920"/>
            <a:ext cx="2232779" cy="278963"/>
          </a:xfrm>
          <a:prstGeom prst="rect">
            <a:avLst/>
          </a:prstGeom>
          <a:noFill/>
          <a:ln/>
        </p:spPr>
        <p:txBody>
          <a:bodyPr wrap="none" lIns="0" tIns="0" rIns="0" bIns="0" rtlCol="0" anchor="t"/>
          <a:lstStyle/>
          <a:p>
            <a:pPr algn="ctr" indent="0" marL="0">
              <a:lnSpc>
                <a:spcPts val="2150"/>
              </a:lnSpc>
              <a:buNone/>
            </a:pPr>
            <a:r>
              <a:rPr lang="en-US" sz="1750" dirty="0">
                <a:solidFill>
                  <a:srgbClr val="C9C9C0"/>
                </a:solidFill>
                <a:latin typeface="Tomorrow Semi Bold" pitchFamily="34" charset="0"/>
                <a:ea typeface="Tomorrow Semi Bold" pitchFamily="34" charset="-122"/>
                <a:cs typeface="Tomorrow Semi Bold" pitchFamily="34" charset="-120"/>
              </a:rPr>
              <a:t>Scanning &amp; Recon</a:t>
            </a:r>
            <a:endParaRPr lang="en-US" sz="1750" dirty="0"/>
          </a:p>
        </p:txBody>
      </p:sp>
      <p:sp>
        <p:nvSpPr>
          <p:cNvPr id="35" name="Shape 25"/>
          <p:cNvSpPr/>
          <p:nvPr/>
        </p:nvSpPr>
        <p:spPr>
          <a:xfrm>
            <a:off x="5194935" y="5535811"/>
            <a:ext cx="4240411" cy="1332667"/>
          </a:xfrm>
          <a:prstGeom prst="roundRect">
            <a:avLst>
              <a:gd name="adj" fmla="val 2011"/>
            </a:avLst>
          </a:prstGeom>
          <a:solidFill>
            <a:srgbClr val="3C3C3A"/>
          </a:solidFill>
          <a:ln/>
        </p:spPr>
      </p:sp>
      <p:sp>
        <p:nvSpPr>
          <p:cNvPr id="36" name="Shape 26"/>
          <p:cNvSpPr/>
          <p:nvPr/>
        </p:nvSpPr>
        <p:spPr>
          <a:xfrm>
            <a:off x="7047190" y="5714405"/>
            <a:ext cx="535781" cy="535781"/>
          </a:xfrm>
          <a:prstGeom prst="roundRect">
            <a:avLst>
              <a:gd name="adj" fmla="val 17064968"/>
            </a:avLst>
          </a:prstGeom>
          <a:solidFill>
            <a:srgbClr val="E1E1DF"/>
          </a:solidFill>
          <a:ln/>
        </p:spPr>
      </p:sp>
      <p:pic>
        <p:nvPicPr>
          <p:cNvPr id="37" name="Image 8" descr="preencoded.png">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194471" y="5861685"/>
            <a:ext cx="241102" cy="241102"/>
          </a:xfrm>
          <a:prstGeom prst="rect">
            <a:avLst/>
          </a:prstGeom>
        </p:spPr>
      </p:pic>
      <p:sp>
        <p:nvSpPr>
          <p:cNvPr id="38" name="Text 27"/>
          <p:cNvSpPr/>
          <p:nvPr/>
        </p:nvSpPr>
        <p:spPr>
          <a:xfrm>
            <a:off x="6113145" y="6410920"/>
            <a:ext cx="2403872" cy="278963"/>
          </a:xfrm>
          <a:prstGeom prst="rect">
            <a:avLst/>
          </a:prstGeom>
          <a:noFill/>
          <a:ln/>
        </p:spPr>
        <p:txBody>
          <a:bodyPr wrap="none" lIns="0" tIns="0" rIns="0" bIns="0" rtlCol="0" anchor="t"/>
          <a:lstStyle/>
          <a:p>
            <a:pPr algn="ctr" indent="0" marL="0">
              <a:lnSpc>
                <a:spcPts val="2150"/>
              </a:lnSpc>
              <a:buNone/>
            </a:pPr>
            <a:r>
              <a:rPr lang="en-US" sz="1750" dirty="0">
                <a:solidFill>
                  <a:srgbClr val="C9C9C0"/>
                </a:solidFill>
                <a:latin typeface="Tomorrow Semi Bold" pitchFamily="34" charset="0"/>
                <a:ea typeface="Tomorrow Semi Bold" pitchFamily="34" charset="-122"/>
                <a:cs typeface="Tomorrow Semi Bold" pitchFamily="34" charset="-120"/>
              </a:rPr>
              <a:t>Web App Exploitation</a:t>
            </a:r>
            <a:endParaRPr lang="en-US" sz="1750" dirty="0"/>
          </a:p>
        </p:txBody>
      </p:sp>
      <p:sp>
        <p:nvSpPr>
          <p:cNvPr id="39" name="Shape 28"/>
          <p:cNvSpPr/>
          <p:nvPr/>
        </p:nvSpPr>
        <p:spPr>
          <a:xfrm>
            <a:off x="9596080" y="5535811"/>
            <a:ext cx="4240411" cy="1332667"/>
          </a:xfrm>
          <a:prstGeom prst="roundRect">
            <a:avLst>
              <a:gd name="adj" fmla="val 2011"/>
            </a:avLst>
          </a:prstGeom>
          <a:solidFill>
            <a:srgbClr val="3C3C3A"/>
          </a:solidFill>
          <a:ln/>
        </p:spPr>
      </p:sp>
      <p:sp>
        <p:nvSpPr>
          <p:cNvPr id="40" name="Shape 29"/>
          <p:cNvSpPr/>
          <p:nvPr/>
        </p:nvSpPr>
        <p:spPr>
          <a:xfrm>
            <a:off x="11448336" y="5714405"/>
            <a:ext cx="535781" cy="535781"/>
          </a:xfrm>
          <a:prstGeom prst="roundRect">
            <a:avLst>
              <a:gd name="adj" fmla="val 17064968"/>
            </a:avLst>
          </a:prstGeom>
          <a:solidFill>
            <a:srgbClr val="E1E1DF"/>
          </a:solidFill>
          <a:ln/>
        </p:spPr>
      </p:sp>
      <p:pic>
        <p:nvPicPr>
          <p:cNvPr id="41" name="Image 9" descr="preencoded.png">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1595616" y="5861685"/>
            <a:ext cx="241102" cy="241102"/>
          </a:xfrm>
          <a:prstGeom prst="rect">
            <a:avLst/>
          </a:prstGeom>
        </p:spPr>
      </p:pic>
      <p:sp>
        <p:nvSpPr>
          <p:cNvPr id="42" name="Text 30"/>
          <p:cNvSpPr/>
          <p:nvPr/>
        </p:nvSpPr>
        <p:spPr>
          <a:xfrm>
            <a:off x="10154602" y="6410920"/>
            <a:ext cx="3123248" cy="278963"/>
          </a:xfrm>
          <a:prstGeom prst="rect">
            <a:avLst/>
          </a:prstGeom>
          <a:noFill/>
          <a:ln/>
        </p:spPr>
        <p:txBody>
          <a:bodyPr wrap="none" lIns="0" tIns="0" rIns="0" bIns="0" rtlCol="0" anchor="t"/>
          <a:lstStyle/>
          <a:p>
            <a:pPr algn="ctr" indent="0" marL="0">
              <a:lnSpc>
                <a:spcPts val="2150"/>
              </a:lnSpc>
              <a:buNone/>
            </a:pPr>
            <a:r>
              <a:rPr lang="en-US" sz="1750" dirty="0">
                <a:solidFill>
                  <a:srgbClr val="C9C9C0"/>
                </a:solidFill>
                <a:latin typeface="Tomorrow Semi Bold" pitchFamily="34" charset="0"/>
                <a:ea typeface="Tomorrow Semi Bold" pitchFamily="34" charset="-122"/>
                <a:cs typeface="Tomorrow Semi Bold" pitchFamily="34" charset="-120"/>
              </a:rPr>
              <a:t>Enumeration &amp; Exploitation</a:t>
            </a:r>
            <a:endParaRPr lang="en-US" sz="1750" dirty="0"/>
          </a:p>
        </p:txBody>
      </p:sp>
      <p:sp>
        <p:nvSpPr>
          <p:cNvPr id="43" name="Text 31"/>
          <p:cNvSpPr/>
          <p:nvPr/>
        </p:nvSpPr>
        <p:spPr>
          <a:xfrm>
            <a:off x="793790" y="7049333"/>
            <a:ext cx="13042821" cy="542925"/>
          </a:xfrm>
          <a:prstGeom prst="rect">
            <a:avLst/>
          </a:prstGeom>
          <a:noFill/>
          <a:ln/>
        </p:spPr>
        <p:txBody>
          <a:bodyPr wrap="square" lIns="0" tIns="0" rIns="0" bIns="0" rtlCol="0" anchor="t"/>
          <a:lstStyle/>
          <a:p>
            <a:pPr algn="l" indent="0" marL="0">
              <a:lnSpc>
                <a:spcPts val="2100"/>
              </a:lnSpc>
              <a:buNone/>
            </a:pPr>
            <a:r>
              <a:rPr lang="en-US" sz="1400" dirty="0">
                <a:solidFill>
                  <a:srgbClr val="C9C9C0"/>
                </a:solidFill>
                <a:latin typeface="Tomorrow" pitchFamily="34" charset="0"/>
                <a:ea typeface="Tomorrow" pitchFamily="34" charset="-122"/>
                <a:cs typeface="Tomorrow" pitchFamily="34" charset="-120"/>
              </a:rPr>
              <a:t>Here's the lineup straight from the </a:t>
            </a:r>
            <a:pPr algn="l" indent="0" marL="0">
              <a:lnSpc>
                <a:spcPts val="2100"/>
              </a:lnSpc>
              <a:buNone/>
            </a:pPr>
            <a:r>
              <a:rPr lang="en-US" sz="1400" b="1" dirty="0">
                <a:solidFill>
                  <a:srgbClr val="C9C9C0"/>
                </a:solidFill>
                <a:latin typeface="Tomorrow" pitchFamily="34" charset="0"/>
                <a:ea typeface="Tomorrow" pitchFamily="34" charset="-122"/>
                <a:cs typeface="Tomorrow" pitchFamily="34" charset="-120"/>
              </a:rPr>
              <a:t>Fall 2025</a:t>
            </a:r>
            <a:pPr algn="l" indent="0" marL="0">
              <a:lnSpc>
                <a:spcPts val="2100"/>
              </a:lnSpc>
              <a:buNone/>
            </a:pPr>
            <a:r>
              <a:rPr lang="en-US" sz="1400" dirty="0">
                <a:solidFill>
                  <a:srgbClr val="C9C9C0"/>
                </a:solidFill>
                <a:latin typeface="Tomorrow" pitchFamily="34" charset="0"/>
                <a:ea typeface="Tomorrow" pitchFamily="34" charset="-122"/>
                <a:cs typeface="Tomorrow" pitchFamily="34" charset="-120"/>
              </a:rPr>
              <a:t> competition. In the following slides, we'll break down each category with real examples and the tools you'll need.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846772"/>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EDEDE8"/>
                </a:solidFill>
                <a:latin typeface="Tomorrow Semi Bold" pitchFamily="34" charset="0"/>
                <a:ea typeface="Tomorrow Semi Bold" pitchFamily="34" charset="-122"/>
                <a:cs typeface="Tomorrow Semi Bold" pitchFamily="34" charset="-120"/>
              </a:rPr>
              <a:t>The Flag Format</a:t>
            </a:r>
            <a:endParaRPr lang="en-US" sz="3900" dirty="0"/>
          </a:p>
        </p:txBody>
      </p:sp>
      <p:sp>
        <p:nvSpPr>
          <p:cNvPr id="3" name="Text 1"/>
          <p:cNvSpPr/>
          <p:nvPr/>
        </p:nvSpPr>
        <p:spPr>
          <a:xfrm>
            <a:off x="793790" y="1863685"/>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Almost every challenge ends with finding a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flag</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 a specific string that proves you solved it. The format usually changes each season, but recognizing it matters — sometimes the flag is hiding in plain sight inside data you're already looking at.</a:t>
            </a:r>
            <a:endParaRPr lang="en-US" sz="1550" dirty="0"/>
          </a:p>
        </p:txBody>
      </p:sp>
      <p:sp>
        <p:nvSpPr>
          <p:cNvPr id="4" name="Shape 2"/>
          <p:cNvSpPr/>
          <p:nvPr/>
        </p:nvSpPr>
        <p:spPr>
          <a:xfrm>
            <a:off x="650915" y="2722007"/>
            <a:ext cx="5888712" cy="3253859"/>
          </a:xfrm>
          <a:prstGeom prst="roundRect">
            <a:avLst>
              <a:gd name="adj" fmla="val 915"/>
            </a:avLst>
          </a:prstGeom>
          <a:solidFill>
            <a:srgbClr val="E1E1DF"/>
          </a:solidFill>
          <a:ln/>
        </p:spPr>
      </p:sp>
      <p:sp>
        <p:nvSpPr>
          <p:cNvPr id="5" name="Text 3"/>
          <p:cNvSpPr/>
          <p:nvPr/>
        </p:nvSpPr>
        <p:spPr>
          <a:xfrm>
            <a:off x="849273" y="2920365"/>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Tomorrow Semi Bold" pitchFamily="34" charset="0"/>
                <a:ea typeface="Tomorrow Semi Bold" pitchFamily="34" charset="-122"/>
                <a:cs typeface="Tomorrow Semi Bold" pitchFamily="34" charset="-120"/>
              </a:rPr>
              <a:t>Fall 2025 Format</a:t>
            </a:r>
            <a:endParaRPr lang="en-US" sz="1950" dirty="0"/>
          </a:p>
        </p:txBody>
      </p:sp>
      <p:sp>
        <p:nvSpPr>
          <p:cNvPr id="6" name="Text 4"/>
          <p:cNvSpPr/>
          <p:nvPr/>
        </p:nvSpPr>
        <p:spPr>
          <a:xfrm>
            <a:off x="849273" y="3428881"/>
            <a:ext cx="5491996" cy="404574"/>
          </a:xfrm>
          <a:prstGeom prst="rect">
            <a:avLst/>
          </a:prstGeom>
          <a:noFill/>
          <a:ln/>
        </p:spPr>
        <p:txBody>
          <a:bodyPr wrap="none" lIns="0" tIns="0" rIns="0" bIns="0" rtlCol="0" anchor="t"/>
          <a:lstStyle/>
          <a:p>
            <a:pPr algn="l" indent="0" marL="0">
              <a:lnSpc>
                <a:spcPts val="3100"/>
              </a:lnSpc>
              <a:buNone/>
            </a:pPr>
            <a:r>
              <a:rPr lang="en-US" sz="1950" dirty="0">
                <a:solidFill>
                  <a:srgbClr val="000000"/>
                </a:solidFill>
                <a:highlight>
                  <a:srgbClr val="D4D4D2"/>
                </a:highlight>
                <a:latin typeface="Consolas" pitchFamily="34" charset="0"/>
                <a:ea typeface="Consolas" pitchFamily="34" charset="-122"/>
                <a:cs typeface="Consolas" pitchFamily="34" charset="-120"/>
              </a:rPr>
              <a:t>SKY-XXXX-####</a:t>
            </a:r>
            <a:endParaRPr lang="en-US" sz="1950" dirty="0"/>
          </a:p>
        </p:txBody>
      </p:sp>
      <p:sp>
        <p:nvSpPr>
          <p:cNvPr id="7" name="Text 5"/>
          <p:cNvSpPr/>
          <p:nvPr/>
        </p:nvSpPr>
        <p:spPr>
          <a:xfrm>
            <a:off x="849273" y="4012049"/>
            <a:ext cx="5491996" cy="63507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Tomorrow" pitchFamily="34" charset="0"/>
                <a:ea typeface="Tomorrow" pitchFamily="34" charset="-122"/>
                <a:cs typeface="Tomorrow" pitchFamily="34" charset="-120"/>
              </a:rPr>
              <a:t>Four letters, a dash, then four digits. Memorize the pattern so you can spot it instantly.</a:t>
            </a:r>
            <a:endParaRPr lang="en-US" sz="1550" dirty="0"/>
          </a:p>
        </p:txBody>
      </p:sp>
      <p:sp>
        <p:nvSpPr>
          <p:cNvPr id="8" name="Text 6"/>
          <p:cNvSpPr/>
          <p:nvPr/>
        </p:nvSpPr>
        <p:spPr>
          <a:xfrm>
            <a:off x="6888480" y="2920365"/>
            <a:ext cx="3504605" cy="310158"/>
          </a:xfrm>
          <a:prstGeom prst="rect">
            <a:avLst/>
          </a:prstGeom>
          <a:noFill/>
          <a:ln/>
        </p:spPr>
        <p:txBody>
          <a:bodyPr wrap="none" lIns="0" tIns="0" rIns="0" bIns="0" rtlCol="0" anchor="t"/>
          <a:lstStyle/>
          <a:p>
            <a:pPr algn="l" indent="0" marL="0">
              <a:lnSpc>
                <a:spcPts val="2400"/>
              </a:lnSpc>
              <a:buNone/>
            </a:pPr>
            <a:r>
              <a:rPr lang="en-US" sz="1950" dirty="0">
                <a:solidFill>
                  <a:srgbClr val="EDEDE8"/>
                </a:solidFill>
                <a:latin typeface="Tomorrow Semi Bold" pitchFamily="34" charset="0"/>
                <a:ea typeface="Tomorrow Semi Bold" pitchFamily="34" charset="-122"/>
                <a:cs typeface="Tomorrow Semi Bold" pitchFamily="34" charset="-120"/>
              </a:rPr>
              <a:t>Example Flags We Captured</a:t>
            </a:r>
            <a:endParaRPr lang="en-US" sz="1950" dirty="0"/>
          </a:p>
        </p:txBody>
      </p:sp>
      <p:sp>
        <p:nvSpPr>
          <p:cNvPr id="9" name="Shape 7"/>
          <p:cNvSpPr/>
          <p:nvPr/>
        </p:nvSpPr>
        <p:spPr>
          <a:xfrm>
            <a:off x="6888480" y="3453765"/>
            <a:ext cx="6955631" cy="2298859"/>
          </a:xfrm>
          <a:prstGeom prst="roundRect">
            <a:avLst>
              <a:gd name="adj" fmla="val 1295"/>
            </a:avLst>
          </a:prstGeom>
          <a:noFill/>
          <a:ln w="7620">
            <a:solidFill>
              <a:srgbClr val="FFFFFF">
                <a:alpha val="24000"/>
              </a:srgbClr>
            </a:solidFill>
            <a:prstDash val="solid"/>
          </a:ln>
        </p:spPr>
      </p:sp>
      <p:sp>
        <p:nvSpPr>
          <p:cNvPr id="10" name="Shape 8"/>
          <p:cNvSpPr/>
          <p:nvPr/>
        </p:nvSpPr>
        <p:spPr>
          <a:xfrm>
            <a:off x="6896100" y="3461385"/>
            <a:ext cx="6940391" cy="570905"/>
          </a:xfrm>
          <a:prstGeom prst="rect">
            <a:avLst/>
          </a:prstGeom>
          <a:solidFill>
            <a:srgbClr val="FFFFFF">
              <a:alpha val="4000"/>
            </a:srgbClr>
          </a:solidFill>
          <a:ln/>
        </p:spPr>
      </p:sp>
      <p:sp>
        <p:nvSpPr>
          <p:cNvPr id="11" name="Text 9"/>
          <p:cNvSpPr/>
          <p:nvPr/>
        </p:nvSpPr>
        <p:spPr>
          <a:xfrm>
            <a:off x="7094458" y="3588068"/>
            <a:ext cx="3069669" cy="317540"/>
          </a:xfrm>
          <a:prstGeom prst="rect">
            <a:avLst/>
          </a:prstGeom>
          <a:noFill/>
          <a:ln/>
        </p:spPr>
        <p:txBody>
          <a:bodyPr wrap="none" lIns="0" tIns="0" rIns="0" bIns="0" rtlCol="0" anchor="t"/>
          <a:lstStyle/>
          <a:p>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SKY-TWIS-4342</a:t>
            </a:r>
            <a:endParaRPr lang="en-US" sz="1550" dirty="0"/>
          </a:p>
        </p:txBody>
      </p:sp>
      <p:sp>
        <p:nvSpPr>
          <p:cNvPr id="12" name="Text 10"/>
          <p:cNvSpPr/>
          <p:nvPr/>
        </p:nvSpPr>
        <p:spPr>
          <a:xfrm>
            <a:off x="10568464" y="3588068"/>
            <a:ext cx="3069669" cy="317540"/>
          </a:xfrm>
          <a:prstGeom prst="rect">
            <a:avLst/>
          </a:prstGeom>
          <a:noFill/>
          <a:ln/>
        </p:spPr>
        <p:txBody>
          <a:bodyPr wrap="non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Cryptography</a:t>
            </a:r>
            <a:endParaRPr lang="en-US" sz="1550" dirty="0"/>
          </a:p>
        </p:txBody>
      </p:sp>
      <p:sp>
        <p:nvSpPr>
          <p:cNvPr id="13" name="Shape 11"/>
          <p:cNvSpPr/>
          <p:nvPr/>
        </p:nvSpPr>
        <p:spPr>
          <a:xfrm>
            <a:off x="6896100" y="4032290"/>
            <a:ext cx="6940391" cy="570905"/>
          </a:xfrm>
          <a:prstGeom prst="rect">
            <a:avLst/>
          </a:prstGeom>
          <a:solidFill>
            <a:srgbClr val="000000">
              <a:alpha val="4000"/>
            </a:srgbClr>
          </a:solidFill>
          <a:ln/>
        </p:spPr>
      </p:sp>
      <p:sp>
        <p:nvSpPr>
          <p:cNvPr id="14" name="Text 12"/>
          <p:cNvSpPr/>
          <p:nvPr/>
        </p:nvSpPr>
        <p:spPr>
          <a:xfrm>
            <a:off x="7094458" y="4158972"/>
            <a:ext cx="3069669" cy="317540"/>
          </a:xfrm>
          <a:prstGeom prst="rect">
            <a:avLst/>
          </a:prstGeom>
          <a:noFill/>
          <a:ln/>
        </p:spPr>
        <p:txBody>
          <a:bodyPr wrap="none" lIns="0" tIns="0" rIns="0" bIns="0" rtlCol="0" anchor="t"/>
          <a:lstStyle/>
          <a:p>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SKY-STEG-4744</a:t>
            </a:r>
            <a:endParaRPr lang="en-US" sz="1550" dirty="0"/>
          </a:p>
        </p:txBody>
      </p:sp>
      <p:sp>
        <p:nvSpPr>
          <p:cNvPr id="15" name="Text 13"/>
          <p:cNvSpPr/>
          <p:nvPr/>
        </p:nvSpPr>
        <p:spPr>
          <a:xfrm>
            <a:off x="10568464" y="4158972"/>
            <a:ext cx="3069669" cy="317540"/>
          </a:xfrm>
          <a:prstGeom prst="rect">
            <a:avLst/>
          </a:prstGeom>
          <a:noFill/>
          <a:ln/>
        </p:spPr>
        <p:txBody>
          <a:bodyPr wrap="non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Forensics</a:t>
            </a:r>
            <a:endParaRPr lang="en-US" sz="1550" dirty="0"/>
          </a:p>
        </p:txBody>
      </p:sp>
      <p:sp>
        <p:nvSpPr>
          <p:cNvPr id="16" name="Shape 14"/>
          <p:cNvSpPr/>
          <p:nvPr/>
        </p:nvSpPr>
        <p:spPr>
          <a:xfrm>
            <a:off x="6896100" y="4603194"/>
            <a:ext cx="6940391" cy="570905"/>
          </a:xfrm>
          <a:prstGeom prst="rect">
            <a:avLst/>
          </a:prstGeom>
          <a:solidFill>
            <a:srgbClr val="FFFFFF">
              <a:alpha val="4000"/>
            </a:srgbClr>
          </a:solidFill>
          <a:ln/>
        </p:spPr>
      </p:sp>
      <p:sp>
        <p:nvSpPr>
          <p:cNvPr id="17" name="Text 15"/>
          <p:cNvSpPr/>
          <p:nvPr/>
        </p:nvSpPr>
        <p:spPr>
          <a:xfrm>
            <a:off x="7094458" y="4729877"/>
            <a:ext cx="3069669" cy="317540"/>
          </a:xfrm>
          <a:prstGeom prst="rect">
            <a:avLst/>
          </a:prstGeom>
          <a:noFill/>
          <a:ln/>
        </p:spPr>
        <p:txBody>
          <a:bodyPr wrap="none" lIns="0" tIns="0" rIns="0" bIns="0" rtlCol="0" anchor="t"/>
          <a:lstStyle/>
          <a:p>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SKY-SCAN-0363</a:t>
            </a:r>
            <a:endParaRPr lang="en-US" sz="1550" dirty="0"/>
          </a:p>
        </p:txBody>
      </p:sp>
      <p:sp>
        <p:nvSpPr>
          <p:cNvPr id="18" name="Text 16"/>
          <p:cNvSpPr/>
          <p:nvPr/>
        </p:nvSpPr>
        <p:spPr>
          <a:xfrm>
            <a:off x="10568464" y="4729877"/>
            <a:ext cx="3069669" cy="317540"/>
          </a:xfrm>
          <a:prstGeom prst="rect">
            <a:avLst/>
          </a:prstGeom>
          <a:noFill/>
          <a:ln/>
        </p:spPr>
        <p:txBody>
          <a:bodyPr wrap="non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Scanning &amp; Recon</a:t>
            </a:r>
            <a:endParaRPr lang="en-US" sz="1550" dirty="0"/>
          </a:p>
        </p:txBody>
      </p:sp>
      <p:sp>
        <p:nvSpPr>
          <p:cNvPr id="19" name="Shape 17"/>
          <p:cNvSpPr/>
          <p:nvPr/>
        </p:nvSpPr>
        <p:spPr>
          <a:xfrm>
            <a:off x="6896100" y="5174099"/>
            <a:ext cx="6940391" cy="570905"/>
          </a:xfrm>
          <a:prstGeom prst="rect">
            <a:avLst/>
          </a:prstGeom>
          <a:solidFill>
            <a:srgbClr val="000000">
              <a:alpha val="4000"/>
            </a:srgbClr>
          </a:solidFill>
          <a:ln/>
        </p:spPr>
      </p:sp>
      <p:sp>
        <p:nvSpPr>
          <p:cNvPr id="20" name="Text 18"/>
          <p:cNvSpPr/>
          <p:nvPr/>
        </p:nvSpPr>
        <p:spPr>
          <a:xfrm>
            <a:off x="7094458" y="5300782"/>
            <a:ext cx="3069669" cy="317540"/>
          </a:xfrm>
          <a:prstGeom prst="rect">
            <a:avLst/>
          </a:prstGeom>
          <a:noFill/>
          <a:ln/>
        </p:spPr>
        <p:txBody>
          <a:bodyPr wrap="none" lIns="0" tIns="0" rIns="0" bIns="0" rtlCol="0" anchor="t"/>
          <a:lstStyle/>
          <a:p>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SKY-DHCP-7643</a:t>
            </a:r>
            <a:endParaRPr lang="en-US" sz="1550" dirty="0"/>
          </a:p>
        </p:txBody>
      </p:sp>
      <p:sp>
        <p:nvSpPr>
          <p:cNvPr id="21" name="Text 19"/>
          <p:cNvSpPr/>
          <p:nvPr/>
        </p:nvSpPr>
        <p:spPr>
          <a:xfrm>
            <a:off x="10568464" y="5300782"/>
            <a:ext cx="3069669" cy="317540"/>
          </a:xfrm>
          <a:prstGeom prst="rect">
            <a:avLst/>
          </a:prstGeom>
          <a:noFill/>
          <a:ln/>
        </p:spPr>
        <p:txBody>
          <a:bodyPr wrap="non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Network Traffic</a:t>
            </a:r>
            <a:endParaRPr lang="en-US" sz="1550" dirty="0"/>
          </a:p>
        </p:txBody>
      </p:sp>
      <p:sp>
        <p:nvSpPr>
          <p:cNvPr id="22" name="Shape 20"/>
          <p:cNvSpPr/>
          <p:nvPr/>
        </p:nvSpPr>
        <p:spPr>
          <a:xfrm>
            <a:off x="793790" y="6199108"/>
            <a:ext cx="13042821" cy="1183600"/>
          </a:xfrm>
          <a:prstGeom prst="roundRect">
            <a:avLst>
              <a:gd name="adj" fmla="val 2515"/>
            </a:avLst>
          </a:prstGeom>
          <a:solidFill>
            <a:srgbClr val="022349"/>
          </a:solidFill>
          <a:ln/>
        </p:spPr>
      </p:sp>
      <p:pic>
        <p:nvPicPr>
          <p:cNvPr id="23" name="Image 0" descr="preencoded.png">    </p:cNvPr>
          <p:cNvPicPr>
            <a:picLocks noChangeAspect="1"/>
          </p:cNvPicPr>
          <p:nvPr/>
        </p:nvPicPr>
        <p:blipFill>
          <a:blip r:embed="rId1"/>
          <a:stretch>
            <a:fillRect/>
          </a:stretch>
        </p:blipFill>
        <p:spPr>
          <a:xfrm>
            <a:off x="992148" y="6509623"/>
            <a:ext cx="248007" cy="198358"/>
          </a:xfrm>
          <a:prstGeom prst="rect">
            <a:avLst/>
          </a:prstGeom>
        </p:spPr>
      </p:pic>
      <p:sp>
        <p:nvSpPr>
          <p:cNvPr id="24" name="Text 21"/>
          <p:cNvSpPr/>
          <p:nvPr/>
        </p:nvSpPr>
        <p:spPr>
          <a:xfrm>
            <a:off x="1438513" y="6446996"/>
            <a:ext cx="12199739" cy="657939"/>
          </a:xfrm>
          <a:prstGeom prst="rect">
            <a:avLst/>
          </a:prstGeom>
          <a:noFill/>
          <a:ln/>
        </p:spPr>
        <p:txBody>
          <a:bodyPr wrap="square" lIns="0" tIns="0" rIns="0" bIns="0" rtlCol="0" anchor="t"/>
          <a:lstStyle/>
          <a:p>
            <a:pPr algn="l" indent="0" marL="0">
              <a:lnSpc>
                <a:spcPts val="2500"/>
              </a:lnSpc>
              <a:buNone/>
            </a:pPr>
            <a:r>
              <a:rPr lang="en-US" sz="1550" dirty="0">
                <a:solidFill>
                  <a:srgbClr val="000000"/>
                </a:solidFill>
                <a:latin typeface="Tomorrow" pitchFamily="34" charset="0"/>
                <a:ea typeface="Tomorrow" pitchFamily="34" charset="-122"/>
                <a:cs typeface="Tomorrow" pitchFamily="34" charset="-120"/>
              </a:rPr>
              <a:t>💡</a:t>
            </a:r>
            <a:pPr algn="l" indent="0" marL="0">
              <a:lnSpc>
                <a:spcPts val="2500"/>
              </a:lnSpc>
              <a:buNone/>
            </a:pPr>
            <a:r>
              <a:rPr lang="en-US" sz="1550" dirty="0">
                <a:solidFill>
                  <a:srgbClr val="FFFFFF"/>
                </a:solidFill>
                <a:latin typeface="Tomorrow" pitchFamily="34" charset="0"/>
                <a:ea typeface="Tomorrow" pitchFamily="34" charset="-122"/>
                <a:cs typeface="Tomorrow" pitchFamily="34" charset="-120"/>
              </a:rPr>
              <a:t> </a:t>
            </a:r>
            <a:pPr algn="l" indent="0" marL="0">
              <a:lnSpc>
                <a:spcPts val="2500"/>
              </a:lnSpc>
              <a:buNone/>
            </a:pPr>
            <a:r>
              <a:rPr lang="en-US" sz="1550" b="1" dirty="0">
                <a:solidFill>
                  <a:srgbClr val="FFFFFF"/>
                </a:solidFill>
                <a:latin typeface="Tomorrow" pitchFamily="34" charset="0"/>
                <a:ea typeface="Tomorrow" pitchFamily="34" charset="-122"/>
                <a:cs typeface="Tomorrow" pitchFamily="34" charset="-120"/>
              </a:rPr>
              <a:t>Pro tip:</a:t>
            </a:r>
            <a:pPr algn="l" indent="0" marL="0">
              <a:lnSpc>
                <a:spcPts val="2500"/>
              </a:lnSpc>
              <a:buNone/>
            </a:pPr>
            <a:r>
              <a:rPr lang="en-US" sz="1550" dirty="0">
                <a:solidFill>
                  <a:srgbClr val="FFFFFF"/>
                </a:solidFill>
                <a:latin typeface="Tomorrow" pitchFamily="34" charset="0"/>
                <a:ea typeface="Tomorrow" pitchFamily="34" charset="-122"/>
                <a:cs typeface="Tomorrow" pitchFamily="34" charset="-120"/>
              </a:rPr>
              <a:t> The four-letter code in the flag often hints at the challenge theme. </a:t>
            </a:r>
            <a:pPr algn="l" indent="0" marL="0">
              <a:lnSpc>
                <a:spcPts val="2500"/>
              </a:lnSpc>
              <a:buNone/>
            </a:pPr>
            <a:r>
              <a:rPr lang="en-US" sz="1550" dirty="0">
                <a:solidFill>
                  <a:srgbClr val="FFFFFF"/>
                </a:solidFill>
                <a:highlight>
                  <a:srgbClr val="2A2A28"/>
                </a:highlight>
                <a:latin typeface="Consolas" pitchFamily="34" charset="0"/>
                <a:ea typeface="Consolas" pitchFamily="34" charset="-122"/>
                <a:cs typeface="Consolas" pitchFamily="34" charset="-120"/>
              </a:rPr>
              <a:t>TWIS</a:t>
            </a:r>
            <a:pPr algn="l" indent="0" marL="0">
              <a:lnSpc>
                <a:spcPts val="2500"/>
              </a:lnSpc>
              <a:buNone/>
            </a:pPr>
            <a:r>
              <a:rPr lang="en-US" sz="1550" dirty="0">
                <a:solidFill>
                  <a:srgbClr val="FFFFFF"/>
                </a:solidFill>
                <a:latin typeface="Tomorrow" pitchFamily="34" charset="0"/>
                <a:ea typeface="Tomorrow" pitchFamily="34" charset="-122"/>
                <a:cs typeface="Tomorrow" pitchFamily="34" charset="-120"/>
              </a:rPr>
              <a:t> = Mersenne Twister, </a:t>
            </a:r>
            <a:pPr algn="l" indent="0" marL="0">
              <a:lnSpc>
                <a:spcPts val="2500"/>
              </a:lnSpc>
              <a:buNone/>
            </a:pPr>
            <a:r>
              <a:rPr lang="en-US" sz="1550" dirty="0">
                <a:solidFill>
                  <a:srgbClr val="FFFFFF"/>
                </a:solidFill>
                <a:highlight>
                  <a:srgbClr val="2A2A28"/>
                </a:highlight>
                <a:latin typeface="Consolas" pitchFamily="34" charset="0"/>
                <a:ea typeface="Consolas" pitchFamily="34" charset="-122"/>
                <a:cs typeface="Consolas" pitchFamily="34" charset="-120"/>
              </a:rPr>
              <a:t>STEG</a:t>
            </a:r>
            <a:pPr algn="l" indent="0" marL="0">
              <a:lnSpc>
                <a:spcPts val="2500"/>
              </a:lnSpc>
              <a:buNone/>
            </a:pPr>
            <a:r>
              <a:rPr lang="en-US" sz="1550" dirty="0">
                <a:solidFill>
                  <a:srgbClr val="FFFFFF"/>
                </a:solidFill>
                <a:latin typeface="Tomorrow" pitchFamily="34" charset="0"/>
                <a:ea typeface="Tomorrow" pitchFamily="34" charset="-122"/>
                <a:cs typeface="Tomorrow" pitchFamily="34" charset="-120"/>
              </a:rPr>
              <a:t> = Steganography, </a:t>
            </a:r>
            <a:pPr algn="l" indent="0" marL="0">
              <a:lnSpc>
                <a:spcPts val="2500"/>
              </a:lnSpc>
              <a:buNone/>
            </a:pPr>
            <a:r>
              <a:rPr lang="en-US" sz="1550" dirty="0">
                <a:solidFill>
                  <a:srgbClr val="FFFFFF"/>
                </a:solidFill>
                <a:highlight>
                  <a:srgbClr val="2A2A28"/>
                </a:highlight>
                <a:latin typeface="Consolas" pitchFamily="34" charset="0"/>
                <a:ea typeface="Consolas" pitchFamily="34" charset="-122"/>
                <a:cs typeface="Consolas" pitchFamily="34" charset="-120"/>
              </a:rPr>
              <a:t>DHCP</a:t>
            </a:r>
            <a:pPr algn="l" indent="0" marL="0">
              <a:lnSpc>
                <a:spcPts val="2500"/>
              </a:lnSpc>
              <a:buNone/>
            </a:pPr>
            <a:r>
              <a:rPr lang="en-US" sz="1550" dirty="0">
                <a:solidFill>
                  <a:srgbClr val="FFFFFF"/>
                </a:solidFill>
                <a:latin typeface="Tomorrow" pitchFamily="34" charset="0"/>
                <a:ea typeface="Tomorrow" pitchFamily="34" charset="-122"/>
                <a:cs typeface="Tomorrow" pitchFamily="34" charset="-120"/>
              </a:rPr>
              <a:t> = DHCP analysis. Use the flag format as a clue when you're stuck!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93790" y="885230"/>
            <a:ext cx="1907977" cy="373142"/>
          </a:xfrm>
          <a:prstGeom prst="roundRect">
            <a:avLst>
              <a:gd name="adj" fmla="val 6383"/>
            </a:avLst>
          </a:prstGeom>
          <a:solidFill>
            <a:srgbClr val="272725"/>
          </a:solidFill>
          <a:ln/>
        </p:spPr>
      </p:sp>
      <p:sp>
        <p:nvSpPr>
          <p:cNvPr id="3" name="Text 1"/>
          <p:cNvSpPr/>
          <p:nvPr/>
        </p:nvSpPr>
        <p:spPr>
          <a:xfrm>
            <a:off x="912852" y="944761"/>
            <a:ext cx="1669852" cy="254079"/>
          </a:xfrm>
          <a:prstGeom prst="rect">
            <a:avLst/>
          </a:prstGeom>
          <a:noFill/>
          <a:ln/>
        </p:spPr>
        <p:txBody>
          <a:bodyPr wrap="none" lIns="0" tIns="0" rIns="0" bIns="0" rtlCol="0" anchor="t"/>
          <a:lstStyle/>
          <a:p>
            <a:pPr algn="l" indent="0" marL="0">
              <a:lnSpc>
                <a:spcPts val="2000"/>
              </a:lnSpc>
              <a:buNone/>
            </a:pPr>
            <a:r>
              <a:rPr lang="en-US" sz="1250" dirty="0">
                <a:solidFill>
                  <a:srgbClr val="C9C9C0"/>
                </a:solidFill>
                <a:latin typeface="Tomorrow" pitchFamily="34" charset="0"/>
                <a:ea typeface="Tomorrow" pitchFamily="34" charset="-122"/>
                <a:cs typeface="Tomorrow" pitchFamily="34" charset="-120"/>
              </a:rPr>
              <a:t>CATEGORY DEEP DIVE</a:t>
            </a:r>
            <a:endParaRPr lang="en-US" sz="1250" dirty="0"/>
          </a:p>
        </p:txBody>
      </p:sp>
      <p:sp>
        <p:nvSpPr>
          <p:cNvPr id="4" name="Text 2"/>
          <p:cNvSpPr/>
          <p:nvPr/>
        </p:nvSpPr>
        <p:spPr>
          <a:xfrm>
            <a:off x="793790" y="1337667"/>
            <a:ext cx="8426410" cy="620078"/>
          </a:xfrm>
          <a:prstGeom prst="rect">
            <a:avLst/>
          </a:prstGeom>
          <a:noFill/>
          <a:ln/>
        </p:spPr>
        <p:txBody>
          <a:bodyPr wrap="none" lIns="0" tIns="0" rIns="0" bIns="0" rtlCol="0" anchor="t"/>
          <a:lstStyle/>
          <a:p>
            <a:pPr algn="l" indent="0" marL="0">
              <a:lnSpc>
                <a:spcPts val="4850"/>
              </a:lnSpc>
              <a:buNone/>
            </a:pPr>
            <a:r>
              <a:rPr lang="en-US" sz="3900" dirty="0">
                <a:solidFill>
                  <a:srgbClr val="EDEDE8"/>
                </a:solidFill>
                <a:latin typeface="Tomorrow Semi Bold" pitchFamily="34" charset="0"/>
                <a:ea typeface="Tomorrow Semi Bold" pitchFamily="34" charset="-122"/>
                <a:cs typeface="Tomorrow Semi Bold" pitchFamily="34" charset="-120"/>
              </a:rPr>
              <a:t>Open Source Intelligence (OSINT)</a:t>
            </a:r>
            <a:endParaRPr lang="en-US" sz="3900" dirty="0"/>
          </a:p>
        </p:txBody>
      </p:sp>
      <p:sp>
        <p:nvSpPr>
          <p:cNvPr id="5" name="Text 3"/>
          <p:cNvSpPr/>
          <p:nvPr/>
        </p:nvSpPr>
        <p:spPr>
          <a:xfrm>
            <a:off x="793790" y="2255401"/>
            <a:ext cx="13042821" cy="635079"/>
          </a:xfrm>
          <a:prstGeom prst="rect">
            <a:avLst/>
          </a:prstGeom>
          <a:noFill/>
          <a:ln/>
        </p:spPr>
        <p:txBody>
          <a:bodyPr wrap="square" lIns="0" tIns="0" rIns="0" bIns="0" rtlCol="0" anchor="t"/>
          <a:lstStyle/>
          <a:p>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What it is:</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Gathering information using only publicly available sources — no hacking, just research. This is the most beginner-friendly category. If you can Google effectively and know about EXIF metadata, you can score points here on day one.</a:t>
            </a:r>
            <a:endParaRPr lang="en-US" sz="1550" dirty="0"/>
          </a:p>
        </p:txBody>
      </p:sp>
      <p:sp>
        <p:nvSpPr>
          <p:cNvPr id="6" name="Shape 4"/>
          <p:cNvSpPr/>
          <p:nvPr/>
        </p:nvSpPr>
        <p:spPr>
          <a:xfrm>
            <a:off x="793790" y="3113722"/>
            <a:ext cx="4215289" cy="3689747"/>
          </a:xfrm>
          <a:prstGeom prst="roundRect">
            <a:avLst>
              <a:gd name="adj" fmla="val 807"/>
            </a:avLst>
          </a:prstGeom>
          <a:solidFill>
            <a:srgbClr val="1D1D1B"/>
          </a:solidFill>
          <a:ln w="22860">
            <a:solidFill>
              <a:srgbClr val="555553"/>
            </a:solidFill>
            <a:prstDash val="solid"/>
          </a:ln>
        </p:spPr>
      </p:sp>
      <p:sp>
        <p:nvSpPr>
          <p:cNvPr id="7" name="Shape 5"/>
          <p:cNvSpPr/>
          <p:nvPr/>
        </p:nvSpPr>
        <p:spPr>
          <a:xfrm>
            <a:off x="816650" y="3136583"/>
            <a:ext cx="4169569" cy="595313"/>
          </a:xfrm>
          <a:prstGeom prst="roundRect">
            <a:avLst>
              <a:gd name="adj" fmla="val 393"/>
            </a:avLst>
          </a:prstGeom>
          <a:solidFill>
            <a:srgbClr val="3C3C3A"/>
          </a:solidFill>
          <a:ln/>
        </p:spPr>
      </p:sp>
      <p:sp>
        <p:nvSpPr>
          <p:cNvPr id="8" name="Text 6"/>
          <p:cNvSpPr/>
          <p:nvPr/>
        </p:nvSpPr>
        <p:spPr>
          <a:xfrm>
            <a:off x="2752606" y="3248144"/>
            <a:ext cx="297656" cy="372070"/>
          </a:xfrm>
          <a:prstGeom prst="rect">
            <a:avLst/>
          </a:prstGeom>
          <a:noFill/>
          <a:ln/>
        </p:spPr>
        <p:txBody>
          <a:bodyPr wrap="none" lIns="0" tIns="0" rIns="0" bIns="0" rtlCol="0" anchor="t"/>
          <a:lstStyle/>
          <a:p>
            <a:pPr algn="l" indent="0" marL="0">
              <a:lnSpc>
                <a:spcPts val="2300"/>
              </a:lnSpc>
              <a:buNone/>
            </a:pPr>
            <a:r>
              <a:rPr lang="en-US" sz="2300" dirty="0">
                <a:solidFill>
                  <a:srgbClr val="C9C9C0"/>
                </a:solidFill>
                <a:latin typeface="Tomorrow Semi Bold" pitchFamily="34" charset="0"/>
                <a:ea typeface="Tomorrow Semi Bold" pitchFamily="34" charset="-122"/>
                <a:cs typeface="Tomorrow Semi Bold" pitchFamily="34" charset="-120"/>
              </a:rPr>
              <a:t>1</a:t>
            </a:r>
            <a:endParaRPr lang="en-US" sz="2300" dirty="0"/>
          </a:p>
        </p:txBody>
      </p:sp>
      <p:sp>
        <p:nvSpPr>
          <p:cNvPr id="9" name="Text 7"/>
          <p:cNvSpPr/>
          <p:nvPr/>
        </p:nvSpPr>
        <p:spPr>
          <a:xfrm>
            <a:off x="1015008" y="393025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Cruise Ship (Easy)</a:t>
            </a:r>
            <a:endParaRPr lang="en-US" sz="1950" dirty="0"/>
          </a:p>
        </p:txBody>
      </p:sp>
      <p:sp>
        <p:nvSpPr>
          <p:cNvPr id="10" name="Text 8"/>
          <p:cNvSpPr/>
          <p:nvPr/>
        </p:nvSpPr>
        <p:spPr>
          <a:xfrm>
            <a:off x="1015008" y="4359473"/>
            <a:ext cx="3772853" cy="2222778"/>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Given a photo of a cruise ship, identify it, determine when the photo was taken, and figure out where it was docked. We zoomed in to read "Norwegian Viva," pulled the date from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EXIF metadata</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and cross-referenced the ship's itinerary. Classic OSINT chain.</a:t>
            </a:r>
            <a:endParaRPr lang="en-US" sz="1550" dirty="0"/>
          </a:p>
        </p:txBody>
      </p:sp>
      <p:sp>
        <p:nvSpPr>
          <p:cNvPr id="11" name="Shape 9"/>
          <p:cNvSpPr/>
          <p:nvPr/>
        </p:nvSpPr>
        <p:spPr>
          <a:xfrm>
            <a:off x="5207437" y="3113722"/>
            <a:ext cx="4215408" cy="3689747"/>
          </a:xfrm>
          <a:prstGeom prst="roundRect">
            <a:avLst>
              <a:gd name="adj" fmla="val 807"/>
            </a:avLst>
          </a:prstGeom>
          <a:solidFill>
            <a:srgbClr val="1D1D1B"/>
          </a:solidFill>
          <a:ln w="22860">
            <a:solidFill>
              <a:srgbClr val="555553"/>
            </a:solidFill>
            <a:prstDash val="solid"/>
          </a:ln>
        </p:spPr>
      </p:sp>
      <p:sp>
        <p:nvSpPr>
          <p:cNvPr id="12" name="Shape 10"/>
          <p:cNvSpPr/>
          <p:nvPr/>
        </p:nvSpPr>
        <p:spPr>
          <a:xfrm>
            <a:off x="5230297" y="3136583"/>
            <a:ext cx="4169688" cy="595313"/>
          </a:xfrm>
          <a:prstGeom prst="roundRect">
            <a:avLst>
              <a:gd name="adj" fmla="val 393"/>
            </a:avLst>
          </a:prstGeom>
          <a:solidFill>
            <a:srgbClr val="3C3C3A"/>
          </a:solidFill>
          <a:ln/>
        </p:spPr>
      </p:sp>
      <p:sp>
        <p:nvSpPr>
          <p:cNvPr id="13" name="Text 11"/>
          <p:cNvSpPr/>
          <p:nvPr/>
        </p:nvSpPr>
        <p:spPr>
          <a:xfrm>
            <a:off x="7166253" y="3248144"/>
            <a:ext cx="297656" cy="372070"/>
          </a:xfrm>
          <a:prstGeom prst="rect">
            <a:avLst/>
          </a:prstGeom>
          <a:noFill/>
          <a:ln/>
        </p:spPr>
        <p:txBody>
          <a:bodyPr wrap="none" lIns="0" tIns="0" rIns="0" bIns="0" rtlCol="0" anchor="t"/>
          <a:lstStyle/>
          <a:p>
            <a:pPr algn="l" indent="0" marL="0">
              <a:lnSpc>
                <a:spcPts val="2300"/>
              </a:lnSpc>
              <a:buNone/>
            </a:pPr>
            <a:r>
              <a:rPr lang="en-US" sz="2300" dirty="0">
                <a:solidFill>
                  <a:srgbClr val="C9C9C0"/>
                </a:solidFill>
                <a:latin typeface="Tomorrow Semi Bold" pitchFamily="34" charset="0"/>
                <a:ea typeface="Tomorrow Semi Bold" pitchFamily="34" charset="-122"/>
                <a:cs typeface="Tomorrow Semi Bold" pitchFamily="34" charset="-120"/>
              </a:rPr>
              <a:t>2</a:t>
            </a:r>
            <a:endParaRPr lang="en-US" sz="2300" dirty="0"/>
          </a:p>
        </p:txBody>
      </p:sp>
      <p:sp>
        <p:nvSpPr>
          <p:cNvPr id="14" name="Text 12"/>
          <p:cNvSpPr/>
          <p:nvPr/>
        </p:nvSpPr>
        <p:spPr>
          <a:xfrm>
            <a:off x="5428655" y="393025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Tooling (Medium)</a:t>
            </a:r>
            <a:endParaRPr lang="en-US" sz="1950" dirty="0"/>
          </a:p>
        </p:txBody>
      </p:sp>
      <p:sp>
        <p:nvSpPr>
          <p:cNvPr id="15" name="Text 13"/>
          <p:cNvSpPr/>
          <p:nvPr/>
        </p:nvSpPr>
        <p:spPr>
          <a:xfrm>
            <a:off x="5428655" y="4359473"/>
            <a:ext cx="3772972" cy="2222778"/>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A Snapchat photo from a cybersecurity conference. GPS coordinates from image metadata led us to the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Mandalay Bay Convention Center</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during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Black Hat USA</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We matched the timestamp to the schedule and identified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StegoScan</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at Station 8.</a:t>
            </a:r>
            <a:endParaRPr lang="en-US" sz="1550" dirty="0"/>
          </a:p>
        </p:txBody>
      </p:sp>
      <p:sp>
        <p:nvSpPr>
          <p:cNvPr id="16" name="Shape 14"/>
          <p:cNvSpPr/>
          <p:nvPr/>
        </p:nvSpPr>
        <p:spPr>
          <a:xfrm>
            <a:off x="9621203" y="3113722"/>
            <a:ext cx="4215289" cy="3689747"/>
          </a:xfrm>
          <a:prstGeom prst="roundRect">
            <a:avLst>
              <a:gd name="adj" fmla="val 807"/>
            </a:avLst>
          </a:prstGeom>
          <a:solidFill>
            <a:srgbClr val="1D1D1B"/>
          </a:solidFill>
          <a:ln w="22860">
            <a:solidFill>
              <a:srgbClr val="555553"/>
            </a:solidFill>
            <a:prstDash val="solid"/>
          </a:ln>
        </p:spPr>
      </p:sp>
      <p:sp>
        <p:nvSpPr>
          <p:cNvPr id="17" name="Shape 15"/>
          <p:cNvSpPr/>
          <p:nvPr/>
        </p:nvSpPr>
        <p:spPr>
          <a:xfrm>
            <a:off x="9644063" y="3136583"/>
            <a:ext cx="4169569" cy="595313"/>
          </a:xfrm>
          <a:prstGeom prst="roundRect">
            <a:avLst>
              <a:gd name="adj" fmla="val 393"/>
            </a:avLst>
          </a:prstGeom>
          <a:solidFill>
            <a:srgbClr val="3C3C3A"/>
          </a:solidFill>
          <a:ln/>
        </p:spPr>
      </p:sp>
      <p:sp>
        <p:nvSpPr>
          <p:cNvPr id="18" name="Text 16"/>
          <p:cNvSpPr/>
          <p:nvPr/>
        </p:nvSpPr>
        <p:spPr>
          <a:xfrm>
            <a:off x="11580019" y="3248144"/>
            <a:ext cx="297656" cy="372070"/>
          </a:xfrm>
          <a:prstGeom prst="rect">
            <a:avLst/>
          </a:prstGeom>
          <a:noFill/>
          <a:ln/>
        </p:spPr>
        <p:txBody>
          <a:bodyPr wrap="none" lIns="0" tIns="0" rIns="0" bIns="0" rtlCol="0" anchor="t"/>
          <a:lstStyle/>
          <a:p>
            <a:pPr algn="l" indent="0" marL="0">
              <a:lnSpc>
                <a:spcPts val="2300"/>
              </a:lnSpc>
              <a:buNone/>
            </a:pPr>
            <a:r>
              <a:rPr lang="en-US" sz="2300" dirty="0">
                <a:solidFill>
                  <a:srgbClr val="C9C9C0"/>
                </a:solidFill>
                <a:latin typeface="Tomorrow Semi Bold" pitchFamily="34" charset="0"/>
                <a:ea typeface="Tomorrow Semi Bold" pitchFamily="34" charset="-122"/>
                <a:cs typeface="Tomorrow Semi Bold" pitchFamily="34" charset="-120"/>
              </a:rPr>
              <a:t>3</a:t>
            </a:r>
            <a:endParaRPr lang="en-US" sz="2300" dirty="0"/>
          </a:p>
        </p:txBody>
      </p:sp>
      <p:sp>
        <p:nvSpPr>
          <p:cNvPr id="19" name="Text 17"/>
          <p:cNvSpPr/>
          <p:nvPr/>
        </p:nvSpPr>
        <p:spPr>
          <a:xfrm>
            <a:off x="9842421" y="3930253"/>
            <a:ext cx="2535436" cy="310158"/>
          </a:xfrm>
          <a:prstGeom prst="rect">
            <a:avLst/>
          </a:prstGeom>
          <a:noFill/>
          <a:ln/>
        </p:spPr>
        <p:txBody>
          <a:bodyPr wrap="none" lIns="0" tIns="0" rIns="0" bIns="0" rtlCol="0" anchor="t"/>
          <a:lstStyle/>
          <a:p>
            <a:pPr algn="l" indent="0" marL="0">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Guiding Light (Hard)</a:t>
            </a:r>
            <a:endParaRPr lang="en-US" sz="1950" dirty="0"/>
          </a:p>
        </p:txBody>
      </p:sp>
      <p:sp>
        <p:nvSpPr>
          <p:cNvPr id="20" name="Text 18"/>
          <p:cNvSpPr/>
          <p:nvPr/>
        </p:nvSpPr>
        <p:spPr>
          <a:xfrm>
            <a:off x="9842421" y="4359473"/>
            <a:ext cx="3772853" cy="2222778"/>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Geolocate a suspect using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shadow analysis</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We measured shadow lengths at three times of day, calculated sun altitude angles, and compared against astronomical predictions. Answer: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Las Vegas</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 with measurement errors as low as 0.04°.</a:t>
            </a:r>
            <a:endParaRPr lang="en-US" sz="1550" dirty="0"/>
          </a:p>
        </p:txBody>
      </p:sp>
      <p:sp>
        <p:nvSpPr>
          <p:cNvPr id="21" name="Text 19"/>
          <p:cNvSpPr/>
          <p:nvPr/>
        </p:nvSpPr>
        <p:spPr>
          <a:xfrm>
            <a:off x="793790" y="7026712"/>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Key tools:</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exiftool, Google Maps, reverse image search (Google, Yandex, TinEye), SunCalc, conference schedules, ship tracking sites</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93790" y="1179076"/>
            <a:ext cx="1907977" cy="373142"/>
          </a:xfrm>
          <a:prstGeom prst="roundRect">
            <a:avLst>
              <a:gd name="adj" fmla="val 6383"/>
            </a:avLst>
          </a:prstGeom>
          <a:solidFill>
            <a:srgbClr val="272725"/>
          </a:solidFill>
          <a:ln/>
        </p:spPr>
      </p:sp>
      <p:sp>
        <p:nvSpPr>
          <p:cNvPr id="3" name="Text 1"/>
          <p:cNvSpPr/>
          <p:nvPr/>
        </p:nvSpPr>
        <p:spPr>
          <a:xfrm>
            <a:off x="912852" y="1238607"/>
            <a:ext cx="1669852" cy="254079"/>
          </a:xfrm>
          <a:prstGeom prst="rect">
            <a:avLst/>
          </a:prstGeom>
          <a:noFill/>
          <a:ln/>
        </p:spPr>
        <p:txBody>
          <a:bodyPr wrap="none" lIns="0" tIns="0" rIns="0" bIns="0" rtlCol="0" anchor="t"/>
          <a:lstStyle/>
          <a:p>
            <a:pPr algn="l" indent="0" marL="0">
              <a:lnSpc>
                <a:spcPts val="2000"/>
              </a:lnSpc>
              <a:buNone/>
            </a:pPr>
            <a:r>
              <a:rPr lang="en-US" sz="1250" dirty="0">
                <a:solidFill>
                  <a:srgbClr val="C9C9C0"/>
                </a:solidFill>
                <a:latin typeface="Tomorrow" pitchFamily="34" charset="0"/>
                <a:ea typeface="Tomorrow" pitchFamily="34" charset="-122"/>
                <a:cs typeface="Tomorrow" pitchFamily="34" charset="-120"/>
              </a:rPr>
              <a:t>CATEGORY DEEP DIVE</a:t>
            </a:r>
            <a:endParaRPr lang="en-US" sz="1250" dirty="0"/>
          </a:p>
        </p:txBody>
      </p:sp>
      <p:sp>
        <p:nvSpPr>
          <p:cNvPr id="4" name="Text 2"/>
          <p:cNvSpPr/>
          <p:nvPr/>
        </p:nvSpPr>
        <p:spPr>
          <a:xfrm>
            <a:off x="793790" y="1631513"/>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EDEDE8"/>
                </a:solidFill>
                <a:latin typeface="Tomorrow Semi Bold" pitchFamily="34" charset="0"/>
                <a:ea typeface="Tomorrow Semi Bold" pitchFamily="34" charset="-122"/>
                <a:cs typeface="Tomorrow Semi Bold" pitchFamily="34" charset="-120"/>
              </a:rPr>
              <a:t>Cryptography</a:t>
            </a:r>
            <a:endParaRPr lang="en-US" sz="3900" dirty="0"/>
          </a:p>
        </p:txBody>
      </p:sp>
      <p:sp>
        <p:nvSpPr>
          <p:cNvPr id="5" name="Text 3"/>
          <p:cNvSpPr/>
          <p:nvPr/>
        </p:nvSpPr>
        <p:spPr>
          <a:xfrm>
            <a:off x="793790" y="2549247"/>
            <a:ext cx="13042821" cy="635079"/>
          </a:xfrm>
          <a:prstGeom prst="rect">
            <a:avLst/>
          </a:prstGeom>
          <a:noFill/>
          <a:ln/>
        </p:spPr>
        <p:txBody>
          <a:bodyPr wrap="square" lIns="0" tIns="0" rIns="0" bIns="0" rtlCol="0" anchor="t"/>
          <a:lstStyle/>
          <a:p>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What it is:</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Encoding, decoding, encrypting, decrypting — from classical ciphers to modern crypto.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CyberChef</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is your best friend here. For harder challenges, understanding how ciphers actually work — not just what tool to use — is the difference between Easy and Hard.</a:t>
            </a:r>
            <a:endParaRPr lang="en-US" sz="1550" dirty="0"/>
          </a:p>
        </p:txBody>
      </p:sp>
      <p:sp>
        <p:nvSpPr>
          <p:cNvPr id="6" name="Shape 4"/>
          <p:cNvSpPr/>
          <p:nvPr/>
        </p:nvSpPr>
        <p:spPr>
          <a:xfrm>
            <a:off x="793790" y="3407569"/>
            <a:ext cx="4215289" cy="3102054"/>
          </a:xfrm>
          <a:prstGeom prst="roundRect">
            <a:avLst>
              <a:gd name="adj" fmla="val 3537"/>
            </a:avLst>
          </a:prstGeom>
          <a:solidFill>
            <a:srgbClr val="1D1D1B"/>
          </a:solidFill>
          <a:ln w="22860">
            <a:solidFill>
              <a:srgbClr val="555553"/>
            </a:solidFill>
            <a:prstDash val="solid"/>
          </a:ln>
        </p:spPr>
      </p:sp>
      <p:sp>
        <p:nvSpPr>
          <p:cNvPr id="7" name="Shape 5"/>
          <p:cNvSpPr/>
          <p:nvPr/>
        </p:nvSpPr>
        <p:spPr>
          <a:xfrm>
            <a:off x="770930" y="3407569"/>
            <a:ext cx="91440" cy="3102054"/>
          </a:xfrm>
          <a:prstGeom prst="roundRect">
            <a:avLst>
              <a:gd name="adj" fmla="val 32558"/>
            </a:avLst>
          </a:prstGeom>
          <a:solidFill>
            <a:srgbClr val="E1E1DF"/>
          </a:solidFill>
          <a:ln/>
        </p:spPr>
      </p:sp>
      <p:sp>
        <p:nvSpPr>
          <p:cNvPr id="8" name="Text 6"/>
          <p:cNvSpPr/>
          <p:nvPr/>
        </p:nvSpPr>
        <p:spPr>
          <a:xfrm>
            <a:off x="1083588" y="3628787"/>
            <a:ext cx="2799755" cy="310158"/>
          </a:xfrm>
          <a:prstGeom prst="rect">
            <a:avLst/>
          </a:prstGeom>
          <a:noFill/>
          <a:ln/>
        </p:spPr>
        <p:txBody>
          <a:bodyPr wrap="none" lIns="0" tIns="0" rIns="0" bIns="0" rtlCol="0" anchor="t"/>
          <a:lstStyle/>
          <a:p>
            <a:pPr algn="l" indent="0" marL="0">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Steganography (Easy)</a:t>
            </a:r>
            <a:endParaRPr lang="en-US" sz="1950" dirty="0"/>
          </a:p>
        </p:txBody>
      </p:sp>
      <p:sp>
        <p:nvSpPr>
          <p:cNvPr id="9" name="Text 7"/>
          <p:cNvSpPr/>
          <p:nvPr/>
        </p:nvSpPr>
        <p:spPr>
          <a:xfrm>
            <a:off x="1083588" y="4058007"/>
            <a:ext cx="3704273" cy="2222778"/>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Not image stego — </a:t>
            </a:r>
            <a:pPr algn="l" indent="0" marL="0">
              <a:lnSpc>
                <a:spcPts val="2500"/>
              </a:lnSpc>
              <a:buNone/>
            </a:pPr>
            <a:r>
              <a:rPr lang="en-US" sz="1550" i="1" dirty="0">
                <a:solidFill>
                  <a:srgbClr val="C9C9C0"/>
                </a:solidFill>
                <a:latin typeface="Tomorrow" pitchFamily="34" charset="0"/>
                <a:ea typeface="Tomorrow" pitchFamily="34" charset="-122"/>
                <a:cs typeface="Tomorrow" pitchFamily="34" charset="-120"/>
              </a:rPr>
              <a:t>text</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steganography. One challenge used the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Whitespace programming language</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(spaces, tabs, and newlines). Another used the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Bacon cipher</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(uppercase/lowercase patterns). "Steganography" in the NCL doesn't always mean images.</a:t>
            </a:r>
            <a:endParaRPr lang="en-US" sz="1550" dirty="0"/>
          </a:p>
        </p:txBody>
      </p:sp>
      <p:sp>
        <p:nvSpPr>
          <p:cNvPr id="10" name="Shape 8"/>
          <p:cNvSpPr/>
          <p:nvPr/>
        </p:nvSpPr>
        <p:spPr>
          <a:xfrm>
            <a:off x="5207437" y="3407569"/>
            <a:ext cx="4215408" cy="3102054"/>
          </a:xfrm>
          <a:prstGeom prst="roundRect">
            <a:avLst>
              <a:gd name="adj" fmla="val 3537"/>
            </a:avLst>
          </a:prstGeom>
          <a:solidFill>
            <a:srgbClr val="1D1D1B"/>
          </a:solidFill>
          <a:ln w="22860">
            <a:solidFill>
              <a:srgbClr val="555553"/>
            </a:solidFill>
            <a:prstDash val="solid"/>
          </a:ln>
        </p:spPr>
      </p:sp>
      <p:sp>
        <p:nvSpPr>
          <p:cNvPr id="11" name="Shape 9"/>
          <p:cNvSpPr/>
          <p:nvPr/>
        </p:nvSpPr>
        <p:spPr>
          <a:xfrm>
            <a:off x="5184577" y="3407569"/>
            <a:ext cx="91440" cy="3102054"/>
          </a:xfrm>
          <a:prstGeom prst="roundRect">
            <a:avLst>
              <a:gd name="adj" fmla="val 32558"/>
            </a:avLst>
          </a:prstGeom>
          <a:solidFill>
            <a:srgbClr val="E1E1DF"/>
          </a:solidFill>
          <a:ln/>
        </p:spPr>
      </p:sp>
      <p:sp>
        <p:nvSpPr>
          <p:cNvPr id="12" name="Text 10"/>
          <p:cNvSpPr/>
          <p:nvPr/>
        </p:nvSpPr>
        <p:spPr>
          <a:xfrm>
            <a:off x="5497235" y="3628787"/>
            <a:ext cx="2525554" cy="310158"/>
          </a:xfrm>
          <a:prstGeom prst="rect">
            <a:avLst/>
          </a:prstGeom>
          <a:noFill/>
          <a:ln/>
        </p:spPr>
        <p:txBody>
          <a:bodyPr wrap="none" lIns="0" tIns="0" rIns="0" bIns="0" rtlCol="0" anchor="t"/>
          <a:lstStyle/>
          <a:p>
            <a:pPr algn="l" indent="0" marL="0">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Quagmire (Medium)</a:t>
            </a:r>
            <a:endParaRPr lang="en-US" sz="1950" dirty="0"/>
          </a:p>
        </p:txBody>
      </p:sp>
      <p:sp>
        <p:nvSpPr>
          <p:cNvPr id="13" name="Text 11"/>
          <p:cNvSpPr/>
          <p:nvPr/>
        </p:nvSpPr>
        <p:spPr>
          <a:xfrm>
            <a:off x="5497235" y="4058007"/>
            <a:ext cx="3704392" cy="1905238"/>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A polyalphabetic cipher. Given matched plaintext and ciphertext, we recovered the indicator key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SPHINX</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and keyword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FAMOUS</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Required understanding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Quagmire-I cipher</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mechanics and careful cryptanalysis.</a:t>
            </a:r>
            <a:endParaRPr lang="en-US" sz="1550" dirty="0"/>
          </a:p>
        </p:txBody>
      </p:sp>
      <p:sp>
        <p:nvSpPr>
          <p:cNvPr id="14" name="Shape 12"/>
          <p:cNvSpPr/>
          <p:nvPr/>
        </p:nvSpPr>
        <p:spPr>
          <a:xfrm>
            <a:off x="9621203" y="3407569"/>
            <a:ext cx="4215289" cy="3102054"/>
          </a:xfrm>
          <a:prstGeom prst="roundRect">
            <a:avLst>
              <a:gd name="adj" fmla="val 3537"/>
            </a:avLst>
          </a:prstGeom>
          <a:solidFill>
            <a:srgbClr val="1D1D1B"/>
          </a:solidFill>
          <a:ln w="22860">
            <a:solidFill>
              <a:srgbClr val="555553"/>
            </a:solidFill>
            <a:prstDash val="solid"/>
          </a:ln>
        </p:spPr>
      </p:sp>
      <p:sp>
        <p:nvSpPr>
          <p:cNvPr id="15" name="Shape 13"/>
          <p:cNvSpPr/>
          <p:nvPr/>
        </p:nvSpPr>
        <p:spPr>
          <a:xfrm>
            <a:off x="9598343" y="3407569"/>
            <a:ext cx="91440" cy="3102054"/>
          </a:xfrm>
          <a:prstGeom prst="roundRect">
            <a:avLst>
              <a:gd name="adj" fmla="val 32558"/>
            </a:avLst>
          </a:prstGeom>
          <a:solidFill>
            <a:srgbClr val="E1E1DF"/>
          </a:solidFill>
          <a:ln/>
        </p:spPr>
      </p:sp>
      <p:sp>
        <p:nvSpPr>
          <p:cNvPr id="16" name="Text 14"/>
          <p:cNvSpPr/>
          <p:nvPr/>
        </p:nvSpPr>
        <p:spPr>
          <a:xfrm>
            <a:off x="9911001" y="3628787"/>
            <a:ext cx="3108841" cy="310158"/>
          </a:xfrm>
          <a:prstGeom prst="rect">
            <a:avLst/>
          </a:prstGeom>
          <a:noFill/>
          <a:ln/>
        </p:spPr>
        <p:txBody>
          <a:bodyPr wrap="none" lIns="0" tIns="0" rIns="0" bIns="0" rtlCol="0" anchor="t"/>
          <a:lstStyle/>
          <a:p>
            <a:pPr algn="l" indent="0" marL="0">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Crypto Twister (Medium)</a:t>
            </a:r>
            <a:endParaRPr lang="en-US" sz="1950" dirty="0"/>
          </a:p>
        </p:txBody>
      </p:sp>
      <p:sp>
        <p:nvSpPr>
          <p:cNvPr id="17" name="Text 15"/>
          <p:cNvSpPr/>
          <p:nvPr/>
        </p:nvSpPr>
        <p:spPr>
          <a:xfrm>
            <a:off x="9911001" y="4058007"/>
            <a:ext cx="3704273" cy="2230398"/>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Exploit the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Mersenne Twister</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RNG. MT19937 has an internal state of 624 values — observe 624 outputs and you can predict every future output. We wrote a Python script that cloned the server's RNG and won 100 rounds straight. Flag: </a:t>
            </a:r>
            <a:pPr algn="l" indent="0" marL="0">
              <a:lnSpc>
                <a:spcPts val="2500"/>
              </a:lnSpc>
              <a:buNone/>
            </a:pPr>
            <a:r>
              <a:rPr lang="en-US" sz="1550" dirty="0">
                <a:solidFill>
                  <a:srgbClr val="C9C9C0"/>
                </a:solidFill>
                <a:highlight>
                  <a:srgbClr val="2A2A28"/>
                </a:highlight>
                <a:latin typeface="Consolas" pitchFamily="34" charset="0"/>
                <a:ea typeface="Consolas" pitchFamily="34" charset="-122"/>
                <a:cs typeface="Consolas" pitchFamily="34" charset="-120"/>
              </a:rPr>
              <a:t>SKY-TWIS-4342</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a:t>
            </a:r>
            <a:endParaRPr lang="en-US" sz="1550" dirty="0"/>
          </a:p>
        </p:txBody>
      </p:sp>
      <p:sp>
        <p:nvSpPr>
          <p:cNvPr id="18" name="Text 16"/>
          <p:cNvSpPr/>
          <p:nvPr/>
        </p:nvSpPr>
        <p:spPr>
          <a:xfrm>
            <a:off x="793790" y="6732865"/>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Key tools:</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CyberChef (the MVP for encoding/decoding), dCode, custom Python scripts, pycryptodome</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93790" y="725567"/>
            <a:ext cx="1812131" cy="348377"/>
          </a:xfrm>
          <a:prstGeom prst="roundRect">
            <a:avLst>
              <a:gd name="adj" fmla="val 6495"/>
            </a:avLst>
          </a:prstGeom>
          <a:solidFill>
            <a:srgbClr val="272725"/>
          </a:solidFill>
          <a:ln/>
        </p:spPr>
      </p:sp>
      <p:sp>
        <p:nvSpPr>
          <p:cNvPr id="3" name="Text 1"/>
          <p:cNvSpPr/>
          <p:nvPr/>
        </p:nvSpPr>
        <p:spPr>
          <a:xfrm>
            <a:off x="906899" y="782122"/>
            <a:ext cx="1585913" cy="235268"/>
          </a:xfrm>
          <a:prstGeom prst="rect">
            <a:avLst/>
          </a:prstGeom>
          <a:noFill/>
          <a:ln/>
        </p:spPr>
        <p:txBody>
          <a:bodyPr wrap="none" lIns="0" tIns="0" rIns="0" bIns="0" rtlCol="0" anchor="t"/>
          <a:lstStyle/>
          <a:p>
            <a:pPr algn="l" indent="0" marL="0">
              <a:lnSpc>
                <a:spcPts val="1850"/>
              </a:lnSpc>
              <a:buNone/>
            </a:pPr>
            <a:r>
              <a:rPr lang="en-US" sz="1150" dirty="0">
                <a:solidFill>
                  <a:srgbClr val="C9C9C0"/>
                </a:solidFill>
                <a:latin typeface="Tomorrow" pitchFamily="34" charset="0"/>
                <a:ea typeface="Tomorrow" pitchFamily="34" charset="-122"/>
                <a:cs typeface="Tomorrow" pitchFamily="34" charset="-120"/>
              </a:rPr>
              <a:t>CATEGORY DEEP DIVE</a:t>
            </a:r>
            <a:endParaRPr lang="en-US" sz="1150" dirty="0"/>
          </a:p>
        </p:txBody>
      </p:sp>
      <p:sp>
        <p:nvSpPr>
          <p:cNvPr id="4" name="Text 2"/>
          <p:cNvSpPr/>
          <p:nvPr/>
        </p:nvSpPr>
        <p:spPr>
          <a:xfrm>
            <a:off x="793790" y="1145500"/>
            <a:ext cx="4713684" cy="589121"/>
          </a:xfrm>
          <a:prstGeom prst="rect">
            <a:avLst/>
          </a:prstGeom>
          <a:noFill/>
          <a:ln/>
        </p:spPr>
        <p:txBody>
          <a:bodyPr wrap="none" lIns="0" tIns="0" rIns="0" bIns="0" rtlCol="0" anchor="t"/>
          <a:lstStyle/>
          <a:p>
            <a:pPr algn="l" indent="0" marL="0">
              <a:lnSpc>
                <a:spcPts val="4600"/>
              </a:lnSpc>
              <a:buNone/>
            </a:pPr>
            <a:r>
              <a:rPr lang="en-US" sz="3700" dirty="0">
                <a:solidFill>
                  <a:srgbClr val="EDEDE8"/>
                </a:solidFill>
                <a:latin typeface="Tomorrow Semi Bold" pitchFamily="34" charset="0"/>
                <a:ea typeface="Tomorrow Semi Bold" pitchFamily="34" charset="-122"/>
                <a:cs typeface="Tomorrow Semi Bold" pitchFamily="34" charset="-120"/>
              </a:rPr>
              <a:t>Password Cracking</a:t>
            </a:r>
            <a:endParaRPr lang="en-US" sz="3700" dirty="0"/>
          </a:p>
        </p:txBody>
      </p:sp>
      <p:sp>
        <p:nvSpPr>
          <p:cNvPr id="5" name="Text 3"/>
          <p:cNvSpPr/>
          <p:nvPr/>
        </p:nvSpPr>
        <p:spPr>
          <a:xfrm>
            <a:off x="793790" y="2003227"/>
            <a:ext cx="13042821" cy="596027"/>
          </a:xfrm>
          <a:prstGeom prst="rect">
            <a:avLst/>
          </a:prstGeom>
          <a:noFill/>
          <a:ln/>
        </p:spPr>
        <p:txBody>
          <a:bodyPr wrap="square" lIns="0" tIns="0" rIns="0" bIns="0" rtlCol="0" anchor="t"/>
          <a:lstStyle/>
          <a:p>
            <a:pPr algn="l" indent="0" marL="0">
              <a:lnSpc>
                <a:spcPts val="2300"/>
              </a:lnSpc>
              <a:buNone/>
            </a:pPr>
            <a:r>
              <a:rPr lang="en-US" sz="1450" b="1" dirty="0">
                <a:solidFill>
                  <a:srgbClr val="C9C9C0"/>
                </a:solidFill>
                <a:latin typeface="Tomorrow" pitchFamily="34" charset="0"/>
                <a:ea typeface="Tomorrow" pitchFamily="34" charset="-122"/>
                <a:cs typeface="Tomorrow" pitchFamily="34" charset="-120"/>
              </a:rPr>
              <a:t>What it is:</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Given hashed passwords, crack them to recover the original plaintext. Install hashcat before the competition. Know the common hash modes (</a:t>
            </a:r>
            <a:pPr algn="l" indent="0" marL="0">
              <a:lnSpc>
                <a:spcPts val="2300"/>
              </a:lnSpc>
              <a:buNone/>
            </a:pPr>
            <a:r>
              <a:rPr lang="en-US" sz="1450" dirty="0">
                <a:solidFill>
                  <a:srgbClr val="C9C9C0"/>
                </a:solidFill>
                <a:highlight>
                  <a:srgbClr val="2A2A28"/>
                </a:highlight>
                <a:latin typeface="Consolas" pitchFamily="34" charset="0"/>
                <a:ea typeface="Consolas" pitchFamily="34" charset="-122"/>
                <a:cs typeface="Consolas" pitchFamily="34" charset="-120"/>
              </a:rPr>
              <a:t>-m 0</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for MD5, </a:t>
            </a:r>
            <a:pPr algn="l" indent="0" marL="0">
              <a:lnSpc>
                <a:spcPts val="2300"/>
              </a:lnSpc>
              <a:buNone/>
            </a:pPr>
            <a:r>
              <a:rPr lang="en-US" sz="1450" dirty="0">
                <a:solidFill>
                  <a:srgbClr val="C9C9C0"/>
                </a:solidFill>
                <a:highlight>
                  <a:srgbClr val="2A2A28"/>
                </a:highlight>
                <a:latin typeface="Consolas" pitchFamily="34" charset="0"/>
                <a:ea typeface="Consolas" pitchFamily="34" charset="-122"/>
                <a:cs typeface="Consolas" pitchFamily="34" charset="-120"/>
              </a:rPr>
              <a:t>-m 1000</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for NTLM, </a:t>
            </a:r>
            <a:pPr algn="l" indent="0" marL="0">
              <a:lnSpc>
                <a:spcPts val="2300"/>
              </a:lnSpc>
              <a:buNone/>
            </a:pPr>
            <a:r>
              <a:rPr lang="en-US" sz="1450" dirty="0">
                <a:solidFill>
                  <a:srgbClr val="C9C9C0"/>
                </a:solidFill>
                <a:highlight>
                  <a:srgbClr val="2A2A28"/>
                </a:highlight>
                <a:latin typeface="Consolas" pitchFamily="34" charset="0"/>
                <a:ea typeface="Consolas" pitchFamily="34" charset="-122"/>
                <a:cs typeface="Consolas" pitchFamily="34" charset="-120"/>
              </a:rPr>
              <a:t>-m 5600</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for NTLMv2). If you've got a GPU, use it.</a:t>
            </a:r>
            <a:endParaRPr lang="en-US" sz="1450" dirty="0"/>
          </a:p>
        </p:txBody>
      </p:sp>
      <p:sp>
        <p:nvSpPr>
          <p:cNvPr id="6" name="Text 4"/>
          <p:cNvSpPr/>
          <p:nvPr/>
        </p:nvSpPr>
        <p:spPr>
          <a:xfrm>
            <a:off x="793790" y="2800707"/>
            <a:ext cx="188476" cy="235625"/>
          </a:xfrm>
          <a:prstGeom prst="rect">
            <a:avLst/>
          </a:prstGeom>
          <a:noFill/>
          <a:ln/>
        </p:spPr>
        <p:txBody>
          <a:bodyPr wrap="none" lIns="0" tIns="0" rIns="0" bIns="0" rtlCol="0" anchor="t"/>
          <a:lstStyle/>
          <a:p>
            <a:pPr algn="l" indent="0" marL="0">
              <a:lnSpc>
                <a:spcPts val="2300"/>
              </a:lnSpc>
              <a:buNone/>
            </a:pPr>
            <a:r>
              <a:rPr lang="en-US" sz="1450" dirty="0">
                <a:solidFill>
                  <a:srgbClr val="C9C9C0"/>
                </a:solidFill>
                <a:latin typeface="Tomorrow Light" pitchFamily="34" charset="0"/>
                <a:ea typeface="Tomorrow Light" pitchFamily="34" charset="-122"/>
                <a:cs typeface="Tomorrow Light" pitchFamily="34" charset="-120"/>
              </a:rPr>
              <a:t>01</a:t>
            </a:r>
            <a:endParaRPr lang="en-US" sz="1450" dirty="0"/>
          </a:p>
        </p:txBody>
      </p:sp>
      <p:sp>
        <p:nvSpPr>
          <p:cNvPr id="7" name="Shape 5"/>
          <p:cNvSpPr/>
          <p:nvPr/>
        </p:nvSpPr>
        <p:spPr>
          <a:xfrm>
            <a:off x="793790" y="3098125"/>
            <a:ext cx="4228148" cy="22860"/>
          </a:xfrm>
          <a:prstGeom prst="rect">
            <a:avLst/>
          </a:prstGeom>
          <a:solidFill>
            <a:srgbClr val="E1E1DF"/>
          </a:solidFill>
          <a:ln/>
        </p:spPr>
      </p:sp>
      <p:sp>
        <p:nvSpPr>
          <p:cNvPr id="8" name="Text 6"/>
          <p:cNvSpPr/>
          <p:nvPr/>
        </p:nvSpPr>
        <p:spPr>
          <a:xfrm>
            <a:off x="793790" y="3238024"/>
            <a:ext cx="2356842" cy="294680"/>
          </a:xfrm>
          <a:prstGeom prst="rect">
            <a:avLst/>
          </a:prstGeom>
          <a:noFill/>
          <a:ln/>
        </p:spPr>
        <p:txBody>
          <a:bodyPr wrap="none" lIns="0" tIns="0" rIns="0" bIns="0" rtlCol="0" anchor="t"/>
          <a:lstStyle/>
          <a:p>
            <a:pPr algn="l" indent="0" marL="0">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Hash it Out (Easy)</a:t>
            </a:r>
            <a:endParaRPr lang="en-US" sz="1850" dirty="0"/>
          </a:p>
        </p:txBody>
      </p:sp>
      <p:sp>
        <p:nvSpPr>
          <p:cNvPr id="9" name="Text 7"/>
          <p:cNvSpPr/>
          <p:nvPr/>
        </p:nvSpPr>
        <p:spPr>
          <a:xfrm>
            <a:off x="793790" y="3640098"/>
            <a:ext cx="4228148" cy="882610"/>
          </a:xfrm>
          <a:prstGeom prst="rect">
            <a:avLst/>
          </a:prstGeom>
          <a:noFill/>
          <a:ln/>
        </p:spPr>
        <p:txBody>
          <a:bodyPr wrap="square" lIns="0" tIns="0" rIns="0" bIns="0" rtlCol="0" anchor="t"/>
          <a:lstStyle/>
          <a:p>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The reverse — generate hashes from plaintext. Know your types: MD5 (32 chars), SHA-1 (40 chars), SHA-256 (64 chars), NTLM (32 chars).</a:t>
            </a:r>
            <a:endParaRPr lang="en-US" sz="1450" dirty="0"/>
          </a:p>
        </p:txBody>
      </p:sp>
      <p:sp>
        <p:nvSpPr>
          <p:cNvPr id="10" name="Text 8"/>
          <p:cNvSpPr/>
          <p:nvPr/>
        </p:nvSpPr>
        <p:spPr>
          <a:xfrm>
            <a:off x="5201007" y="2800707"/>
            <a:ext cx="188476" cy="235625"/>
          </a:xfrm>
          <a:prstGeom prst="rect">
            <a:avLst/>
          </a:prstGeom>
          <a:noFill/>
          <a:ln/>
        </p:spPr>
        <p:txBody>
          <a:bodyPr wrap="none" lIns="0" tIns="0" rIns="0" bIns="0" rtlCol="0" anchor="t"/>
          <a:lstStyle/>
          <a:p>
            <a:pPr algn="l" indent="0" marL="0">
              <a:lnSpc>
                <a:spcPts val="2300"/>
              </a:lnSpc>
              <a:buNone/>
            </a:pPr>
            <a:r>
              <a:rPr lang="en-US" sz="1450" dirty="0">
                <a:solidFill>
                  <a:srgbClr val="C9C9C0"/>
                </a:solidFill>
                <a:latin typeface="Tomorrow Light" pitchFamily="34" charset="0"/>
                <a:ea typeface="Tomorrow Light" pitchFamily="34" charset="-122"/>
                <a:cs typeface="Tomorrow Light" pitchFamily="34" charset="-120"/>
              </a:rPr>
              <a:t>02</a:t>
            </a:r>
            <a:endParaRPr lang="en-US" sz="1450" dirty="0"/>
          </a:p>
        </p:txBody>
      </p:sp>
      <p:sp>
        <p:nvSpPr>
          <p:cNvPr id="11" name="Shape 9"/>
          <p:cNvSpPr/>
          <p:nvPr/>
        </p:nvSpPr>
        <p:spPr>
          <a:xfrm>
            <a:off x="5201007" y="3098125"/>
            <a:ext cx="4228267" cy="22860"/>
          </a:xfrm>
          <a:prstGeom prst="rect">
            <a:avLst/>
          </a:prstGeom>
          <a:solidFill>
            <a:srgbClr val="E1E1DF"/>
          </a:solidFill>
          <a:ln/>
        </p:spPr>
      </p:sp>
      <p:sp>
        <p:nvSpPr>
          <p:cNvPr id="12" name="Text 10"/>
          <p:cNvSpPr/>
          <p:nvPr/>
        </p:nvSpPr>
        <p:spPr>
          <a:xfrm>
            <a:off x="5201007" y="3238024"/>
            <a:ext cx="2356842" cy="294680"/>
          </a:xfrm>
          <a:prstGeom prst="rect">
            <a:avLst/>
          </a:prstGeom>
          <a:noFill/>
          <a:ln/>
        </p:spPr>
        <p:txBody>
          <a:bodyPr wrap="none" lIns="0" tIns="0" rIns="0" bIns="0" rtlCol="0" anchor="t"/>
          <a:lstStyle/>
          <a:p>
            <a:pPr algn="l" indent="0" marL="0">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Zeitgeist (Easy)</a:t>
            </a:r>
            <a:endParaRPr lang="en-US" sz="1850" dirty="0"/>
          </a:p>
        </p:txBody>
      </p:sp>
      <p:sp>
        <p:nvSpPr>
          <p:cNvPr id="13" name="Text 11"/>
          <p:cNvSpPr/>
          <p:nvPr/>
        </p:nvSpPr>
        <p:spPr>
          <a:xfrm>
            <a:off x="5201007" y="3640098"/>
            <a:ext cx="4228267" cy="1176814"/>
          </a:xfrm>
          <a:prstGeom prst="rect">
            <a:avLst/>
          </a:prstGeom>
          <a:noFill/>
          <a:ln/>
        </p:spPr>
        <p:txBody>
          <a:bodyPr wrap="square" lIns="0" tIns="0" rIns="0" bIns="0" rtlCol="0" anchor="t"/>
          <a:lstStyle/>
          <a:p>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Five MD5 hashes, straight dictionary attack with </a:t>
            </a:r>
            <a:pPr algn="l" indent="0" marL="0">
              <a:lnSpc>
                <a:spcPts val="2300"/>
              </a:lnSpc>
              <a:buNone/>
            </a:pPr>
            <a:r>
              <a:rPr lang="en-US" sz="1450" b="1" dirty="0">
                <a:solidFill>
                  <a:srgbClr val="C9C9C0"/>
                </a:solidFill>
                <a:latin typeface="Tomorrow" pitchFamily="34" charset="0"/>
                <a:ea typeface="Tomorrow" pitchFamily="34" charset="-122"/>
                <a:cs typeface="Tomorrow" pitchFamily="34" charset="-120"/>
              </a:rPr>
              <a:t>rockyou.txt</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Results: nickjonas, snowwhite, queenbee, panasonic, starfire. Simple — but tools must be set up beforehand.</a:t>
            </a:r>
            <a:endParaRPr lang="en-US" sz="1450" dirty="0"/>
          </a:p>
        </p:txBody>
      </p:sp>
      <p:sp>
        <p:nvSpPr>
          <p:cNvPr id="14" name="Text 12"/>
          <p:cNvSpPr/>
          <p:nvPr/>
        </p:nvSpPr>
        <p:spPr>
          <a:xfrm>
            <a:off x="9608344" y="2800707"/>
            <a:ext cx="188476" cy="235625"/>
          </a:xfrm>
          <a:prstGeom prst="rect">
            <a:avLst/>
          </a:prstGeom>
          <a:noFill/>
          <a:ln/>
        </p:spPr>
        <p:txBody>
          <a:bodyPr wrap="none" lIns="0" tIns="0" rIns="0" bIns="0" rtlCol="0" anchor="t"/>
          <a:lstStyle/>
          <a:p>
            <a:pPr algn="l" indent="0" marL="0">
              <a:lnSpc>
                <a:spcPts val="2300"/>
              </a:lnSpc>
              <a:buNone/>
            </a:pPr>
            <a:r>
              <a:rPr lang="en-US" sz="1450" dirty="0">
                <a:solidFill>
                  <a:srgbClr val="C9C9C0"/>
                </a:solidFill>
                <a:latin typeface="Tomorrow Light" pitchFamily="34" charset="0"/>
                <a:ea typeface="Tomorrow Light" pitchFamily="34" charset="-122"/>
                <a:cs typeface="Tomorrow Light" pitchFamily="34" charset="-120"/>
              </a:rPr>
              <a:t>03</a:t>
            </a:r>
            <a:endParaRPr lang="en-US" sz="1450" dirty="0"/>
          </a:p>
        </p:txBody>
      </p:sp>
      <p:sp>
        <p:nvSpPr>
          <p:cNvPr id="15" name="Shape 13"/>
          <p:cNvSpPr/>
          <p:nvPr/>
        </p:nvSpPr>
        <p:spPr>
          <a:xfrm>
            <a:off x="9608344" y="3098125"/>
            <a:ext cx="4228148" cy="22860"/>
          </a:xfrm>
          <a:prstGeom prst="rect">
            <a:avLst/>
          </a:prstGeom>
          <a:solidFill>
            <a:srgbClr val="E1E1DF"/>
          </a:solidFill>
          <a:ln/>
        </p:spPr>
      </p:sp>
      <p:sp>
        <p:nvSpPr>
          <p:cNvPr id="16" name="Text 14"/>
          <p:cNvSpPr/>
          <p:nvPr/>
        </p:nvSpPr>
        <p:spPr>
          <a:xfrm>
            <a:off x="9608344" y="3238024"/>
            <a:ext cx="2356842" cy="294680"/>
          </a:xfrm>
          <a:prstGeom prst="rect">
            <a:avLst/>
          </a:prstGeom>
          <a:noFill/>
          <a:ln/>
        </p:spPr>
        <p:txBody>
          <a:bodyPr wrap="none" lIns="0" tIns="0" rIns="0" bIns="0" rtlCol="0" anchor="t"/>
          <a:lstStyle/>
          <a:p>
            <a:pPr algn="l" indent="0" marL="0">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DBs (Medium)</a:t>
            </a:r>
            <a:endParaRPr lang="en-US" sz="1850" dirty="0"/>
          </a:p>
        </p:txBody>
      </p:sp>
      <p:sp>
        <p:nvSpPr>
          <p:cNvPr id="17" name="Text 15"/>
          <p:cNvSpPr/>
          <p:nvPr/>
        </p:nvSpPr>
        <p:spPr>
          <a:xfrm>
            <a:off x="9608344" y="3640098"/>
            <a:ext cx="4228148" cy="1176814"/>
          </a:xfrm>
          <a:prstGeom prst="rect">
            <a:avLst/>
          </a:prstGeom>
          <a:noFill/>
          <a:ln/>
        </p:spPr>
        <p:txBody>
          <a:bodyPr wrap="square" lIns="0" tIns="0" rIns="0" bIns="0" rtlCol="0" anchor="t"/>
          <a:lstStyle/>
          <a:p>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Multi-step chain: crack </a:t>
            </a:r>
            <a:pPr algn="l" indent="0" marL="0">
              <a:lnSpc>
                <a:spcPts val="2300"/>
              </a:lnSpc>
              <a:buNone/>
            </a:pPr>
            <a:r>
              <a:rPr lang="en-US" sz="1450" b="1" dirty="0">
                <a:solidFill>
                  <a:srgbClr val="C9C9C0"/>
                </a:solidFill>
                <a:latin typeface="Tomorrow" pitchFamily="34" charset="0"/>
                <a:ea typeface="Tomorrow" pitchFamily="34" charset="-122"/>
                <a:cs typeface="Tomorrow" pitchFamily="34" charset="-120"/>
              </a:rPr>
              <a:t>NTLMv2</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 unlock </a:t>
            </a:r>
            <a:pPr algn="l" indent="0" marL="0">
              <a:lnSpc>
                <a:spcPts val="2300"/>
              </a:lnSpc>
              <a:buNone/>
            </a:pPr>
            <a:r>
              <a:rPr lang="en-US" sz="1450" b="1" dirty="0">
                <a:solidFill>
                  <a:srgbClr val="C9C9C0"/>
                </a:solidFill>
                <a:latin typeface="Tomorrow" pitchFamily="34" charset="0"/>
                <a:ea typeface="Tomorrow" pitchFamily="34" charset="-122"/>
                <a:cs typeface="Tomorrow" pitchFamily="34" charset="-120"/>
              </a:rPr>
              <a:t>SQLCipher</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database → crack </a:t>
            </a:r>
            <a:pPr algn="l" indent="0" marL="0">
              <a:lnSpc>
                <a:spcPts val="2300"/>
              </a:lnSpc>
              <a:buNone/>
            </a:pPr>
            <a:r>
              <a:rPr lang="en-US" sz="1450" b="1" dirty="0">
                <a:solidFill>
                  <a:srgbClr val="C9C9C0"/>
                </a:solidFill>
                <a:latin typeface="Tomorrow" pitchFamily="34" charset="0"/>
                <a:ea typeface="Tomorrow" pitchFamily="34" charset="-122"/>
                <a:cs typeface="Tomorrow" pitchFamily="34" charset="-120"/>
              </a:rPr>
              <a:t>BLAKE2b</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hash. Required hashcat rules and hybrid wordlist + mask attacks.</a:t>
            </a:r>
            <a:endParaRPr lang="en-US" sz="1450" dirty="0"/>
          </a:p>
        </p:txBody>
      </p:sp>
      <p:sp>
        <p:nvSpPr>
          <p:cNvPr id="18" name="Text 16"/>
          <p:cNvSpPr/>
          <p:nvPr/>
        </p:nvSpPr>
        <p:spPr>
          <a:xfrm>
            <a:off x="793790" y="5137309"/>
            <a:ext cx="188476" cy="235625"/>
          </a:xfrm>
          <a:prstGeom prst="rect">
            <a:avLst/>
          </a:prstGeom>
          <a:noFill/>
          <a:ln/>
        </p:spPr>
        <p:txBody>
          <a:bodyPr wrap="none" lIns="0" tIns="0" rIns="0" bIns="0" rtlCol="0" anchor="t"/>
          <a:lstStyle/>
          <a:p>
            <a:pPr algn="l" indent="0" marL="0">
              <a:lnSpc>
                <a:spcPts val="2300"/>
              </a:lnSpc>
              <a:buNone/>
            </a:pPr>
            <a:r>
              <a:rPr lang="en-US" sz="1450" dirty="0">
                <a:solidFill>
                  <a:srgbClr val="C9C9C0"/>
                </a:solidFill>
                <a:latin typeface="Tomorrow Light" pitchFamily="34" charset="0"/>
                <a:ea typeface="Tomorrow Light" pitchFamily="34" charset="-122"/>
                <a:cs typeface="Tomorrow Light" pitchFamily="34" charset="-120"/>
              </a:rPr>
              <a:t>04</a:t>
            </a:r>
            <a:endParaRPr lang="en-US" sz="1450" dirty="0"/>
          </a:p>
        </p:txBody>
      </p:sp>
      <p:sp>
        <p:nvSpPr>
          <p:cNvPr id="19" name="Shape 17"/>
          <p:cNvSpPr/>
          <p:nvPr/>
        </p:nvSpPr>
        <p:spPr>
          <a:xfrm>
            <a:off x="793790" y="5434727"/>
            <a:ext cx="6431756" cy="22860"/>
          </a:xfrm>
          <a:prstGeom prst="rect">
            <a:avLst/>
          </a:prstGeom>
          <a:solidFill>
            <a:srgbClr val="E1E1DF"/>
          </a:solidFill>
          <a:ln/>
        </p:spPr>
      </p:sp>
      <p:sp>
        <p:nvSpPr>
          <p:cNvPr id="20" name="Text 18"/>
          <p:cNvSpPr/>
          <p:nvPr/>
        </p:nvSpPr>
        <p:spPr>
          <a:xfrm>
            <a:off x="793790" y="5574625"/>
            <a:ext cx="2356842" cy="294680"/>
          </a:xfrm>
          <a:prstGeom prst="rect">
            <a:avLst/>
          </a:prstGeom>
          <a:noFill/>
          <a:ln/>
        </p:spPr>
        <p:txBody>
          <a:bodyPr wrap="none" lIns="0" tIns="0" rIns="0" bIns="0" rtlCol="0" anchor="t"/>
          <a:lstStyle/>
          <a:p>
            <a:pPr algn="l" indent="0" marL="0">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Règles (Medium)</a:t>
            </a:r>
            <a:endParaRPr lang="en-US" sz="1850" dirty="0"/>
          </a:p>
        </p:txBody>
      </p:sp>
      <p:sp>
        <p:nvSpPr>
          <p:cNvPr id="21" name="Text 19"/>
          <p:cNvSpPr/>
          <p:nvPr/>
        </p:nvSpPr>
        <p:spPr>
          <a:xfrm>
            <a:off x="793790" y="5976699"/>
            <a:ext cx="6431756" cy="882610"/>
          </a:xfrm>
          <a:prstGeom prst="rect">
            <a:avLst/>
          </a:prstGeom>
          <a:noFill/>
          <a:ln/>
        </p:spPr>
        <p:txBody>
          <a:bodyPr wrap="square" lIns="0" tIns="0" rIns="0" bIns="0" rtlCol="0" anchor="t"/>
          <a:lstStyle/>
          <a:p>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French for "Rules" — all about </a:t>
            </a:r>
            <a:pPr algn="l" indent="0" marL="0">
              <a:lnSpc>
                <a:spcPts val="2300"/>
              </a:lnSpc>
              <a:buNone/>
            </a:pPr>
            <a:r>
              <a:rPr lang="en-US" sz="1450" b="1" dirty="0">
                <a:solidFill>
                  <a:srgbClr val="C9C9C0"/>
                </a:solidFill>
                <a:latin typeface="Tomorrow" pitchFamily="34" charset="0"/>
                <a:ea typeface="Tomorrow" pitchFamily="34" charset="-122"/>
                <a:cs typeface="Tomorrow" pitchFamily="34" charset="-120"/>
              </a:rPr>
              <a:t>hashcat rule syntax</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Write custom rule files for lowercase, leet speak, rotation, duplication, and appending special characters.</a:t>
            </a:r>
            <a:endParaRPr lang="en-US" sz="1450" dirty="0"/>
          </a:p>
        </p:txBody>
      </p:sp>
      <p:sp>
        <p:nvSpPr>
          <p:cNvPr id="22" name="Text 20"/>
          <p:cNvSpPr/>
          <p:nvPr/>
        </p:nvSpPr>
        <p:spPr>
          <a:xfrm>
            <a:off x="7404616" y="5137309"/>
            <a:ext cx="188476" cy="235625"/>
          </a:xfrm>
          <a:prstGeom prst="rect">
            <a:avLst/>
          </a:prstGeom>
          <a:noFill/>
          <a:ln/>
        </p:spPr>
        <p:txBody>
          <a:bodyPr wrap="none" lIns="0" tIns="0" rIns="0" bIns="0" rtlCol="0" anchor="t"/>
          <a:lstStyle/>
          <a:p>
            <a:pPr algn="l" indent="0" marL="0">
              <a:lnSpc>
                <a:spcPts val="2300"/>
              </a:lnSpc>
              <a:buNone/>
            </a:pPr>
            <a:r>
              <a:rPr lang="en-US" sz="1450" dirty="0">
                <a:solidFill>
                  <a:srgbClr val="C9C9C0"/>
                </a:solidFill>
                <a:latin typeface="Tomorrow Light" pitchFamily="34" charset="0"/>
                <a:ea typeface="Tomorrow Light" pitchFamily="34" charset="-122"/>
                <a:cs typeface="Tomorrow Light" pitchFamily="34" charset="-120"/>
              </a:rPr>
              <a:t>05</a:t>
            </a:r>
            <a:endParaRPr lang="en-US" sz="1450" dirty="0"/>
          </a:p>
        </p:txBody>
      </p:sp>
      <p:sp>
        <p:nvSpPr>
          <p:cNvPr id="23" name="Shape 21"/>
          <p:cNvSpPr/>
          <p:nvPr/>
        </p:nvSpPr>
        <p:spPr>
          <a:xfrm>
            <a:off x="7404616" y="5434727"/>
            <a:ext cx="6431875" cy="22860"/>
          </a:xfrm>
          <a:prstGeom prst="rect">
            <a:avLst/>
          </a:prstGeom>
          <a:solidFill>
            <a:srgbClr val="E1E1DF"/>
          </a:solidFill>
          <a:ln/>
        </p:spPr>
      </p:sp>
      <p:sp>
        <p:nvSpPr>
          <p:cNvPr id="24" name="Text 22"/>
          <p:cNvSpPr/>
          <p:nvPr/>
        </p:nvSpPr>
        <p:spPr>
          <a:xfrm>
            <a:off x="7404616" y="5574625"/>
            <a:ext cx="2356842" cy="294680"/>
          </a:xfrm>
          <a:prstGeom prst="rect">
            <a:avLst/>
          </a:prstGeom>
          <a:noFill/>
          <a:ln/>
        </p:spPr>
        <p:txBody>
          <a:bodyPr wrap="none" lIns="0" tIns="0" rIns="0" bIns="0" rtlCol="0" anchor="t"/>
          <a:lstStyle/>
          <a:p>
            <a:pPr algn="l" indent="0" marL="0">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Magic (Hard)</a:t>
            </a:r>
            <a:endParaRPr lang="en-US" sz="1850" dirty="0"/>
          </a:p>
        </p:txBody>
      </p:sp>
      <p:sp>
        <p:nvSpPr>
          <p:cNvPr id="25" name="Text 23"/>
          <p:cNvSpPr/>
          <p:nvPr/>
        </p:nvSpPr>
        <p:spPr>
          <a:xfrm>
            <a:off x="7404616" y="5976699"/>
            <a:ext cx="6431875" cy="890230"/>
          </a:xfrm>
          <a:prstGeom prst="rect">
            <a:avLst/>
          </a:prstGeom>
          <a:noFill/>
          <a:ln/>
        </p:spPr>
        <p:txBody>
          <a:bodyPr wrap="square" lIns="0" tIns="0" rIns="0" bIns="0" rtlCol="0" anchor="t"/>
          <a:lstStyle/>
          <a:p>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Harry Potter-themed passwords. Generate a custom wordlist from franchise terms, then apply transformations. We cracked </a:t>
            </a:r>
            <a:pPr algn="l" indent="0" marL="0">
              <a:lnSpc>
                <a:spcPts val="2300"/>
              </a:lnSpc>
              <a:buNone/>
            </a:pPr>
            <a:r>
              <a:rPr lang="en-US" sz="1450" dirty="0">
                <a:solidFill>
                  <a:srgbClr val="C9C9C0"/>
                </a:solidFill>
                <a:highlight>
                  <a:srgbClr val="2A2A28"/>
                </a:highlight>
                <a:latin typeface="Consolas" pitchFamily="34" charset="0"/>
                <a:ea typeface="Consolas" pitchFamily="34" charset="-122"/>
                <a:cs typeface="Consolas" pitchFamily="34" charset="-120"/>
              </a:rPr>
              <a:t>Deletrius]3</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combining spell names with special characters.</a:t>
            </a:r>
            <a:endParaRPr lang="en-US" sz="1450" dirty="0"/>
          </a:p>
        </p:txBody>
      </p:sp>
      <p:sp>
        <p:nvSpPr>
          <p:cNvPr id="26" name="Text 24"/>
          <p:cNvSpPr/>
          <p:nvPr/>
        </p:nvSpPr>
        <p:spPr>
          <a:xfrm>
            <a:off x="793790" y="7209711"/>
            <a:ext cx="13042821" cy="294203"/>
          </a:xfrm>
          <a:prstGeom prst="rect">
            <a:avLst/>
          </a:prstGeom>
          <a:noFill/>
          <a:ln/>
        </p:spPr>
        <p:txBody>
          <a:bodyPr wrap="none" lIns="0" tIns="0" rIns="0" bIns="0" rtlCol="0" anchor="t"/>
          <a:lstStyle/>
          <a:p>
            <a:pPr algn="l" indent="0" marL="0">
              <a:lnSpc>
                <a:spcPts val="2300"/>
              </a:lnSpc>
              <a:buNone/>
            </a:pPr>
            <a:r>
              <a:rPr lang="en-US" sz="1450" b="1" dirty="0">
                <a:solidFill>
                  <a:srgbClr val="C9C9C0"/>
                </a:solidFill>
                <a:latin typeface="Tomorrow" pitchFamily="34" charset="0"/>
                <a:ea typeface="Tomorrow" pitchFamily="34" charset="-122"/>
                <a:cs typeface="Tomorrow" pitchFamily="34" charset="-120"/>
              </a:rPr>
              <a:t>Key tools:</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hashcat (GPU-accelerated, the gold standard), John the Ripper, CrackStation (online), rockyou.txt wordlist</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93790" y="1199793"/>
            <a:ext cx="1907977" cy="373142"/>
          </a:xfrm>
          <a:prstGeom prst="roundRect">
            <a:avLst>
              <a:gd name="adj" fmla="val 6383"/>
            </a:avLst>
          </a:prstGeom>
          <a:solidFill>
            <a:srgbClr val="272725"/>
          </a:solidFill>
          <a:ln/>
        </p:spPr>
      </p:sp>
      <p:sp>
        <p:nvSpPr>
          <p:cNvPr id="3" name="Text 1"/>
          <p:cNvSpPr/>
          <p:nvPr/>
        </p:nvSpPr>
        <p:spPr>
          <a:xfrm>
            <a:off x="912852" y="1259324"/>
            <a:ext cx="1669852" cy="254079"/>
          </a:xfrm>
          <a:prstGeom prst="rect">
            <a:avLst/>
          </a:prstGeom>
          <a:noFill/>
          <a:ln/>
        </p:spPr>
        <p:txBody>
          <a:bodyPr wrap="none" lIns="0" tIns="0" rIns="0" bIns="0" rtlCol="0" anchor="t"/>
          <a:lstStyle/>
          <a:p>
            <a:pPr algn="l" indent="0" marL="0">
              <a:lnSpc>
                <a:spcPts val="2000"/>
              </a:lnSpc>
              <a:buNone/>
            </a:pPr>
            <a:r>
              <a:rPr lang="en-US" sz="1250" dirty="0">
                <a:solidFill>
                  <a:srgbClr val="C9C9C0"/>
                </a:solidFill>
                <a:latin typeface="Tomorrow" pitchFamily="34" charset="0"/>
                <a:ea typeface="Tomorrow" pitchFamily="34" charset="-122"/>
                <a:cs typeface="Tomorrow" pitchFamily="34" charset="-120"/>
              </a:rPr>
              <a:t>CATEGORY DEEP DIVE</a:t>
            </a:r>
            <a:endParaRPr lang="en-US" sz="1250" dirty="0"/>
          </a:p>
        </p:txBody>
      </p:sp>
      <p:sp>
        <p:nvSpPr>
          <p:cNvPr id="4" name="Text 2"/>
          <p:cNvSpPr/>
          <p:nvPr/>
        </p:nvSpPr>
        <p:spPr>
          <a:xfrm>
            <a:off x="793790" y="1652230"/>
            <a:ext cx="4961811" cy="620078"/>
          </a:xfrm>
          <a:prstGeom prst="rect">
            <a:avLst/>
          </a:prstGeom>
          <a:noFill/>
          <a:ln/>
        </p:spPr>
        <p:txBody>
          <a:bodyPr wrap="none" lIns="0" tIns="0" rIns="0" bIns="0" rtlCol="0" anchor="t"/>
          <a:lstStyle/>
          <a:p>
            <a:pPr algn="l" indent="0" marL="0">
              <a:lnSpc>
                <a:spcPts val="4850"/>
              </a:lnSpc>
              <a:buNone/>
            </a:pPr>
            <a:r>
              <a:rPr lang="en-US" sz="3900" dirty="0">
                <a:solidFill>
                  <a:srgbClr val="EDEDE8"/>
                </a:solidFill>
                <a:latin typeface="Tomorrow Semi Bold" pitchFamily="34" charset="0"/>
                <a:ea typeface="Tomorrow Semi Bold" pitchFamily="34" charset="-122"/>
                <a:cs typeface="Tomorrow Semi Bold" pitchFamily="34" charset="-120"/>
              </a:rPr>
              <a:t>Log Analysis</a:t>
            </a:r>
            <a:endParaRPr lang="en-US" sz="3900" dirty="0"/>
          </a:p>
        </p:txBody>
      </p:sp>
      <p:sp>
        <p:nvSpPr>
          <p:cNvPr id="5" name="Text 3"/>
          <p:cNvSpPr/>
          <p:nvPr/>
        </p:nvSpPr>
        <p:spPr>
          <a:xfrm>
            <a:off x="793790" y="2569964"/>
            <a:ext cx="13042821" cy="635079"/>
          </a:xfrm>
          <a:prstGeom prst="rect">
            <a:avLst/>
          </a:prstGeom>
          <a:noFill/>
          <a:ln/>
        </p:spPr>
        <p:txBody>
          <a:bodyPr wrap="square" lIns="0" tIns="0" rIns="0" bIns="0" rtlCol="0" anchor="t"/>
          <a:lstStyle/>
          <a:p>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What it is:</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Parsing system logs, security events, and application logs to find evidence of attacks. Get comfortable with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jq</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for JSON and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grep</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for everything else. The hard challenges may require writing code to parse custom formats.</a:t>
            </a:r>
            <a:endParaRPr lang="en-US" sz="1550" dirty="0"/>
          </a:p>
        </p:txBody>
      </p:sp>
      <p:sp>
        <p:nvSpPr>
          <p:cNvPr id="6" name="Shape 4"/>
          <p:cNvSpPr/>
          <p:nvPr/>
        </p:nvSpPr>
        <p:spPr>
          <a:xfrm>
            <a:off x="793790" y="3428286"/>
            <a:ext cx="446484" cy="446484"/>
          </a:xfrm>
          <a:prstGeom prst="roundRect">
            <a:avLst>
              <a:gd name="adj" fmla="val 6668"/>
            </a:avLst>
          </a:prstGeom>
          <a:solidFill>
            <a:srgbClr val="3C3C3A"/>
          </a:solidFill>
          <a:ln/>
        </p:spPr>
      </p:sp>
      <p:sp>
        <p:nvSpPr>
          <p:cNvPr id="7" name="Text 5"/>
          <p:cNvSpPr/>
          <p:nvPr/>
        </p:nvSpPr>
        <p:spPr>
          <a:xfrm>
            <a:off x="868204" y="3465493"/>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C9C9C0"/>
                </a:solidFill>
                <a:latin typeface="Tomorrow Semi Bold" pitchFamily="34" charset="0"/>
                <a:ea typeface="Tomorrow Semi Bold" pitchFamily="34" charset="-122"/>
                <a:cs typeface="Tomorrow Semi Bold" pitchFamily="34" charset="-120"/>
              </a:rPr>
              <a:t>1</a:t>
            </a:r>
            <a:endParaRPr lang="en-US" sz="2300" dirty="0"/>
          </a:p>
        </p:txBody>
      </p:sp>
      <p:sp>
        <p:nvSpPr>
          <p:cNvPr id="8" name="Text 6"/>
          <p:cNvSpPr/>
          <p:nvPr/>
        </p:nvSpPr>
        <p:spPr>
          <a:xfrm>
            <a:off x="1438632" y="3496508"/>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LO(L)G — Easy</a:t>
            </a:r>
            <a:endParaRPr lang="en-US" sz="1950" dirty="0"/>
          </a:p>
        </p:txBody>
      </p:sp>
      <p:sp>
        <p:nvSpPr>
          <p:cNvPr id="9" name="Text 7"/>
          <p:cNvSpPr/>
          <p:nvPr/>
        </p:nvSpPr>
        <p:spPr>
          <a:xfrm>
            <a:off x="1438632" y="3925729"/>
            <a:ext cx="3537347" cy="2222778"/>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Analyze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Sysmon XML logs</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to find LOLBINs — "Living Off the Land Binaries." These are legitimate Windows tools (PowerShell, certutil, mshta) abused by attackers. Read the logs, follow the timeline, and identify the threat actor's actions.</a:t>
            </a:r>
            <a:endParaRPr lang="en-US" sz="1550" dirty="0"/>
          </a:p>
        </p:txBody>
      </p:sp>
      <p:sp>
        <p:nvSpPr>
          <p:cNvPr id="10" name="Shape 8"/>
          <p:cNvSpPr/>
          <p:nvPr/>
        </p:nvSpPr>
        <p:spPr>
          <a:xfrm>
            <a:off x="5223986" y="3428286"/>
            <a:ext cx="446484" cy="446484"/>
          </a:xfrm>
          <a:prstGeom prst="roundRect">
            <a:avLst>
              <a:gd name="adj" fmla="val 6668"/>
            </a:avLst>
          </a:prstGeom>
          <a:solidFill>
            <a:srgbClr val="3C3C3A"/>
          </a:solidFill>
          <a:ln/>
        </p:spPr>
      </p:sp>
      <p:sp>
        <p:nvSpPr>
          <p:cNvPr id="11" name="Text 9"/>
          <p:cNvSpPr/>
          <p:nvPr/>
        </p:nvSpPr>
        <p:spPr>
          <a:xfrm>
            <a:off x="5298400" y="3465493"/>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C9C9C0"/>
                </a:solidFill>
                <a:latin typeface="Tomorrow Semi Bold" pitchFamily="34" charset="0"/>
                <a:ea typeface="Tomorrow Semi Bold" pitchFamily="34" charset="-122"/>
                <a:cs typeface="Tomorrow Semi Bold" pitchFamily="34" charset="-120"/>
              </a:rPr>
              <a:t>2</a:t>
            </a:r>
            <a:endParaRPr lang="en-US" sz="2300" dirty="0"/>
          </a:p>
        </p:txBody>
      </p:sp>
      <p:sp>
        <p:nvSpPr>
          <p:cNvPr id="12" name="Text 10"/>
          <p:cNvSpPr/>
          <p:nvPr/>
        </p:nvSpPr>
        <p:spPr>
          <a:xfrm>
            <a:off x="5868829" y="3496508"/>
            <a:ext cx="2889885" cy="310158"/>
          </a:xfrm>
          <a:prstGeom prst="rect">
            <a:avLst/>
          </a:prstGeom>
          <a:noFill/>
          <a:ln/>
        </p:spPr>
        <p:txBody>
          <a:bodyPr wrap="none" lIns="0" tIns="0" rIns="0" bIns="0" rtlCol="0" anchor="t"/>
          <a:lstStyle/>
          <a:p>
            <a:pPr algn="l" indent="0" marL="0">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JSON Query — Medium</a:t>
            </a:r>
            <a:endParaRPr lang="en-US" sz="1950" dirty="0"/>
          </a:p>
        </p:txBody>
      </p:sp>
      <p:sp>
        <p:nvSpPr>
          <p:cNvPr id="13" name="Text 11"/>
          <p:cNvSpPr/>
          <p:nvPr/>
        </p:nvSpPr>
        <p:spPr>
          <a:xfrm>
            <a:off x="5868829" y="3925729"/>
            <a:ext cx="3537466" cy="2563178"/>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Analyze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Suricata IDS/IPS logs</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in eve.json format. We traced a full attack chain: a user downloaded a malicious GIF (</a:t>
            </a:r>
            <a:pPr algn="l" indent="0" marL="0">
              <a:lnSpc>
                <a:spcPts val="2500"/>
              </a:lnSpc>
              <a:buNone/>
            </a:pPr>
            <a:r>
              <a:rPr lang="en-US" sz="1550" dirty="0">
                <a:solidFill>
                  <a:srgbClr val="C9C9C0"/>
                </a:solidFill>
                <a:highlight>
                  <a:srgbClr val="2A2A28"/>
                </a:highlight>
                <a:latin typeface="Consolas" pitchFamily="34" charset="0"/>
                <a:ea typeface="Consolas" pitchFamily="34" charset="-122"/>
                <a:cs typeface="Consolas" pitchFamily="34" charset="-120"/>
              </a:rPr>
              <a:t>/merch.gif</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the malware established a C2 connection to </a:t>
            </a:r>
            <a:pPr algn="l" indent="0" marL="0">
              <a:lnSpc>
                <a:spcPts val="2500"/>
              </a:lnSpc>
              <a:buNone/>
            </a:pPr>
            <a:r>
              <a:rPr lang="en-US" sz="1550" dirty="0">
                <a:solidFill>
                  <a:srgbClr val="C9C9C0"/>
                </a:solidFill>
                <a:highlight>
                  <a:srgbClr val="2A2A28"/>
                </a:highlight>
                <a:latin typeface="Consolas" pitchFamily="34" charset="0"/>
                <a:ea typeface="Consolas" pitchFamily="34" charset="-122"/>
                <a:cs typeface="Consolas" pitchFamily="34" charset="-120"/>
              </a:rPr>
              <a:t>208.246.77.75</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using TLS, and contacted suspicious domain </a:t>
            </a:r>
            <a:pPr algn="l" indent="0" marL="0">
              <a:lnSpc>
                <a:spcPts val="2500"/>
              </a:lnSpc>
              <a:buNone/>
            </a:pPr>
            <a:r>
              <a:rPr lang="en-US" sz="1550" dirty="0">
                <a:solidFill>
                  <a:srgbClr val="C9C9C0"/>
                </a:solidFill>
                <a:highlight>
                  <a:srgbClr val="2A2A28"/>
                </a:highlight>
                <a:latin typeface="Consolas" pitchFamily="34" charset="0"/>
                <a:ea typeface="Consolas" pitchFamily="34" charset="-122"/>
                <a:cs typeface="Consolas" pitchFamily="34" charset="-120"/>
              </a:rPr>
              <a:t>logon.secure.xyz</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a:t>
            </a:r>
            <a:endParaRPr lang="en-US" sz="1550" dirty="0"/>
          </a:p>
        </p:txBody>
      </p:sp>
      <p:sp>
        <p:nvSpPr>
          <p:cNvPr id="14" name="Shape 12"/>
          <p:cNvSpPr/>
          <p:nvPr/>
        </p:nvSpPr>
        <p:spPr>
          <a:xfrm>
            <a:off x="9654302" y="3428286"/>
            <a:ext cx="446484" cy="446484"/>
          </a:xfrm>
          <a:prstGeom prst="roundRect">
            <a:avLst>
              <a:gd name="adj" fmla="val 6668"/>
            </a:avLst>
          </a:prstGeom>
          <a:solidFill>
            <a:srgbClr val="3C3C3A"/>
          </a:solidFill>
          <a:ln/>
        </p:spPr>
      </p:sp>
      <p:sp>
        <p:nvSpPr>
          <p:cNvPr id="15" name="Text 13"/>
          <p:cNvSpPr/>
          <p:nvPr/>
        </p:nvSpPr>
        <p:spPr>
          <a:xfrm>
            <a:off x="9728716" y="3465493"/>
            <a:ext cx="297656" cy="372070"/>
          </a:xfrm>
          <a:prstGeom prst="rect">
            <a:avLst/>
          </a:prstGeom>
          <a:noFill/>
          <a:ln/>
        </p:spPr>
        <p:txBody>
          <a:bodyPr wrap="none" lIns="0" tIns="0" rIns="0" bIns="0" rtlCol="0" anchor="t"/>
          <a:lstStyle/>
          <a:p>
            <a:pPr algn="ctr" indent="0" marL="0">
              <a:lnSpc>
                <a:spcPts val="2300"/>
              </a:lnSpc>
              <a:buNone/>
            </a:pPr>
            <a:r>
              <a:rPr lang="en-US" sz="2300" dirty="0">
                <a:solidFill>
                  <a:srgbClr val="C9C9C0"/>
                </a:solidFill>
                <a:latin typeface="Tomorrow Semi Bold" pitchFamily="34" charset="0"/>
                <a:ea typeface="Tomorrow Semi Bold" pitchFamily="34" charset="-122"/>
                <a:cs typeface="Tomorrow Semi Bold" pitchFamily="34" charset="-120"/>
              </a:rPr>
              <a:t>3</a:t>
            </a:r>
            <a:endParaRPr lang="en-US" sz="2300" dirty="0"/>
          </a:p>
        </p:txBody>
      </p:sp>
      <p:sp>
        <p:nvSpPr>
          <p:cNvPr id="16" name="Text 14"/>
          <p:cNvSpPr/>
          <p:nvPr/>
        </p:nvSpPr>
        <p:spPr>
          <a:xfrm>
            <a:off x="10299144" y="3496508"/>
            <a:ext cx="2988826" cy="310158"/>
          </a:xfrm>
          <a:prstGeom prst="rect">
            <a:avLst/>
          </a:prstGeom>
          <a:noFill/>
          <a:ln/>
        </p:spPr>
        <p:txBody>
          <a:bodyPr wrap="none" lIns="0" tIns="0" rIns="0" bIns="0" rtlCol="0" anchor="t"/>
          <a:lstStyle/>
          <a:p>
            <a:pPr algn="l" indent="0" marL="0">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Chronicles of XP — Hard</a:t>
            </a:r>
            <a:endParaRPr lang="en-US" sz="1950" dirty="0"/>
          </a:p>
        </p:txBody>
      </p:sp>
      <p:sp>
        <p:nvSpPr>
          <p:cNvPr id="17" name="Text 15"/>
          <p:cNvSpPr/>
          <p:nvPr/>
        </p:nvSpPr>
        <p:spPr>
          <a:xfrm>
            <a:off x="10299144" y="3925729"/>
            <a:ext cx="3537466" cy="2555558"/>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A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custom binary log format</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 no standard tools work. Write your own parser from scratch to extract 100 log entries from magic bytes </a:t>
            </a:r>
            <a:pPr algn="l" indent="0" marL="0">
              <a:lnSpc>
                <a:spcPts val="2500"/>
              </a:lnSpc>
              <a:buNone/>
            </a:pPr>
            <a:r>
              <a:rPr lang="en-US" sz="1550" dirty="0">
                <a:solidFill>
                  <a:srgbClr val="C9C9C0"/>
                </a:solidFill>
                <a:highlight>
                  <a:srgbClr val="2A2A28"/>
                </a:highlight>
                <a:latin typeface="Consolas" pitchFamily="34" charset="0"/>
                <a:ea typeface="Consolas" pitchFamily="34" charset="-122"/>
                <a:cs typeface="Consolas" pitchFamily="34" charset="-120"/>
              </a:rPr>
              <a:t>EVT!</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Inside: a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gpcode.exe ransomware</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infection with registry persistence, 20 encrypted files, and a ransom note called </a:t>
            </a:r>
            <a:pPr algn="l" indent="0" marL="0">
              <a:lnSpc>
                <a:spcPts val="2500"/>
              </a:lnSpc>
              <a:buNone/>
            </a:pPr>
            <a:r>
              <a:rPr lang="en-US" sz="1550" dirty="0">
                <a:solidFill>
                  <a:srgbClr val="C9C9C0"/>
                </a:solidFill>
                <a:highlight>
                  <a:srgbClr val="2A2A28"/>
                </a:highlight>
                <a:latin typeface="Consolas" pitchFamily="34" charset="0"/>
                <a:ea typeface="Consolas" pitchFamily="34" charset="-122"/>
                <a:cs typeface="Consolas" pitchFamily="34" charset="-120"/>
              </a:rPr>
              <a:t>!Vnimanie!.txt</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a:t>
            </a:r>
            <a:endParaRPr lang="en-US" sz="1550" dirty="0"/>
          </a:p>
        </p:txBody>
      </p:sp>
      <p:sp>
        <p:nvSpPr>
          <p:cNvPr id="18" name="Text 16"/>
          <p:cNvSpPr/>
          <p:nvPr/>
        </p:nvSpPr>
        <p:spPr>
          <a:xfrm>
            <a:off x="793790" y="6712148"/>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Key tools:</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grep, awk, jq (essential for JSON), Python (pandas, xml.etree), custom parsers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93790" y="737711"/>
            <a:ext cx="1907977" cy="373142"/>
          </a:xfrm>
          <a:prstGeom prst="roundRect">
            <a:avLst>
              <a:gd name="adj" fmla="val 6383"/>
            </a:avLst>
          </a:prstGeom>
          <a:solidFill>
            <a:srgbClr val="272725"/>
          </a:solidFill>
          <a:ln/>
        </p:spPr>
      </p:sp>
      <p:sp>
        <p:nvSpPr>
          <p:cNvPr id="3" name="Text 1"/>
          <p:cNvSpPr/>
          <p:nvPr/>
        </p:nvSpPr>
        <p:spPr>
          <a:xfrm>
            <a:off x="912852" y="797243"/>
            <a:ext cx="1669852" cy="254079"/>
          </a:xfrm>
          <a:prstGeom prst="rect">
            <a:avLst/>
          </a:prstGeom>
          <a:noFill/>
          <a:ln/>
        </p:spPr>
        <p:txBody>
          <a:bodyPr wrap="none" lIns="0" tIns="0" rIns="0" bIns="0" rtlCol="0" anchor="t"/>
          <a:lstStyle/>
          <a:p>
            <a:pPr algn="l" indent="0" marL="0">
              <a:lnSpc>
                <a:spcPts val="2000"/>
              </a:lnSpc>
              <a:buNone/>
            </a:pPr>
            <a:r>
              <a:rPr lang="en-US" sz="1250" dirty="0">
                <a:solidFill>
                  <a:srgbClr val="C9C9C0"/>
                </a:solidFill>
                <a:latin typeface="Tomorrow" pitchFamily="34" charset="0"/>
                <a:ea typeface="Tomorrow" pitchFamily="34" charset="-122"/>
                <a:cs typeface="Tomorrow" pitchFamily="34" charset="-120"/>
              </a:rPr>
              <a:t>CATEGORY DEEP DIVE</a:t>
            </a:r>
            <a:endParaRPr lang="en-US" sz="1250" dirty="0"/>
          </a:p>
        </p:txBody>
      </p:sp>
      <p:sp>
        <p:nvSpPr>
          <p:cNvPr id="4" name="Text 2"/>
          <p:cNvSpPr/>
          <p:nvPr/>
        </p:nvSpPr>
        <p:spPr>
          <a:xfrm>
            <a:off x="793790" y="1190149"/>
            <a:ext cx="6063258" cy="620078"/>
          </a:xfrm>
          <a:prstGeom prst="rect">
            <a:avLst/>
          </a:prstGeom>
          <a:noFill/>
          <a:ln/>
        </p:spPr>
        <p:txBody>
          <a:bodyPr wrap="none" lIns="0" tIns="0" rIns="0" bIns="0" rtlCol="0" anchor="t"/>
          <a:lstStyle/>
          <a:p>
            <a:pPr algn="l" indent="0" marL="0">
              <a:lnSpc>
                <a:spcPts val="4850"/>
              </a:lnSpc>
              <a:buNone/>
            </a:pPr>
            <a:r>
              <a:rPr lang="en-US" sz="3900" dirty="0">
                <a:solidFill>
                  <a:srgbClr val="EDEDE8"/>
                </a:solidFill>
                <a:latin typeface="Tomorrow Semi Bold" pitchFamily="34" charset="0"/>
                <a:ea typeface="Tomorrow Semi Bold" pitchFamily="34" charset="-122"/>
                <a:cs typeface="Tomorrow Semi Bold" pitchFamily="34" charset="-120"/>
              </a:rPr>
              <a:t>Network Traffic Analysis</a:t>
            </a:r>
            <a:endParaRPr lang="en-US" sz="3900" dirty="0"/>
          </a:p>
        </p:txBody>
      </p:sp>
      <p:sp>
        <p:nvSpPr>
          <p:cNvPr id="5" name="Text 3"/>
          <p:cNvSpPr/>
          <p:nvPr/>
        </p:nvSpPr>
        <p:spPr>
          <a:xfrm>
            <a:off x="793790" y="2107883"/>
            <a:ext cx="13042821" cy="635079"/>
          </a:xfrm>
          <a:prstGeom prst="rect">
            <a:avLst/>
          </a:prstGeom>
          <a:noFill/>
          <a:ln/>
        </p:spPr>
        <p:txBody>
          <a:bodyPr wrap="square" lIns="0" tIns="0" rIns="0" bIns="0" rtlCol="0" anchor="t"/>
          <a:lstStyle/>
          <a:p>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What it is:</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Analyzing packet captures (PCAPs) to understand what happened on the network. If you only learn one tool for NCL, make it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Wireshark</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Know how to follow TCP streams, use display filters, and export objects.</a:t>
            </a:r>
            <a:endParaRPr lang="en-US" sz="1550" dirty="0"/>
          </a:p>
        </p:txBody>
      </p:sp>
      <p:sp>
        <p:nvSpPr>
          <p:cNvPr id="6" name="Shape 4"/>
          <p:cNvSpPr/>
          <p:nvPr/>
        </p:nvSpPr>
        <p:spPr>
          <a:xfrm>
            <a:off x="793790" y="3263860"/>
            <a:ext cx="4215289" cy="3687128"/>
          </a:xfrm>
          <a:prstGeom prst="roundRect">
            <a:avLst>
              <a:gd name="adj" fmla="val 2976"/>
            </a:avLst>
          </a:prstGeom>
          <a:solidFill>
            <a:srgbClr val="1D1D1B"/>
          </a:solidFill>
          <a:ln/>
        </p:spPr>
      </p:sp>
      <p:sp>
        <p:nvSpPr>
          <p:cNvPr id="7" name="Shape 5"/>
          <p:cNvSpPr/>
          <p:nvPr/>
        </p:nvSpPr>
        <p:spPr>
          <a:xfrm>
            <a:off x="793790" y="3241000"/>
            <a:ext cx="4215289" cy="91440"/>
          </a:xfrm>
          <a:prstGeom prst="roundRect">
            <a:avLst>
              <a:gd name="adj" fmla="val 32558"/>
            </a:avLst>
          </a:prstGeom>
          <a:solidFill>
            <a:srgbClr val="E1E1DF"/>
          </a:solidFill>
          <a:ln/>
        </p:spPr>
      </p:sp>
      <p:sp>
        <p:nvSpPr>
          <p:cNvPr id="8" name="Shape 6"/>
          <p:cNvSpPr/>
          <p:nvPr/>
        </p:nvSpPr>
        <p:spPr>
          <a:xfrm>
            <a:off x="2603778" y="2966204"/>
            <a:ext cx="595313" cy="595313"/>
          </a:xfrm>
          <a:prstGeom prst="roundRect">
            <a:avLst>
              <a:gd name="adj" fmla="val 153600"/>
            </a:avLst>
          </a:prstGeom>
          <a:solidFill>
            <a:srgbClr val="E1E1DF"/>
          </a:solidFill>
          <a:ln/>
        </p:spPr>
      </p:sp>
      <p:sp>
        <p:nvSpPr>
          <p:cNvPr id="9" name="Text 7"/>
          <p:cNvSpPr/>
          <p:nvPr/>
        </p:nvSpPr>
        <p:spPr>
          <a:xfrm>
            <a:off x="2782372" y="3115032"/>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000000"/>
                </a:solidFill>
                <a:latin typeface="Tomorrow Semi Bold" pitchFamily="34" charset="0"/>
                <a:ea typeface="Tomorrow Semi Bold" pitchFamily="34" charset="-122"/>
                <a:cs typeface="Tomorrow Semi Bold" pitchFamily="34" charset="-120"/>
              </a:rPr>
              <a:t>1</a:t>
            </a:r>
            <a:endParaRPr lang="en-US" sz="1850" dirty="0"/>
          </a:p>
        </p:txBody>
      </p:sp>
      <p:sp>
        <p:nvSpPr>
          <p:cNvPr id="10" name="Text 8"/>
          <p:cNvSpPr/>
          <p:nvPr/>
        </p:nvSpPr>
        <p:spPr>
          <a:xfrm>
            <a:off x="1015008" y="3759994"/>
            <a:ext cx="3371969" cy="310158"/>
          </a:xfrm>
          <a:prstGeom prst="rect">
            <a:avLst/>
          </a:prstGeom>
          <a:noFill/>
          <a:ln/>
        </p:spPr>
        <p:txBody>
          <a:bodyPr wrap="none" lIns="0" tIns="0" rIns="0" bIns="0" rtlCol="0" anchor="t"/>
          <a:lstStyle/>
          <a:p>
            <a:pPr algn="l" indent="0" marL="0">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Snakes and Packets (Easy)</a:t>
            </a:r>
            <a:endParaRPr lang="en-US" sz="1950" dirty="0"/>
          </a:p>
        </p:txBody>
      </p:sp>
      <p:sp>
        <p:nvSpPr>
          <p:cNvPr id="11" name="Text 9"/>
          <p:cNvSpPr/>
          <p:nvPr/>
        </p:nvSpPr>
        <p:spPr>
          <a:xfrm>
            <a:off x="1015008" y="4189214"/>
            <a:ext cx="3772853" cy="2230398"/>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Classic infostealer malware analysis. An infected machine at </a:t>
            </a:r>
            <a:pPr algn="l" indent="0" marL="0">
              <a:lnSpc>
                <a:spcPts val="2500"/>
              </a:lnSpc>
              <a:buNone/>
            </a:pPr>
            <a:r>
              <a:rPr lang="en-US" sz="1550" dirty="0">
                <a:solidFill>
                  <a:srgbClr val="C9C9C0"/>
                </a:solidFill>
                <a:highlight>
                  <a:srgbClr val="2A2A28"/>
                </a:highlight>
                <a:latin typeface="Consolas" pitchFamily="34" charset="0"/>
                <a:ea typeface="Consolas" pitchFamily="34" charset="-122"/>
                <a:cs typeface="Consolas" pitchFamily="34" charset="-120"/>
              </a:rPr>
              <a:t>192.168.100.4</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checks its public IP, geolocates itself, then exfiltrates data. Dig through DNS queries, HTTP requests, and FTP streams to trace the infection chain and find plaintext credentials.</a:t>
            </a:r>
            <a:endParaRPr lang="en-US" sz="1550" dirty="0"/>
          </a:p>
        </p:txBody>
      </p:sp>
      <p:sp>
        <p:nvSpPr>
          <p:cNvPr id="12" name="Shape 10"/>
          <p:cNvSpPr/>
          <p:nvPr/>
        </p:nvSpPr>
        <p:spPr>
          <a:xfrm>
            <a:off x="5207437" y="3263860"/>
            <a:ext cx="4215408" cy="3687128"/>
          </a:xfrm>
          <a:prstGeom prst="roundRect">
            <a:avLst>
              <a:gd name="adj" fmla="val 2976"/>
            </a:avLst>
          </a:prstGeom>
          <a:solidFill>
            <a:srgbClr val="1D1D1B"/>
          </a:solidFill>
          <a:ln/>
        </p:spPr>
      </p:sp>
      <p:sp>
        <p:nvSpPr>
          <p:cNvPr id="13" name="Shape 11"/>
          <p:cNvSpPr/>
          <p:nvPr/>
        </p:nvSpPr>
        <p:spPr>
          <a:xfrm>
            <a:off x="5207437" y="3241000"/>
            <a:ext cx="4215408" cy="91440"/>
          </a:xfrm>
          <a:prstGeom prst="roundRect">
            <a:avLst>
              <a:gd name="adj" fmla="val 32558"/>
            </a:avLst>
          </a:prstGeom>
          <a:solidFill>
            <a:srgbClr val="E1E1DF"/>
          </a:solidFill>
          <a:ln/>
        </p:spPr>
      </p:sp>
      <p:sp>
        <p:nvSpPr>
          <p:cNvPr id="14" name="Shape 12"/>
          <p:cNvSpPr/>
          <p:nvPr/>
        </p:nvSpPr>
        <p:spPr>
          <a:xfrm>
            <a:off x="7017425" y="2966204"/>
            <a:ext cx="595313" cy="595313"/>
          </a:xfrm>
          <a:prstGeom prst="roundRect">
            <a:avLst>
              <a:gd name="adj" fmla="val 153600"/>
            </a:avLst>
          </a:prstGeom>
          <a:solidFill>
            <a:srgbClr val="E1E1DF"/>
          </a:solidFill>
          <a:ln/>
        </p:spPr>
      </p:sp>
      <p:sp>
        <p:nvSpPr>
          <p:cNvPr id="15" name="Text 13"/>
          <p:cNvSpPr/>
          <p:nvPr/>
        </p:nvSpPr>
        <p:spPr>
          <a:xfrm>
            <a:off x="7196018" y="3115032"/>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000000"/>
                </a:solidFill>
                <a:latin typeface="Tomorrow Semi Bold" pitchFamily="34" charset="0"/>
                <a:ea typeface="Tomorrow Semi Bold" pitchFamily="34" charset="-122"/>
                <a:cs typeface="Tomorrow Semi Bold" pitchFamily="34" charset="-120"/>
              </a:rPr>
              <a:t>2</a:t>
            </a:r>
            <a:endParaRPr lang="en-US" sz="1850" dirty="0"/>
          </a:p>
        </p:txBody>
      </p:sp>
      <p:sp>
        <p:nvSpPr>
          <p:cNvPr id="16" name="Text 14"/>
          <p:cNvSpPr/>
          <p:nvPr/>
        </p:nvSpPr>
        <p:spPr>
          <a:xfrm>
            <a:off x="5428655" y="3759994"/>
            <a:ext cx="3772972" cy="620316"/>
          </a:xfrm>
          <a:prstGeom prst="rect">
            <a:avLst/>
          </a:prstGeom>
          <a:noFill/>
          <a:ln/>
        </p:spPr>
        <p:txBody>
          <a:bodyPr wrap="square" lIns="0" tIns="0" rIns="0" bIns="0" rtlCol="0" anchor="t"/>
          <a:lstStyle/>
          <a:p>
            <a:pPr algn="l" indent="0" marL="0">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An Offer You Can't Refuse (Medium)</a:t>
            </a:r>
            <a:endParaRPr lang="en-US" sz="1950" dirty="0"/>
          </a:p>
        </p:txBody>
      </p:sp>
      <p:sp>
        <p:nvSpPr>
          <p:cNvPr id="17" name="Text 15"/>
          <p:cNvSpPr/>
          <p:nvPr/>
        </p:nvSpPr>
        <p:spPr>
          <a:xfrm>
            <a:off x="5428655" y="4499372"/>
            <a:ext cx="3772972" cy="2230398"/>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A rogue DHCP server on a courthouse network. Understand the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DORA handshake</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compare two competing DHCP servers, and find a flag hidden inside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DHCP Option 43</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 which was double hex-encoded. Decoded using CyberChef. Flag: </a:t>
            </a:r>
            <a:pPr algn="l" indent="0" marL="0">
              <a:lnSpc>
                <a:spcPts val="2500"/>
              </a:lnSpc>
              <a:buNone/>
            </a:pPr>
            <a:r>
              <a:rPr lang="en-US" sz="1550" dirty="0">
                <a:solidFill>
                  <a:srgbClr val="C9C9C0"/>
                </a:solidFill>
                <a:highlight>
                  <a:srgbClr val="2A2A28"/>
                </a:highlight>
                <a:latin typeface="Consolas" pitchFamily="34" charset="0"/>
                <a:ea typeface="Consolas" pitchFamily="34" charset="-122"/>
                <a:cs typeface="Consolas" pitchFamily="34" charset="-120"/>
              </a:rPr>
              <a:t>SKY-DHCP-7643</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a:t>
            </a:r>
            <a:endParaRPr lang="en-US" sz="1550" dirty="0"/>
          </a:p>
        </p:txBody>
      </p:sp>
      <p:sp>
        <p:nvSpPr>
          <p:cNvPr id="18" name="Shape 16"/>
          <p:cNvSpPr/>
          <p:nvPr/>
        </p:nvSpPr>
        <p:spPr>
          <a:xfrm>
            <a:off x="9621203" y="3263860"/>
            <a:ext cx="4215289" cy="3687128"/>
          </a:xfrm>
          <a:prstGeom prst="roundRect">
            <a:avLst>
              <a:gd name="adj" fmla="val 2976"/>
            </a:avLst>
          </a:prstGeom>
          <a:solidFill>
            <a:srgbClr val="1D1D1B"/>
          </a:solidFill>
          <a:ln/>
        </p:spPr>
      </p:sp>
      <p:sp>
        <p:nvSpPr>
          <p:cNvPr id="19" name="Shape 17"/>
          <p:cNvSpPr/>
          <p:nvPr/>
        </p:nvSpPr>
        <p:spPr>
          <a:xfrm>
            <a:off x="9621203" y="3241000"/>
            <a:ext cx="4215289" cy="91440"/>
          </a:xfrm>
          <a:prstGeom prst="roundRect">
            <a:avLst>
              <a:gd name="adj" fmla="val 32558"/>
            </a:avLst>
          </a:prstGeom>
          <a:solidFill>
            <a:srgbClr val="E1E1DF"/>
          </a:solidFill>
          <a:ln/>
        </p:spPr>
      </p:sp>
      <p:sp>
        <p:nvSpPr>
          <p:cNvPr id="20" name="Shape 18"/>
          <p:cNvSpPr/>
          <p:nvPr/>
        </p:nvSpPr>
        <p:spPr>
          <a:xfrm>
            <a:off x="11431191" y="2966204"/>
            <a:ext cx="595313" cy="595313"/>
          </a:xfrm>
          <a:prstGeom prst="roundRect">
            <a:avLst>
              <a:gd name="adj" fmla="val 153600"/>
            </a:avLst>
          </a:prstGeom>
          <a:solidFill>
            <a:srgbClr val="E1E1DF"/>
          </a:solidFill>
          <a:ln/>
        </p:spPr>
      </p:sp>
      <p:sp>
        <p:nvSpPr>
          <p:cNvPr id="21" name="Text 19"/>
          <p:cNvSpPr/>
          <p:nvPr/>
        </p:nvSpPr>
        <p:spPr>
          <a:xfrm>
            <a:off x="11609784" y="3115032"/>
            <a:ext cx="238125" cy="297656"/>
          </a:xfrm>
          <a:prstGeom prst="rect">
            <a:avLst/>
          </a:prstGeom>
          <a:noFill/>
          <a:ln/>
        </p:spPr>
        <p:txBody>
          <a:bodyPr wrap="none" lIns="0" tIns="0" rIns="0" bIns="0" rtlCol="0" anchor="t"/>
          <a:lstStyle/>
          <a:p>
            <a:pPr algn="l" indent="0" marL="0">
              <a:lnSpc>
                <a:spcPts val="3000"/>
              </a:lnSpc>
              <a:buNone/>
            </a:pPr>
            <a:r>
              <a:rPr lang="en-US" sz="1850" dirty="0">
                <a:solidFill>
                  <a:srgbClr val="000000"/>
                </a:solidFill>
                <a:latin typeface="Tomorrow Semi Bold" pitchFamily="34" charset="0"/>
                <a:ea typeface="Tomorrow Semi Bold" pitchFamily="34" charset="-122"/>
                <a:cs typeface="Tomorrow Semi Bold" pitchFamily="34" charset="-120"/>
              </a:rPr>
              <a:t>3</a:t>
            </a:r>
            <a:endParaRPr lang="en-US" sz="1850" dirty="0"/>
          </a:p>
        </p:txBody>
      </p:sp>
      <p:sp>
        <p:nvSpPr>
          <p:cNvPr id="22" name="Text 20"/>
          <p:cNvSpPr/>
          <p:nvPr/>
        </p:nvSpPr>
        <p:spPr>
          <a:xfrm>
            <a:off x="9842421" y="3759994"/>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Patient Zero (Hard)</a:t>
            </a:r>
            <a:endParaRPr lang="en-US" sz="1950" dirty="0"/>
          </a:p>
        </p:txBody>
      </p:sp>
      <p:sp>
        <p:nvSpPr>
          <p:cNvPr id="23" name="Text 21"/>
          <p:cNvSpPr/>
          <p:nvPr/>
        </p:nvSpPr>
        <p:spPr>
          <a:xfrm>
            <a:off x="9842421" y="4189214"/>
            <a:ext cx="3772853" cy="2540318"/>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A custom protocol transmitting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HL7 medical records</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over UDP. Three layers of obfuscation: custom header format, hex encoding, and fields spelled backwards. We reverse-engineered the entire protocol from raw packets and wrote custom Python scripts to decode it.</a:t>
            </a:r>
            <a:endParaRPr lang="en-US" sz="1550" dirty="0"/>
          </a:p>
        </p:txBody>
      </p:sp>
      <p:sp>
        <p:nvSpPr>
          <p:cNvPr id="24" name="Text 22"/>
          <p:cNvSpPr/>
          <p:nvPr/>
        </p:nvSpPr>
        <p:spPr>
          <a:xfrm>
            <a:off x="793790" y="7174230"/>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Key tools:</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Wireshark (absolutely essential), tshark (CLI version), tcpdump, Scapy (Python), protocol filters</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793790" y="862608"/>
            <a:ext cx="1812131" cy="348377"/>
          </a:xfrm>
          <a:prstGeom prst="roundRect">
            <a:avLst>
              <a:gd name="adj" fmla="val 6495"/>
            </a:avLst>
          </a:prstGeom>
          <a:solidFill>
            <a:srgbClr val="272725"/>
          </a:solidFill>
          <a:ln/>
        </p:spPr>
      </p:sp>
      <p:sp>
        <p:nvSpPr>
          <p:cNvPr id="3" name="Text 1"/>
          <p:cNvSpPr/>
          <p:nvPr/>
        </p:nvSpPr>
        <p:spPr>
          <a:xfrm>
            <a:off x="906899" y="919163"/>
            <a:ext cx="1585913" cy="235268"/>
          </a:xfrm>
          <a:prstGeom prst="rect">
            <a:avLst/>
          </a:prstGeom>
          <a:noFill/>
          <a:ln/>
        </p:spPr>
        <p:txBody>
          <a:bodyPr wrap="none" lIns="0" tIns="0" rIns="0" bIns="0" rtlCol="0" anchor="t"/>
          <a:lstStyle/>
          <a:p>
            <a:pPr algn="l" indent="0" marL="0">
              <a:lnSpc>
                <a:spcPts val="1850"/>
              </a:lnSpc>
              <a:buNone/>
            </a:pPr>
            <a:r>
              <a:rPr lang="en-US" sz="1150" dirty="0">
                <a:solidFill>
                  <a:srgbClr val="C9C9C0"/>
                </a:solidFill>
                <a:latin typeface="Tomorrow" pitchFamily="34" charset="0"/>
                <a:ea typeface="Tomorrow" pitchFamily="34" charset="-122"/>
                <a:cs typeface="Tomorrow" pitchFamily="34" charset="-120"/>
              </a:rPr>
              <a:t>CATEGORY DEEP DIVE</a:t>
            </a:r>
            <a:endParaRPr lang="en-US" sz="1150" dirty="0"/>
          </a:p>
        </p:txBody>
      </p:sp>
      <p:sp>
        <p:nvSpPr>
          <p:cNvPr id="4" name="Text 2"/>
          <p:cNvSpPr/>
          <p:nvPr/>
        </p:nvSpPr>
        <p:spPr>
          <a:xfrm>
            <a:off x="793790" y="1282541"/>
            <a:ext cx="4713684" cy="589121"/>
          </a:xfrm>
          <a:prstGeom prst="rect">
            <a:avLst/>
          </a:prstGeom>
          <a:noFill/>
          <a:ln/>
        </p:spPr>
        <p:txBody>
          <a:bodyPr wrap="none" lIns="0" tIns="0" rIns="0" bIns="0" rtlCol="0" anchor="t"/>
          <a:lstStyle/>
          <a:p>
            <a:pPr algn="l" indent="0" marL="0">
              <a:lnSpc>
                <a:spcPts val="4600"/>
              </a:lnSpc>
              <a:buNone/>
            </a:pPr>
            <a:r>
              <a:rPr lang="en-US" sz="3700" dirty="0">
                <a:solidFill>
                  <a:srgbClr val="EDEDE8"/>
                </a:solidFill>
                <a:latin typeface="Tomorrow Semi Bold" pitchFamily="34" charset="0"/>
                <a:ea typeface="Tomorrow Semi Bold" pitchFamily="34" charset="-122"/>
                <a:cs typeface="Tomorrow Semi Bold" pitchFamily="34" charset="-120"/>
              </a:rPr>
              <a:t>Forensics</a:t>
            </a:r>
            <a:endParaRPr lang="en-US" sz="3700" dirty="0"/>
          </a:p>
        </p:txBody>
      </p:sp>
      <p:sp>
        <p:nvSpPr>
          <p:cNvPr id="5" name="Text 3"/>
          <p:cNvSpPr/>
          <p:nvPr/>
        </p:nvSpPr>
        <p:spPr>
          <a:xfrm>
            <a:off x="793790" y="2140267"/>
            <a:ext cx="13042821" cy="588407"/>
          </a:xfrm>
          <a:prstGeom prst="rect">
            <a:avLst/>
          </a:prstGeom>
          <a:noFill/>
          <a:ln/>
        </p:spPr>
        <p:txBody>
          <a:bodyPr wrap="square" lIns="0" tIns="0" rIns="0" bIns="0" rtlCol="0" anchor="t"/>
          <a:lstStyle/>
          <a:p>
            <a:pPr algn="l" indent="0" marL="0">
              <a:lnSpc>
                <a:spcPts val="2300"/>
              </a:lnSpc>
              <a:buNone/>
            </a:pPr>
            <a:r>
              <a:rPr lang="en-US" sz="1450" b="1" dirty="0">
                <a:solidFill>
                  <a:srgbClr val="C9C9C0"/>
                </a:solidFill>
                <a:latin typeface="Tomorrow" pitchFamily="34" charset="0"/>
                <a:ea typeface="Tomorrow" pitchFamily="34" charset="-122"/>
                <a:cs typeface="Tomorrow" pitchFamily="34" charset="-120"/>
              </a:rPr>
              <a:t>What it is:</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Digital evidence recovery — file analysis, memory forensics, data extraction. Forensics rewards patience and methodology. Check metadata first, then file structure, then hidden content.</a:t>
            </a:r>
            <a:endParaRPr lang="en-US" sz="1450" dirty="0"/>
          </a:p>
        </p:txBody>
      </p:sp>
      <p:pic>
        <p:nvPicPr>
          <p:cNvPr id="6" name="Image 0" descr="preencoded.png">    </p:cNvPr>
          <p:cNvPicPr>
            <a:picLocks noChangeAspect="1"/>
          </p:cNvPicPr>
          <p:nvPr/>
        </p:nvPicPr>
        <p:blipFill>
          <a:blip r:embed="rId1"/>
          <a:stretch>
            <a:fillRect/>
          </a:stretch>
        </p:blipFill>
        <p:spPr>
          <a:xfrm>
            <a:off x="793790" y="2930128"/>
            <a:ext cx="646271" cy="646271"/>
          </a:xfrm>
          <a:prstGeom prst="rect">
            <a:avLst/>
          </a:prstGeom>
        </p:spPr>
      </p:pic>
      <p:sp>
        <p:nvSpPr>
          <p:cNvPr id="7" name="Text 4"/>
          <p:cNvSpPr/>
          <p:nvPr/>
        </p:nvSpPr>
        <p:spPr>
          <a:xfrm>
            <a:off x="1663898" y="2930128"/>
            <a:ext cx="2222659" cy="294680"/>
          </a:xfrm>
          <a:prstGeom prst="rect">
            <a:avLst/>
          </a:prstGeom>
          <a:noFill/>
          <a:ln/>
        </p:spPr>
        <p:txBody>
          <a:bodyPr wrap="none" lIns="0" tIns="0" rIns="0" bIns="0" rtlCol="0" anchor="t"/>
          <a:lstStyle/>
          <a:p>
            <a:pPr algn="l" indent="0" marL="0">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Colorwork (Easy)</a:t>
            </a:r>
            <a:endParaRPr lang="en-US" sz="1850" dirty="0"/>
          </a:p>
        </p:txBody>
      </p:sp>
      <p:sp>
        <p:nvSpPr>
          <p:cNvPr id="8" name="Text 5"/>
          <p:cNvSpPr/>
          <p:nvPr/>
        </p:nvSpPr>
        <p:spPr>
          <a:xfrm>
            <a:off x="1663898" y="3332202"/>
            <a:ext cx="2222659" cy="2368868"/>
          </a:xfrm>
          <a:prstGeom prst="rect">
            <a:avLst/>
          </a:prstGeom>
          <a:noFill/>
          <a:ln/>
        </p:spPr>
        <p:txBody>
          <a:bodyPr wrap="square" lIns="0" tIns="0" rIns="0" bIns="0" rtlCol="0" anchor="t"/>
          <a:lstStyle/>
          <a:p>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Extract a hidden flag from a meme image using steganography tools. Flag: </a:t>
            </a:r>
            <a:pPr algn="l" indent="0" marL="0">
              <a:lnSpc>
                <a:spcPts val="2300"/>
              </a:lnSpc>
              <a:buNone/>
            </a:pPr>
            <a:r>
              <a:rPr lang="en-US" sz="1450" dirty="0">
                <a:solidFill>
                  <a:srgbClr val="C9C9C0"/>
                </a:solidFill>
                <a:highlight>
                  <a:srgbClr val="2A2A28"/>
                </a:highlight>
                <a:latin typeface="Consolas" pitchFamily="34" charset="0"/>
                <a:ea typeface="Consolas" pitchFamily="34" charset="-122"/>
                <a:cs typeface="Consolas" pitchFamily="34" charset="-120"/>
              </a:rPr>
              <a:t>SKY-STEG-4744</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Straightforward if you know the tools — steghide, binwalk, and zsteg cover most cases.</a:t>
            </a:r>
            <a:endParaRPr lang="en-US" sz="1450" dirty="0"/>
          </a:p>
        </p:txBody>
      </p:sp>
      <p:pic>
        <p:nvPicPr>
          <p:cNvPr id="9" name="Image 1" descr="preencoded.png">    </p:cNvPr>
          <p:cNvPicPr>
            <a:picLocks noChangeAspect="1"/>
          </p:cNvPicPr>
          <p:nvPr/>
        </p:nvPicPr>
        <p:blipFill>
          <a:blip r:embed="rId2"/>
          <a:stretch>
            <a:fillRect/>
          </a:stretch>
        </p:blipFill>
        <p:spPr>
          <a:xfrm>
            <a:off x="4110395" y="2930128"/>
            <a:ext cx="646390" cy="646390"/>
          </a:xfrm>
          <a:prstGeom prst="rect">
            <a:avLst/>
          </a:prstGeom>
        </p:spPr>
      </p:pic>
      <p:sp>
        <p:nvSpPr>
          <p:cNvPr id="10" name="Text 6"/>
          <p:cNvSpPr/>
          <p:nvPr/>
        </p:nvSpPr>
        <p:spPr>
          <a:xfrm>
            <a:off x="4980623" y="2930128"/>
            <a:ext cx="2222659" cy="884039"/>
          </a:xfrm>
          <a:prstGeom prst="rect">
            <a:avLst/>
          </a:prstGeom>
          <a:noFill/>
          <a:ln/>
        </p:spPr>
        <p:txBody>
          <a:bodyPr wrap="square" lIns="0" tIns="0" rIns="0" bIns="0" rtlCol="0" anchor="t"/>
          <a:lstStyle/>
          <a:p>
            <a:pPr algn="l" indent="0" marL="0">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Technical Difficulties (Medium)</a:t>
            </a:r>
            <a:endParaRPr lang="en-US" sz="1850" dirty="0"/>
          </a:p>
        </p:txBody>
      </p:sp>
      <p:sp>
        <p:nvSpPr>
          <p:cNvPr id="11" name="Text 7"/>
          <p:cNvSpPr/>
          <p:nvPr/>
        </p:nvSpPr>
        <p:spPr>
          <a:xfrm>
            <a:off x="4980623" y="3921562"/>
            <a:ext cx="2222659" cy="2949654"/>
          </a:xfrm>
          <a:prstGeom prst="rect">
            <a:avLst/>
          </a:prstGeom>
          <a:noFill/>
          <a:ln/>
        </p:spPr>
        <p:txBody>
          <a:bodyPr wrap="square" lIns="0" tIns="0" rIns="0" bIns="0" rtlCol="0" anchor="t"/>
          <a:lstStyle/>
          <a:p>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Restore files from a </a:t>
            </a:r>
            <a:pPr algn="l" indent="0" marL="0">
              <a:lnSpc>
                <a:spcPts val="2300"/>
              </a:lnSpc>
              <a:buNone/>
            </a:pPr>
            <a:r>
              <a:rPr lang="en-US" sz="1450" b="1" dirty="0">
                <a:solidFill>
                  <a:srgbClr val="C9C9C0"/>
                </a:solidFill>
                <a:latin typeface="Tomorrow" pitchFamily="34" charset="0"/>
                <a:ea typeface="Tomorrow" pitchFamily="34" charset="-122"/>
                <a:cs typeface="Tomorrow" pitchFamily="34" charset="-120"/>
              </a:rPr>
              <a:t>duplicity</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backup. The catch: standard restore only applied the full backup. We manually extracted incremental archives, reassembled 19 split files, and applied an </a:t>
            </a:r>
            <a:pPr algn="l" indent="0" marL="0">
              <a:lnSpc>
                <a:spcPts val="2300"/>
              </a:lnSpc>
              <a:buNone/>
            </a:pPr>
            <a:r>
              <a:rPr lang="en-US" sz="1450" b="1" dirty="0">
                <a:solidFill>
                  <a:srgbClr val="C9C9C0"/>
                </a:solidFill>
                <a:latin typeface="Tomorrow" pitchFamily="34" charset="0"/>
                <a:ea typeface="Tomorrow" pitchFamily="34" charset="-122"/>
                <a:cs typeface="Tomorrow" pitchFamily="34" charset="-120"/>
              </a:rPr>
              <a:t>rdiff patch</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to get the flag: </a:t>
            </a:r>
            <a:pPr algn="l" indent="0" marL="0">
              <a:lnSpc>
                <a:spcPts val="2300"/>
              </a:lnSpc>
              <a:buNone/>
            </a:pPr>
            <a:r>
              <a:rPr lang="en-US" sz="1450" dirty="0">
                <a:solidFill>
                  <a:srgbClr val="C9C9C0"/>
                </a:solidFill>
                <a:highlight>
                  <a:srgbClr val="2A2A28"/>
                </a:highlight>
                <a:latin typeface="Consolas" pitchFamily="34" charset="0"/>
                <a:ea typeface="Consolas" pitchFamily="34" charset="-122"/>
                <a:cs typeface="Consolas" pitchFamily="34" charset="-120"/>
              </a:rPr>
              <a:t>SKY-DIFF-2874</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a:t>
            </a:r>
            <a:endParaRPr lang="en-US" sz="1450" dirty="0"/>
          </a:p>
        </p:txBody>
      </p:sp>
      <p:pic>
        <p:nvPicPr>
          <p:cNvPr id="12" name="Image 2" descr="preencoded.png">    </p:cNvPr>
          <p:cNvPicPr>
            <a:picLocks noChangeAspect="1"/>
          </p:cNvPicPr>
          <p:nvPr/>
        </p:nvPicPr>
        <p:blipFill>
          <a:blip r:embed="rId3"/>
          <a:stretch>
            <a:fillRect/>
          </a:stretch>
        </p:blipFill>
        <p:spPr>
          <a:xfrm>
            <a:off x="7427119" y="2930128"/>
            <a:ext cx="646271" cy="646271"/>
          </a:xfrm>
          <a:prstGeom prst="rect">
            <a:avLst/>
          </a:prstGeom>
        </p:spPr>
      </p:pic>
      <p:sp>
        <p:nvSpPr>
          <p:cNvPr id="13" name="Text 8"/>
          <p:cNvSpPr/>
          <p:nvPr/>
        </p:nvSpPr>
        <p:spPr>
          <a:xfrm>
            <a:off x="8297228" y="2930128"/>
            <a:ext cx="2222659" cy="294680"/>
          </a:xfrm>
          <a:prstGeom prst="rect">
            <a:avLst/>
          </a:prstGeom>
          <a:noFill/>
          <a:ln/>
        </p:spPr>
        <p:txBody>
          <a:bodyPr wrap="none" lIns="0" tIns="0" rIns="0" bIns="0" rtlCol="0" anchor="t"/>
          <a:lstStyle/>
          <a:p>
            <a:pPr algn="l" indent="0" marL="0">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Split Keys (Hard)</a:t>
            </a:r>
            <a:endParaRPr lang="en-US" sz="1850" dirty="0"/>
          </a:p>
        </p:txBody>
      </p:sp>
      <p:sp>
        <p:nvSpPr>
          <p:cNvPr id="14" name="Text 9"/>
          <p:cNvSpPr/>
          <p:nvPr/>
        </p:nvSpPr>
        <p:spPr>
          <a:xfrm>
            <a:off x="8297228" y="3332202"/>
            <a:ext cx="2222659" cy="2957274"/>
          </a:xfrm>
          <a:prstGeom prst="rect">
            <a:avLst/>
          </a:prstGeom>
          <a:noFill/>
          <a:ln/>
        </p:spPr>
        <p:txBody>
          <a:bodyPr wrap="square" lIns="0" tIns="0" rIns="0" bIns="0" rtlCol="0" anchor="t"/>
          <a:lstStyle/>
          <a:p>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Memory forensics. A running process had a deleted file in memory using </a:t>
            </a:r>
            <a:pPr algn="l" indent="0" marL="0">
              <a:lnSpc>
                <a:spcPts val="2300"/>
              </a:lnSpc>
              <a:buNone/>
            </a:pPr>
            <a:r>
              <a:rPr lang="en-US" sz="1450" b="1" dirty="0">
                <a:solidFill>
                  <a:srgbClr val="C9C9C0"/>
                </a:solidFill>
                <a:latin typeface="Tomorrow" pitchFamily="34" charset="0"/>
                <a:ea typeface="Tomorrow" pitchFamily="34" charset="-122"/>
                <a:cs typeface="Tomorrow" pitchFamily="34" charset="-120"/>
              </a:rPr>
              <a:t>AES-128-CBC</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encryption. The key was split across two memory locations. Reassembled and decrypted for flag: </a:t>
            </a:r>
            <a:pPr algn="l" indent="0" marL="0">
              <a:lnSpc>
                <a:spcPts val="2300"/>
              </a:lnSpc>
              <a:buNone/>
            </a:pPr>
            <a:r>
              <a:rPr lang="en-US" sz="1450" dirty="0">
                <a:solidFill>
                  <a:srgbClr val="C9C9C0"/>
                </a:solidFill>
                <a:highlight>
                  <a:srgbClr val="2A2A28"/>
                </a:highlight>
                <a:latin typeface="Consolas" pitchFamily="34" charset="0"/>
                <a:ea typeface="Consolas" pitchFamily="34" charset="-122"/>
                <a:cs typeface="Consolas" pitchFamily="34" charset="-120"/>
              </a:rPr>
              <a:t>SKY-PROC-5682</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a:t>
            </a:r>
            <a:endParaRPr lang="en-US" sz="1450" dirty="0"/>
          </a:p>
        </p:txBody>
      </p:sp>
      <p:pic>
        <p:nvPicPr>
          <p:cNvPr id="15" name="Image 3" descr="preencoded.png">    </p:cNvPr>
          <p:cNvPicPr>
            <a:picLocks noChangeAspect="1"/>
          </p:cNvPicPr>
          <p:nvPr/>
        </p:nvPicPr>
        <p:blipFill>
          <a:blip r:embed="rId4"/>
          <a:stretch>
            <a:fillRect/>
          </a:stretch>
        </p:blipFill>
        <p:spPr>
          <a:xfrm>
            <a:off x="10743724" y="2930128"/>
            <a:ext cx="646390" cy="646390"/>
          </a:xfrm>
          <a:prstGeom prst="rect">
            <a:avLst/>
          </a:prstGeom>
        </p:spPr>
      </p:pic>
      <p:sp>
        <p:nvSpPr>
          <p:cNvPr id="16" name="Text 10"/>
          <p:cNvSpPr/>
          <p:nvPr/>
        </p:nvSpPr>
        <p:spPr>
          <a:xfrm>
            <a:off x="11613952" y="2930128"/>
            <a:ext cx="2222659" cy="589359"/>
          </a:xfrm>
          <a:prstGeom prst="rect">
            <a:avLst/>
          </a:prstGeom>
          <a:noFill/>
          <a:ln/>
        </p:spPr>
        <p:txBody>
          <a:bodyPr wrap="square" lIns="0" tIns="0" rIns="0" bIns="0" rtlCol="0" anchor="t"/>
          <a:lstStyle/>
          <a:p>
            <a:pPr algn="l" indent="0" marL="0">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Hack the Gibson (Mainframe)</a:t>
            </a:r>
            <a:endParaRPr lang="en-US" sz="1850" dirty="0"/>
          </a:p>
        </p:txBody>
      </p:sp>
      <p:sp>
        <p:nvSpPr>
          <p:cNvPr id="17" name="Text 11"/>
          <p:cNvSpPr/>
          <p:nvPr/>
        </p:nvSpPr>
        <p:spPr>
          <a:xfrm>
            <a:off x="11613952" y="3626882"/>
            <a:ext cx="2222659" cy="3243858"/>
          </a:xfrm>
          <a:prstGeom prst="rect">
            <a:avLst/>
          </a:prstGeom>
          <a:noFill/>
          <a:ln/>
        </p:spPr>
        <p:txBody>
          <a:bodyPr wrap="square" lIns="0" tIns="0" rIns="0" bIns="0" rtlCol="0" anchor="t"/>
          <a:lstStyle/>
          <a:p>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IBM mainframe forensics. Analyzed an </a:t>
            </a:r>
            <a:pPr algn="l" indent="0" marL="0">
              <a:lnSpc>
                <a:spcPts val="2300"/>
              </a:lnSpc>
              <a:buNone/>
            </a:pPr>
            <a:r>
              <a:rPr lang="en-US" sz="1450" b="1" dirty="0">
                <a:solidFill>
                  <a:srgbClr val="C9C9C0"/>
                </a:solidFill>
                <a:latin typeface="Tomorrow" pitchFamily="34" charset="0"/>
                <a:ea typeface="Tomorrow" pitchFamily="34" charset="-122"/>
                <a:cs typeface="Tomorrow" pitchFamily="34" charset="-120"/>
              </a:rPr>
              <a:t>XMI/NETDATA</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file in </a:t>
            </a:r>
            <a:pPr algn="l" indent="0" marL="0">
              <a:lnSpc>
                <a:spcPts val="2300"/>
              </a:lnSpc>
              <a:buNone/>
            </a:pPr>
            <a:r>
              <a:rPr lang="en-US" sz="1450" b="1" dirty="0">
                <a:solidFill>
                  <a:srgbClr val="C9C9C0"/>
                </a:solidFill>
                <a:latin typeface="Tomorrow" pitchFamily="34" charset="0"/>
                <a:ea typeface="Tomorrow" pitchFamily="34" charset="-122"/>
                <a:cs typeface="Tomorrow" pitchFamily="34" charset="-120"/>
              </a:rPr>
              <a:t>EBCDIC</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encoding, extracted a ZIP archive, found </a:t>
            </a:r>
            <a:pPr algn="l" indent="0" marL="0">
              <a:lnSpc>
                <a:spcPts val="2300"/>
              </a:lnSpc>
              <a:buNone/>
            </a:pPr>
            <a:r>
              <a:rPr lang="en-US" sz="1450" b="1" dirty="0">
                <a:solidFill>
                  <a:srgbClr val="C9C9C0"/>
                </a:solidFill>
                <a:latin typeface="Tomorrow" pitchFamily="34" charset="0"/>
                <a:ea typeface="Tomorrow" pitchFamily="34" charset="-122"/>
                <a:cs typeface="Tomorrow" pitchFamily="34" charset="-120"/>
              </a:rPr>
              <a:t>RACF password hashes</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and cracked them with hashcat. Password </a:t>
            </a:r>
            <a:pPr algn="l" indent="0" marL="0">
              <a:lnSpc>
                <a:spcPts val="2300"/>
              </a:lnSpc>
              <a:buNone/>
            </a:pPr>
            <a:r>
              <a:rPr lang="en-US" sz="1450" dirty="0">
                <a:solidFill>
                  <a:srgbClr val="C9C9C0"/>
                </a:solidFill>
                <a:highlight>
                  <a:srgbClr val="2A2A28"/>
                </a:highlight>
                <a:latin typeface="Consolas" pitchFamily="34" charset="0"/>
                <a:ea typeface="Consolas" pitchFamily="34" charset="-122"/>
                <a:cs typeface="Consolas" pitchFamily="34" charset="-120"/>
              </a:rPr>
              <a:t>VIPER1</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was brute-forced in ~30 seconds.</a:t>
            </a:r>
            <a:endParaRPr lang="en-US" sz="1450" dirty="0"/>
          </a:p>
        </p:txBody>
      </p:sp>
      <p:sp>
        <p:nvSpPr>
          <p:cNvPr id="18" name="Text 12"/>
          <p:cNvSpPr/>
          <p:nvPr/>
        </p:nvSpPr>
        <p:spPr>
          <a:xfrm>
            <a:off x="793790" y="7072670"/>
            <a:ext cx="13042821" cy="294203"/>
          </a:xfrm>
          <a:prstGeom prst="rect">
            <a:avLst/>
          </a:prstGeom>
          <a:noFill/>
          <a:ln/>
        </p:spPr>
        <p:txBody>
          <a:bodyPr wrap="none" lIns="0" tIns="0" rIns="0" bIns="0" rtlCol="0" anchor="t"/>
          <a:lstStyle/>
          <a:p>
            <a:pPr algn="l" indent="0" marL="0">
              <a:lnSpc>
                <a:spcPts val="2300"/>
              </a:lnSpc>
              <a:buNone/>
            </a:pPr>
            <a:r>
              <a:rPr lang="en-US" sz="1450" b="1" dirty="0">
                <a:solidFill>
                  <a:srgbClr val="C9C9C0"/>
                </a:solidFill>
                <a:latin typeface="Tomorrow" pitchFamily="34" charset="0"/>
                <a:ea typeface="Tomorrow" pitchFamily="34" charset="-122"/>
                <a:cs typeface="Tomorrow" pitchFamily="34" charset="-120"/>
              </a:rPr>
              <a:t>Key tools:</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steghide, binwalk, Volatility (memory forensics), exiftool, hex editors, CyberChef, hashcat</a:t>
            </a:r>
            <a:endParaRPr lang="en-US" sz="14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93790" y="798076"/>
            <a:ext cx="1812131" cy="348377"/>
          </a:xfrm>
          <a:prstGeom prst="roundRect">
            <a:avLst>
              <a:gd name="adj" fmla="val 6495"/>
            </a:avLst>
          </a:prstGeom>
          <a:solidFill>
            <a:srgbClr val="272725"/>
          </a:solidFill>
          <a:ln/>
        </p:spPr>
      </p:sp>
      <p:sp>
        <p:nvSpPr>
          <p:cNvPr id="3" name="Text 1"/>
          <p:cNvSpPr/>
          <p:nvPr/>
        </p:nvSpPr>
        <p:spPr>
          <a:xfrm>
            <a:off x="906899" y="854631"/>
            <a:ext cx="1585913" cy="235268"/>
          </a:xfrm>
          <a:prstGeom prst="rect">
            <a:avLst/>
          </a:prstGeom>
          <a:noFill/>
          <a:ln/>
        </p:spPr>
        <p:txBody>
          <a:bodyPr wrap="none" lIns="0" tIns="0" rIns="0" bIns="0" rtlCol="0" anchor="t"/>
          <a:lstStyle/>
          <a:p>
            <a:pPr algn="l" indent="0" marL="0">
              <a:lnSpc>
                <a:spcPts val="1850"/>
              </a:lnSpc>
              <a:buNone/>
            </a:pPr>
            <a:r>
              <a:rPr lang="en-US" sz="1150" dirty="0">
                <a:solidFill>
                  <a:srgbClr val="C9C9C0"/>
                </a:solidFill>
                <a:latin typeface="Tomorrow" pitchFamily="34" charset="0"/>
                <a:ea typeface="Tomorrow" pitchFamily="34" charset="-122"/>
                <a:cs typeface="Tomorrow" pitchFamily="34" charset="-120"/>
              </a:rPr>
              <a:t>CATEGORY DEEP DIVE</a:t>
            </a:r>
            <a:endParaRPr lang="en-US" sz="1150" dirty="0"/>
          </a:p>
        </p:txBody>
      </p:sp>
      <p:sp>
        <p:nvSpPr>
          <p:cNvPr id="4" name="Text 2"/>
          <p:cNvSpPr/>
          <p:nvPr/>
        </p:nvSpPr>
        <p:spPr>
          <a:xfrm>
            <a:off x="793790" y="1218009"/>
            <a:ext cx="6863239" cy="589121"/>
          </a:xfrm>
          <a:prstGeom prst="rect">
            <a:avLst/>
          </a:prstGeom>
          <a:noFill/>
          <a:ln/>
        </p:spPr>
        <p:txBody>
          <a:bodyPr wrap="none" lIns="0" tIns="0" rIns="0" bIns="0" rtlCol="0" anchor="t"/>
          <a:lstStyle/>
          <a:p>
            <a:pPr algn="l" indent="0" marL="0">
              <a:lnSpc>
                <a:spcPts val="4600"/>
              </a:lnSpc>
              <a:buNone/>
            </a:pPr>
            <a:r>
              <a:rPr lang="en-US" sz="3700" dirty="0">
                <a:solidFill>
                  <a:srgbClr val="EDEDE8"/>
                </a:solidFill>
                <a:latin typeface="Tomorrow Semi Bold" pitchFamily="34" charset="0"/>
                <a:ea typeface="Tomorrow Semi Bold" pitchFamily="34" charset="-122"/>
                <a:cs typeface="Tomorrow Semi Bold" pitchFamily="34" charset="-120"/>
              </a:rPr>
              <a:t>Scanning &amp; Reconnaissance</a:t>
            </a:r>
            <a:endParaRPr lang="en-US" sz="3700" dirty="0"/>
          </a:p>
        </p:txBody>
      </p:sp>
      <p:sp>
        <p:nvSpPr>
          <p:cNvPr id="5" name="Text 3"/>
          <p:cNvSpPr/>
          <p:nvPr/>
        </p:nvSpPr>
        <p:spPr>
          <a:xfrm>
            <a:off x="793790" y="2075736"/>
            <a:ext cx="13042821" cy="596027"/>
          </a:xfrm>
          <a:prstGeom prst="rect">
            <a:avLst/>
          </a:prstGeom>
          <a:noFill/>
          <a:ln/>
        </p:spPr>
        <p:txBody>
          <a:bodyPr wrap="square" lIns="0" tIns="0" rIns="0" bIns="0" rtlCol="0" anchor="t"/>
          <a:lstStyle/>
          <a:p>
            <a:pPr algn="l" indent="0" marL="0">
              <a:lnSpc>
                <a:spcPts val="2300"/>
              </a:lnSpc>
              <a:buNone/>
            </a:pPr>
            <a:r>
              <a:rPr lang="en-US" sz="1450" b="1" dirty="0">
                <a:solidFill>
                  <a:srgbClr val="C9C9C0"/>
                </a:solidFill>
                <a:latin typeface="Tomorrow" pitchFamily="34" charset="0"/>
                <a:ea typeface="Tomorrow" pitchFamily="34" charset="-122"/>
                <a:cs typeface="Tomorrow" pitchFamily="34" charset="-120"/>
              </a:rPr>
              <a:t>What it is:</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Discovering what's running on target systems — ports, services, versions, hidden information. </a:t>
            </a:r>
            <a:pPr algn="l" indent="0" marL="0">
              <a:lnSpc>
                <a:spcPts val="2300"/>
              </a:lnSpc>
              <a:buNone/>
            </a:pPr>
            <a:r>
              <a:rPr lang="en-US" sz="1450" b="1" dirty="0">
                <a:solidFill>
                  <a:srgbClr val="C9C9C0"/>
                </a:solidFill>
                <a:latin typeface="Tomorrow" pitchFamily="34" charset="0"/>
                <a:ea typeface="Tomorrow" pitchFamily="34" charset="-122"/>
                <a:cs typeface="Tomorrow" pitchFamily="34" charset="-120"/>
              </a:rPr>
              <a:t>Always scan UDP ports too.</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Know nmap well — service detection (</a:t>
            </a:r>
            <a:pPr algn="l" indent="0" marL="0">
              <a:lnSpc>
                <a:spcPts val="2300"/>
              </a:lnSpc>
              <a:buNone/>
            </a:pPr>
            <a:r>
              <a:rPr lang="en-US" sz="1450" dirty="0">
                <a:solidFill>
                  <a:srgbClr val="C9C9C0"/>
                </a:solidFill>
                <a:highlight>
                  <a:srgbClr val="2A2A28"/>
                </a:highlight>
                <a:latin typeface="Consolas" pitchFamily="34" charset="0"/>
                <a:ea typeface="Consolas" pitchFamily="34" charset="-122"/>
                <a:cs typeface="Consolas" pitchFamily="34" charset="-120"/>
              </a:rPr>
              <a:t>-sV</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script scanning (</a:t>
            </a:r>
            <a:pPr algn="l" indent="0" marL="0">
              <a:lnSpc>
                <a:spcPts val="2300"/>
              </a:lnSpc>
              <a:buNone/>
            </a:pPr>
            <a:r>
              <a:rPr lang="en-US" sz="1450" dirty="0">
                <a:solidFill>
                  <a:srgbClr val="C9C9C0"/>
                </a:solidFill>
                <a:highlight>
                  <a:srgbClr val="2A2A28"/>
                </a:highlight>
                <a:latin typeface="Consolas" pitchFamily="34" charset="0"/>
                <a:ea typeface="Consolas" pitchFamily="34" charset="-122"/>
                <a:cs typeface="Consolas" pitchFamily="34" charset="-120"/>
              </a:rPr>
              <a:t>-sC</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UDP scanning (</a:t>
            </a:r>
            <a:pPr algn="l" indent="0" marL="0">
              <a:lnSpc>
                <a:spcPts val="2300"/>
              </a:lnSpc>
              <a:buNone/>
            </a:pPr>
            <a:r>
              <a:rPr lang="en-US" sz="1450" dirty="0">
                <a:solidFill>
                  <a:srgbClr val="C9C9C0"/>
                </a:solidFill>
                <a:highlight>
                  <a:srgbClr val="2A2A28"/>
                </a:highlight>
                <a:latin typeface="Consolas" pitchFamily="34" charset="0"/>
                <a:ea typeface="Consolas" pitchFamily="34" charset="-122"/>
                <a:cs typeface="Consolas" pitchFamily="34" charset="-120"/>
              </a:rPr>
              <a:t>-sU</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a:t>
            </a:r>
            <a:endParaRPr lang="en-US" sz="1450" dirty="0"/>
          </a:p>
        </p:txBody>
      </p:sp>
      <p:sp>
        <p:nvSpPr>
          <p:cNvPr id="6" name="Shape 4"/>
          <p:cNvSpPr/>
          <p:nvPr/>
        </p:nvSpPr>
        <p:spPr>
          <a:xfrm>
            <a:off x="7303770" y="2873216"/>
            <a:ext cx="22860" cy="4062532"/>
          </a:xfrm>
          <a:prstGeom prst="roundRect">
            <a:avLst>
              <a:gd name="adj" fmla="val 123721"/>
            </a:avLst>
          </a:prstGeom>
          <a:solidFill>
            <a:srgbClr val="555553"/>
          </a:solidFill>
          <a:ln/>
        </p:spPr>
      </p:sp>
      <p:sp>
        <p:nvSpPr>
          <p:cNvPr id="7" name="Shape 5"/>
          <p:cNvSpPr/>
          <p:nvPr/>
        </p:nvSpPr>
        <p:spPr>
          <a:xfrm>
            <a:off x="6560403" y="3073837"/>
            <a:ext cx="565547" cy="22860"/>
          </a:xfrm>
          <a:prstGeom prst="roundRect">
            <a:avLst>
              <a:gd name="adj" fmla="val 123721"/>
            </a:avLst>
          </a:prstGeom>
          <a:solidFill>
            <a:srgbClr val="555553"/>
          </a:solidFill>
          <a:ln/>
        </p:spPr>
      </p:sp>
      <p:sp>
        <p:nvSpPr>
          <p:cNvPr id="8" name="Shape 6"/>
          <p:cNvSpPr/>
          <p:nvPr/>
        </p:nvSpPr>
        <p:spPr>
          <a:xfrm>
            <a:off x="7103090" y="2873216"/>
            <a:ext cx="424220" cy="424220"/>
          </a:xfrm>
          <a:prstGeom prst="roundRect">
            <a:avLst>
              <a:gd name="adj" fmla="val 6667"/>
            </a:avLst>
          </a:prstGeom>
          <a:solidFill>
            <a:srgbClr val="3C3C3A"/>
          </a:solidFill>
          <a:ln/>
        </p:spPr>
      </p:sp>
      <p:sp>
        <p:nvSpPr>
          <p:cNvPr id="9" name="Text 7"/>
          <p:cNvSpPr/>
          <p:nvPr/>
        </p:nvSpPr>
        <p:spPr>
          <a:xfrm>
            <a:off x="7173754" y="2908518"/>
            <a:ext cx="282773" cy="353497"/>
          </a:xfrm>
          <a:prstGeom prst="rect">
            <a:avLst/>
          </a:prstGeom>
          <a:noFill/>
          <a:ln/>
        </p:spPr>
        <p:txBody>
          <a:bodyPr wrap="none" lIns="0" tIns="0" rIns="0" bIns="0" rtlCol="0" anchor="t"/>
          <a:lstStyle/>
          <a:p>
            <a:pPr algn="ctr" indent="0" marL="0">
              <a:lnSpc>
                <a:spcPts val="2200"/>
              </a:lnSpc>
              <a:buNone/>
            </a:pPr>
            <a:r>
              <a:rPr lang="en-US" sz="2200" dirty="0">
                <a:solidFill>
                  <a:srgbClr val="C9C9C0"/>
                </a:solidFill>
                <a:latin typeface="Tomorrow Semi Bold" pitchFamily="34" charset="0"/>
                <a:ea typeface="Tomorrow Semi Bold" pitchFamily="34" charset="-122"/>
                <a:cs typeface="Tomorrow Semi Bold" pitchFamily="34" charset="-120"/>
              </a:rPr>
              <a:t>1</a:t>
            </a:r>
            <a:endParaRPr lang="en-US" sz="2200" dirty="0"/>
          </a:p>
        </p:txBody>
      </p:sp>
      <p:sp>
        <p:nvSpPr>
          <p:cNvPr id="10" name="Text 8"/>
          <p:cNvSpPr/>
          <p:nvPr/>
        </p:nvSpPr>
        <p:spPr>
          <a:xfrm>
            <a:off x="4015621" y="2937986"/>
            <a:ext cx="2356842" cy="294680"/>
          </a:xfrm>
          <a:prstGeom prst="rect">
            <a:avLst/>
          </a:prstGeom>
          <a:noFill/>
          <a:ln/>
        </p:spPr>
        <p:txBody>
          <a:bodyPr wrap="none" lIns="0" tIns="0" rIns="0" bIns="0" rtlCol="0" anchor="t"/>
          <a:lstStyle/>
          <a:p>
            <a:pPr algn="r" indent="0" marL="0">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Open (Easy)</a:t>
            </a:r>
            <a:endParaRPr lang="en-US" sz="1850" dirty="0"/>
          </a:p>
        </p:txBody>
      </p:sp>
      <p:sp>
        <p:nvSpPr>
          <p:cNvPr id="11" name="Text 9"/>
          <p:cNvSpPr/>
          <p:nvPr/>
        </p:nvSpPr>
        <p:spPr>
          <a:xfrm>
            <a:off x="793790" y="3340060"/>
            <a:ext cx="5578673" cy="1192054"/>
          </a:xfrm>
          <a:prstGeom prst="rect">
            <a:avLst/>
          </a:prstGeom>
          <a:noFill/>
          <a:ln/>
        </p:spPr>
        <p:txBody>
          <a:bodyPr wrap="square" lIns="0" tIns="0" rIns="0" bIns="0" rtlCol="0" anchor="t"/>
          <a:lstStyle/>
          <a:p>
            <a:pPr algn="r" indent="0" marL="0">
              <a:lnSpc>
                <a:spcPts val="2300"/>
              </a:lnSpc>
              <a:buNone/>
            </a:pPr>
            <a:r>
              <a:rPr lang="en-US" sz="1450" dirty="0">
                <a:solidFill>
                  <a:srgbClr val="C9C9C0"/>
                </a:solidFill>
                <a:latin typeface="Tomorrow" pitchFamily="34" charset="0"/>
                <a:ea typeface="Tomorrow" pitchFamily="34" charset="-122"/>
                <a:cs typeface="Tomorrow" pitchFamily="34" charset="-120"/>
              </a:rPr>
              <a:t>Basic port scan. Found Kerberos (88), NetBIOS/Samba, LDAP (389), and xrdp (3389) on Linux. The flag was hidden in the </a:t>
            </a:r>
            <a:pPr algn="r" indent="0" marL="0">
              <a:lnSpc>
                <a:spcPts val="2300"/>
              </a:lnSpc>
              <a:buNone/>
            </a:pPr>
            <a:r>
              <a:rPr lang="en-US" sz="1450" b="1" dirty="0">
                <a:solidFill>
                  <a:srgbClr val="C9C9C0"/>
                </a:solidFill>
                <a:latin typeface="Tomorrow" pitchFamily="34" charset="0"/>
                <a:ea typeface="Tomorrow" pitchFamily="34" charset="-122"/>
                <a:cs typeface="Tomorrow" pitchFamily="34" charset="-120"/>
              </a:rPr>
              <a:t>LDAP naming context</a:t>
            </a:r>
            <a:pPr algn="r" indent="0" marL="0">
              <a:lnSpc>
                <a:spcPts val="2300"/>
              </a:lnSpc>
              <a:buNone/>
            </a:pPr>
            <a:r>
              <a:rPr lang="en-US" sz="1450" dirty="0">
                <a:solidFill>
                  <a:srgbClr val="C9C9C0"/>
                </a:solidFill>
                <a:latin typeface="Tomorrow" pitchFamily="34" charset="0"/>
                <a:ea typeface="Tomorrow" pitchFamily="34" charset="-122"/>
                <a:cs typeface="Tomorrow" pitchFamily="34" charset="-120"/>
              </a:rPr>
              <a:t> — an ldapsearch revealed </a:t>
            </a:r>
            <a:pPr algn="r" indent="0" marL="0">
              <a:lnSpc>
                <a:spcPts val="2300"/>
              </a:lnSpc>
              <a:buNone/>
            </a:pPr>
            <a:r>
              <a:rPr lang="en-US" sz="1450" dirty="0">
                <a:solidFill>
                  <a:srgbClr val="C9C9C0"/>
                </a:solidFill>
                <a:highlight>
                  <a:srgbClr val="2A2A28"/>
                </a:highlight>
                <a:latin typeface="Consolas" pitchFamily="34" charset="0"/>
                <a:ea typeface="Consolas" pitchFamily="34" charset="-122"/>
                <a:cs typeface="Consolas" pitchFamily="34" charset="-120"/>
              </a:rPr>
              <a:t>dc=SKY-SCAN-0363</a:t>
            </a:r>
            <a:pPr algn="r" indent="0" marL="0">
              <a:lnSpc>
                <a:spcPts val="2300"/>
              </a:lnSpc>
              <a:buNone/>
            </a:pPr>
            <a:r>
              <a:rPr lang="en-US" sz="1450" dirty="0">
                <a:solidFill>
                  <a:srgbClr val="C9C9C0"/>
                </a:solidFill>
                <a:latin typeface="Tomorrow" pitchFamily="34" charset="0"/>
                <a:ea typeface="Tomorrow" pitchFamily="34" charset="-122"/>
                <a:cs typeface="Tomorrow" pitchFamily="34" charset="-120"/>
              </a:rPr>
              <a:t>. Always enumerate services deeply.</a:t>
            </a:r>
            <a:endParaRPr lang="en-US" sz="1450" dirty="0"/>
          </a:p>
        </p:txBody>
      </p:sp>
      <p:sp>
        <p:nvSpPr>
          <p:cNvPr id="12" name="Shape 10"/>
          <p:cNvSpPr/>
          <p:nvPr/>
        </p:nvSpPr>
        <p:spPr>
          <a:xfrm>
            <a:off x="7504450" y="4186118"/>
            <a:ext cx="565547" cy="22860"/>
          </a:xfrm>
          <a:prstGeom prst="roundRect">
            <a:avLst>
              <a:gd name="adj" fmla="val 123721"/>
            </a:avLst>
          </a:prstGeom>
          <a:solidFill>
            <a:srgbClr val="555553"/>
          </a:solidFill>
          <a:ln/>
        </p:spPr>
      </p:sp>
      <p:sp>
        <p:nvSpPr>
          <p:cNvPr id="13" name="Shape 11"/>
          <p:cNvSpPr/>
          <p:nvPr/>
        </p:nvSpPr>
        <p:spPr>
          <a:xfrm>
            <a:off x="7103090" y="3985498"/>
            <a:ext cx="424220" cy="424220"/>
          </a:xfrm>
          <a:prstGeom prst="roundRect">
            <a:avLst>
              <a:gd name="adj" fmla="val 6667"/>
            </a:avLst>
          </a:prstGeom>
          <a:solidFill>
            <a:srgbClr val="3C3C3A"/>
          </a:solidFill>
          <a:ln/>
        </p:spPr>
      </p:sp>
      <p:sp>
        <p:nvSpPr>
          <p:cNvPr id="14" name="Text 12"/>
          <p:cNvSpPr/>
          <p:nvPr/>
        </p:nvSpPr>
        <p:spPr>
          <a:xfrm>
            <a:off x="7173754" y="4020800"/>
            <a:ext cx="282773" cy="353497"/>
          </a:xfrm>
          <a:prstGeom prst="rect">
            <a:avLst/>
          </a:prstGeom>
          <a:noFill/>
          <a:ln/>
        </p:spPr>
        <p:txBody>
          <a:bodyPr wrap="none" lIns="0" tIns="0" rIns="0" bIns="0" rtlCol="0" anchor="t"/>
          <a:lstStyle/>
          <a:p>
            <a:pPr algn="ctr" indent="0" marL="0">
              <a:lnSpc>
                <a:spcPts val="2200"/>
              </a:lnSpc>
              <a:buNone/>
            </a:pPr>
            <a:r>
              <a:rPr lang="en-US" sz="2200" dirty="0">
                <a:solidFill>
                  <a:srgbClr val="C9C9C0"/>
                </a:solidFill>
                <a:latin typeface="Tomorrow Semi Bold" pitchFamily="34" charset="0"/>
                <a:ea typeface="Tomorrow Semi Bold" pitchFamily="34" charset="-122"/>
                <a:cs typeface="Tomorrow Semi Bold" pitchFamily="34" charset="-120"/>
              </a:rPr>
              <a:t>2</a:t>
            </a:r>
            <a:endParaRPr lang="en-US" sz="2200" dirty="0"/>
          </a:p>
        </p:txBody>
      </p:sp>
      <p:sp>
        <p:nvSpPr>
          <p:cNvPr id="15" name="Text 13"/>
          <p:cNvSpPr/>
          <p:nvPr/>
        </p:nvSpPr>
        <p:spPr>
          <a:xfrm>
            <a:off x="8257937" y="4050268"/>
            <a:ext cx="2703433" cy="294680"/>
          </a:xfrm>
          <a:prstGeom prst="rect">
            <a:avLst/>
          </a:prstGeom>
          <a:noFill/>
          <a:ln/>
        </p:spPr>
        <p:txBody>
          <a:bodyPr wrap="none" lIns="0" tIns="0" rIns="0" bIns="0" rtlCol="0" anchor="t"/>
          <a:lstStyle/>
          <a:p>
            <a:pPr algn="l" indent="0" marL="0">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Git A Gander (Medium)</a:t>
            </a:r>
            <a:endParaRPr lang="en-US" sz="1850" dirty="0"/>
          </a:p>
        </p:txBody>
      </p:sp>
      <p:sp>
        <p:nvSpPr>
          <p:cNvPr id="16" name="Text 14"/>
          <p:cNvSpPr/>
          <p:nvPr/>
        </p:nvSpPr>
        <p:spPr>
          <a:xfrm>
            <a:off x="8257937" y="4452342"/>
            <a:ext cx="5578673" cy="1478637"/>
          </a:xfrm>
          <a:prstGeom prst="rect">
            <a:avLst/>
          </a:prstGeom>
          <a:noFill/>
          <a:ln/>
        </p:spPr>
        <p:txBody>
          <a:bodyPr wrap="square" lIns="0" tIns="0" rIns="0" bIns="0" rtlCol="0" anchor="t"/>
          <a:lstStyle/>
          <a:p>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A </a:t>
            </a:r>
            <a:pPr algn="l" indent="0" marL="0">
              <a:lnSpc>
                <a:spcPts val="2300"/>
              </a:lnSpc>
              <a:buNone/>
            </a:pPr>
            <a:r>
              <a:rPr lang="en-US" sz="1450" dirty="0">
                <a:solidFill>
                  <a:srgbClr val="C9C9C0"/>
                </a:solidFill>
                <a:highlight>
                  <a:srgbClr val="2A2A28"/>
                </a:highlight>
                <a:latin typeface="Consolas" pitchFamily="34" charset="0"/>
                <a:ea typeface="Consolas" pitchFamily="34" charset="-122"/>
                <a:cs typeface="Consolas" pitchFamily="34" charset="-120"/>
              </a:rPr>
              <a:t>.git</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directory pulled from a WordPress server. Dug through commit history: database username, an SSH private key committed then removed, and a </a:t>
            </a:r>
            <a:pPr algn="l" indent="0" marL="0">
              <a:lnSpc>
                <a:spcPts val="2300"/>
              </a:lnSpc>
              <a:buNone/>
            </a:pPr>
            <a:r>
              <a:rPr lang="en-US" sz="1450" b="1" dirty="0">
                <a:solidFill>
                  <a:srgbClr val="C9C9C0"/>
                </a:solidFill>
                <a:latin typeface="Tomorrow" pitchFamily="34" charset="0"/>
                <a:ea typeface="Tomorrow" pitchFamily="34" charset="-122"/>
                <a:cs typeface="Tomorrow" pitchFamily="34" charset="-120"/>
              </a:rPr>
              <a:t>Base64-encoded password</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in an old commit. The lesson: git history preserves everything, even "deleted" secrets.</a:t>
            </a:r>
            <a:endParaRPr lang="en-US" sz="1450" dirty="0"/>
          </a:p>
        </p:txBody>
      </p:sp>
      <p:sp>
        <p:nvSpPr>
          <p:cNvPr id="17" name="Shape 15"/>
          <p:cNvSpPr/>
          <p:nvPr/>
        </p:nvSpPr>
        <p:spPr>
          <a:xfrm>
            <a:off x="6560403" y="5337929"/>
            <a:ext cx="565547" cy="22860"/>
          </a:xfrm>
          <a:prstGeom prst="roundRect">
            <a:avLst>
              <a:gd name="adj" fmla="val 123721"/>
            </a:avLst>
          </a:prstGeom>
          <a:solidFill>
            <a:srgbClr val="555553"/>
          </a:solidFill>
          <a:ln/>
        </p:spPr>
      </p:sp>
      <p:sp>
        <p:nvSpPr>
          <p:cNvPr id="18" name="Shape 16"/>
          <p:cNvSpPr/>
          <p:nvPr/>
        </p:nvSpPr>
        <p:spPr>
          <a:xfrm>
            <a:off x="7103090" y="5137309"/>
            <a:ext cx="424220" cy="424220"/>
          </a:xfrm>
          <a:prstGeom prst="roundRect">
            <a:avLst>
              <a:gd name="adj" fmla="val 6667"/>
            </a:avLst>
          </a:prstGeom>
          <a:solidFill>
            <a:srgbClr val="3C3C3A"/>
          </a:solidFill>
          <a:ln/>
        </p:spPr>
      </p:sp>
      <p:sp>
        <p:nvSpPr>
          <p:cNvPr id="19" name="Text 17"/>
          <p:cNvSpPr/>
          <p:nvPr/>
        </p:nvSpPr>
        <p:spPr>
          <a:xfrm>
            <a:off x="7173754" y="5172611"/>
            <a:ext cx="282773" cy="353497"/>
          </a:xfrm>
          <a:prstGeom prst="rect">
            <a:avLst/>
          </a:prstGeom>
          <a:noFill/>
          <a:ln/>
        </p:spPr>
        <p:txBody>
          <a:bodyPr wrap="none" lIns="0" tIns="0" rIns="0" bIns="0" rtlCol="0" anchor="t"/>
          <a:lstStyle/>
          <a:p>
            <a:pPr algn="ctr" indent="0" marL="0">
              <a:lnSpc>
                <a:spcPts val="2200"/>
              </a:lnSpc>
              <a:buNone/>
            </a:pPr>
            <a:r>
              <a:rPr lang="en-US" sz="2200" dirty="0">
                <a:solidFill>
                  <a:srgbClr val="C9C9C0"/>
                </a:solidFill>
                <a:latin typeface="Tomorrow Semi Bold" pitchFamily="34" charset="0"/>
                <a:ea typeface="Tomorrow Semi Bold" pitchFamily="34" charset="-122"/>
                <a:cs typeface="Tomorrow Semi Bold" pitchFamily="34" charset="-120"/>
              </a:rPr>
              <a:t>3</a:t>
            </a:r>
            <a:endParaRPr lang="en-US" sz="2200" dirty="0"/>
          </a:p>
        </p:txBody>
      </p:sp>
      <p:sp>
        <p:nvSpPr>
          <p:cNvPr id="20" name="Text 18"/>
          <p:cNvSpPr/>
          <p:nvPr/>
        </p:nvSpPr>
        <p:spPr>
          <a:xfrm>
            <a:off x="4015621" y="5202079"/>
            <a:ext cx="2356842" cy="294680"/>
          </a:xfrm>
          <a:prstGeom prst="rect">
            <a:avLst/>
          </a:prstGeom>
          <a:noFill/>
          <a:ln/>
        </p:spPr>
        <p:txBody>
          <a:bodyPr wrap="none" lIns="0" tIns="0" rIns="0" bIns="0" rtlCol="0" anchor="t"/>
          <a:lstStyle/>
          <a:p>
            <a:pPr algn="r" indent="0" marL="0">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Walk (Hard)</a:t>
            </a:r>
            <a:endParaRPr lang="en-US" sz="1850" dirty="0"/>
          </a:p>
        </p:txBody>
      </p:sp>
      <p:sp>
        <p:nvSpPr>
          <p:cNvPr id="21" name="Text 19"/>
          <p:cNvSpPr/>
          <p:nvPr/>
        </p:nvSpPr>
        <p:spPr>
          <a:xfrm>
            <a:off x="793790" y="5604153"/>
            <a:ext cx="5578673" cy="1184434"/>
          </a:xfrm>
          <a:prstGeom prst="rect">
            <a:avLst/>
          </a:prstGeom>
          <a:noFill/>
          <a:ln/>
        </p:spPr>
        <p:txBody>
          <a:bodyPr wrap="square" lIns="0" tIns="0" rIns="0" bIns="0" rtlCol="0" anchor="t"/>
          <a:lstStyle/>
          <a:p>
            <a:pPr algn="r" indent="0" marL="0">
              <a:lnSpc>
                <a:spcPts val="2300"/>
              </a:lnSpc>
              <a:buNone/>
            </a:pPr>
            <a:r>
              <a:rPr lang="en-US" sz="1450" dirty="0">
                <a:solidFill>
                  <a:srgbClr val="C9C9C0"/>
                </a:solidFill>
                <a:latin typeface="Tomorrow" pitchFamily="34" charset="0"/>
                <a:ea typeface="Tomorrow" pitchFamily="34" charset="-122"/>
                <a:cs typeface="Tomorrow" pitchFamily="34" charset="-120"/>
              </a:rPr>
              <a:t>Only </a:t>
            </a:r>
            <a:pPr algn="r" indent="0" marL="0">
              <a:lnSpc>
                <a:spcPts val="2300"/>
              </a:lnSpc>
              <a:buNone/>
            </a:pPr>
            <a:r>
              <a:rPr lang="en-US" sz="1450" b="1" dirty="0">
                <a:solidFill>
                  <a:srgbClr val="C9C9C0"/>
                </a:solidFill>
                <a:latin typeface="Tomorrow" pitchFamily="34" charset="0"/>
                <a:ea typeface="Tomorrow" pitchFamily="34" charset="-122"/>
                <a:cs typeface="Tomorrow" pitchFamily="34" charset="-120"/>
              </a:rPr>
              <a:t>UDP port 161 (SNMP)</a:t>
            </a:r>
            <a:pPr algn="r" indent="0" marL="0">
              <a:lnSpc>
                <a:spcPts val="2300"/>
              </a:lnSpc>
              <a:buNone/>
            </a:pPr>
            <a:r>
              <a:rPr lang="en-US" sz="1450" dirty="0">
                <a:solidFill>
                  <a:srgbClr val="C9C9C0"/>
                </a:solidFill>
                <a:latin typeface="Tomorrow" pitchFamily="34" charset="0"/>
                <a:ea typeface="Tomorrow" pitchFamily="34" charset="-122"/>
                <a:cs typeface="Tomorrow" pitchFamily="34" charset="-120"/>
              </a:rPr>
              <a:t> was open — a TCP-only scan would find nothing. We walked the SNMP MIB tree and found flags in process arguments and a </a:t>
            </a:r>
            <a:pPr algn="r" indent="0" marL="0">
              <a:lnSpc>
                <a:spcPts val="2300"/>
              </a:lnSpc>
              <a:buNone/>
            </a:pPr>
            <a:r>
              <a:rPr lang="en-US" sz="1450" b="1" dirty="0">
                <a:solidFill>
                  <a:srgbClr val="C9C9C0"/>
                </a:solidFill>
                <a:latin typeface="Tomorrow" pitchFamily="34" charset="0"/>
                <a:ea typeface="Tomorrow" pitchFamily="34" charset="-122"/>
                <a:cs typeface="Tomorrow" pitchFamily="34" charset="-120"/>
              </a:rPr>
              <a:t>custom vendor OID</a:t>
            </a:r>
            <a:pPr algn="r" indent="0" marL="0">
              <a:lnSpc>
                <a:spcPts val="2300"/>
              </a:lnSpc>
              <a:buNone/>
            </a:pPr>
            <a:r>
              <a:rPr lang="en-US" sz="1450" dirty="0">
                <a:solidFill>
                  <a:srgbClr val="C9C9C0"/>
                </a:solidFill>
                <a:latin typeface="Tomorrow" pitchFamily="34" charset="0"/>
                <a:ea typeface="Tomorrow" pitchFamily="34" charset="-122"/>
                <a:cs typeface="Tomorrow" pitchFamily="34" charset="-120"/>
              </a:rPr>
              <a:t> hinted at in the sysLocation field. Flag: </a:t>
            </a:r>
            <a:pPr algn="r" indent="0" marL="0">
              <a:lnSpc>
                <a:spcPts val="2300"/>
              </a:lnSpc>
              <a:buNone/>
            </a:pPr>
            <a:r>
              <a:rPr lang="en-US" sz="1450" dirty="0">
                <a:solidFill>
                  <a:srgbClr val="C9C9C0"/>
                </a:solidFill>
                <a:highlight>
                  <a:srgbClr val="2A2A28"/>
                </a:highlight>
                <a:latin typeface="Consolas" pitchFamily="34" charset="0"/>
                <a:ea typeface="Consolas" pitchFamily="34" charset="-122"/>
                <a:cs typeface="Consolas" pitchFamily="34" charset="-120"/>
              </a:rPr>
              <a:t>SKY-SCAN-9747</a:t>
            </a:r>
            <a:pPr algn="r" indent="0" marL="0">
              <a:lnSpc>
                <a:spcPts val="2300"/>
              </a:lnSpc>
              <a:buNone/>
            </a:pPr>
            <a:r>
              <a:rPr lang="en-US" sz="1450" dirty="0">
                <a:solidFill>
                  <a:srgbClr val="C9C9C0"/>
                </a:solidFill>
                <a:latin typeface="Tomorrow" pitchFamily="34" charset="0"/>
                <a:ea typeface="Tomorrow" pitchFamily="34" charset="-122"/>
                <a:cs typeface="Tomorrow" pitchFamily="34" charset="-120"/>
              </a:rPr>
              <a:t>.</a:t>
            </a:r>
            <a:endParaRPr lang="en-US" sz="1450" dirty="0"/>
          </a:p>
        </p:txBody>
      </p:sp>
      <p:sp>
        <p:nvSpPr>
          <p:cNvPr id="22" name="Text 20"/>
          <p:cNvSpPr/>
          <p:nvPr/>
        </p:nvSpPr>
        <p:spPr>
          <a:xfrm>
            <a:off x="793790" y="7137202"/>
            <a:ext cx="13042821" cy="294203"/>
          </a:xfrm>
          <a:prstGeom prst="rect">
            <a:avLst/>
          </a:prstGeom>
          <a:noFill/>
          <a:ln/>
        </p:spPr>
        <p:txBody>
          <a:bodyPr wrap="none" lIns="0" tIns="0" rIns="0" bIns="0" rtlCol="0" anchor="t"/>
          <a:lstStyle/>
          <a:p>
            <a:pPr algn="l" indent="0" marL="0">
              <a:lnSpc>
                <a:spcPts val="2300"/>
              </a:lnSpc>
              <a:buNone/>
            </a:pPr>
            <a:r>
              <a:rPr lang="en-US" sz="1450" b="1" dirty="0">
                <a:solidFill>
                  <a:srgbClr val="C9C9C0"/>
                </a:solidFill>
                <a:latin typeface="Tomorrow" pitchFamily="34" charset="0"/>
                <a:ea typeface="Tomorrow" pitchFamily="34" charset="-122"/>
                <a:cs typeface="Tomorrow" pitchFamily="34" charset="-120"/>
              </a:rPr>
              <a:t>Key tools:</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nmap (TCP and UDP!), ldapsearch, snmpwalk, git (log, diff, grep), netcat</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93790" y="1027152"/>
            <a:ext cx="1430060" cy="255984"/>
          </a:xfrm>
          <a:prstGeom prst="roundRect">
            <a:avLst>
              <a:gd name="adj" fmla="val 6978"/>
            </a:avLst>
          </a:prstGeom>
          <a:solidFill>
            <a:srgbClr val="272725"/>
          </a:solidFill>
          <a:ln/>
        </p:spPr>
      </p:sp>
      <p:sp>
        <p:nvSpPr>
          <p:cNvPr id="3" name="Text 1"/>
          <p:cNvSpPr/>
          <p:nvPr/>
        </p:nvSpPr>
        <p:spPr>
          <a:xfrm>
            <a:off x="883087" y="1071801"/>
            <a:ext cx="1251466" cy="166688"/>
          </a:xfrm>
          <a:prstGeom prst="rect">
            <a:avLst/>
          </a:prstGeom>
          <a:noFill/>
          <a:ln/>
        </p:spPr>
        <p:txBody>
          <a:bodyPr wrap="none" lIns="0" tIns="0" rIns="0" bIns="0" rtlCol="0" anchor="t"/>
          <a:lstStyle/>
          <a:p>
            <a:pPr algn="l" indent="0" marL="0">
              <a:lnSpc>
                <a:spcPts val="1300"/>
              </a:lnSpc>
              <a:buNone/>
            </a:pPr>
            <a:r>
              <a:rPr lang="en-US" sz="900" dirty="0">
                <a:solidFill>
                  <a:srgbClr val="C9C9C0"/>
                </a:solidFill>
                <a:latin typeface="Tomorrow" pitchFamily="34" charset="0"/>
                <a:ea typeface="Tomorrow" pitchFamily="34" charset="-122"/>
                <a:cs typeface="Tomorrow" pitchFamily="34" charset="-120"/>
              </a:rPr>
              <a:t>CATEGORY DEEP DIVE</a:t>
            </a:r>
            <a:endParaRPr lang="en-US" sz="900" dirty="0"/>
          </a:p>
        </p:txBody>
      </p:sp>
      <p:sp>
        <p:nvSpPr>
          <p:cNvPr id="4" name="Text 2"/>
          <p:cNvSpPr/>
          <p:nvPr/>
        </p:nvSpPr>
        <p:spPr>
          <a:xfrm>
            <a:off x="793790" y="1327785"/>
            <a:ext cx="5392817" cy="465177"/>
          </a:xfrm>
          <a:prstGeom prst="rect">
            <a:avLst/>
          </a:prstGeom>
          <a:noFill/>
          <a:ln/>
        </p:spPr>
        <p:txBody>
          <a:bodyPr wrap="none" lIns="0" tIns="0" rIns="0" bIns="0" rtlCol="0" anchor="t"/>
          <a:lstStyle/>
          <a:p>
            <a:pPr algn="l" indent="0" marL="0">
              <a:lnSpc>
                <a:spcPts val="3650"/>
              </a:lnSpc>
              <a:buNone/>
            </a:pPr>
            <a:r>
              <a:rPr lang="en-US" sz="2900" dirty="0">
                <a:solidFill>
                  <a:srgbClr val="EDEDE8"/>
                </a:solidFill>
                <a:latin typeface="Tomorrow Semi Bold" pitchFamily="34" charset="0"/>
                <a:ea typeface="Tomorrow Semi Bold" pitchFamily="34" charset="-122"/>
                <a:cs typeface="Tomorrow Semi Bold" pitchFamily="34" charset="-120"/>
              </a:rPr>
              <a:t>Web Application Exploitation</a:t>
            </a:r>
            <a:endParaRPr lang="en-US" sz="2900" dirty="0"/>
          </a:p>
        </p:txBody>
      </p:sp>
      <p:sp>
        <p:nvSpPr>
          <p:cNvPr id="5" name="Text 3"/>
          <p:cNvSpPr/>
          <p:nvPr/>
        </p:nvSpPr>
        <p:spPr>
          <a:xfrm>
            <a:off x="793790" y="1960364"/>
            <a:ext cx="13042821" cy="416719"/>
          </a:xfrm>
          <a:prstGeom prst="rect">
            <a:avLst/>
          </a:prstGeom>
          <a:noFill/>
          <a:ln/>
        </p:spPr>
        <p:txBody>
          <a:bodyPr wrap="square" lIns="0" tIns="0" rIns="0" bIns="0" rtlCol="0" anchor="t"/>
          <a:lstStyle/>
          <a:p>
            <a:pPr algn="l" indent="0" marL="0">
              <a:lnSpc>
                <a:spcPts val="1600"/>
              </a:lnSpc>
              <a:buNone/>
            </a:pPr>
            <a:r>
              <a:rPr lang="en-US" sz="1150" b="1" dirty="0">
                <a:solidFill>
                  <a:srgbClr val="C9C9C0"/>
                </a:solidFill>
                <a:latin typeface="Tomorrow" pitchFamily="34" charset="0"/>
                <a:ea typeface="Tomorrow" pitchFamily="34" charset="-122"/>
                <a:cs typeface="Tomorrow" pitchFamily="34" charset="-120"/>
              </a:rPr>
              <a:t>What it is:</a:t>
            </a:r>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 Finding and exploiting vulnerabilities in web applications. Learn to use your </a:t>
            </a:r>
            <a:pPr algn="l" indent="0" marL="0">
              <a:lnSpc>
                <a:spcPts val="1600"/>
              </a:lnSpc>
              <a:buNone/>
            </a:pPr>
            <a:r>
              <a:rPr lang="en-US" sz="1150" b="1" dirty="0">
                <a:solidFill>
                  <a:srgbClr val="C9C9C0"/>
                </a:solidFill>
                <a:latin typeface="Tomorrow" pitchFamily="34" charset="0"/>
                <a:ea typeface="Tomorrow" pitchFamily="34" charset="-122"/>
                <a:cs typeface="Tomorrow" pitchFamily="34" charset="-120"/>
              </a:rPr>
              <a:t>browser's developer tools</a:t>
            </a:r>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 — they're the most accessible hacking tool you already have. Understand the basics of how web requests work (GET, POST, cookies, headers).</a:t>
            </a:r>
            <a:endParaRPr lang="en-US" sz="1150" dirty="0"/>
          </a:p>
        </p:txBody>
      </p:sp>
      <p:sp>
        <p:nvSpPr>
          <p:cNvPr id="6" name="Shape 4"/>
          <p:cNvSpPr/>
          <p:nvPr/>
        </p:nvSpPr>
        <p:spPr>
          <a:xfrm>
            <a:off x="793790" y="2628067"/>
            <a:ext cx="7010043" cy="1297305"/>
          </a:xfrm>
          <a:prstGeom prst="roundRect">
            <a:avLst>
              <a:gd name="adj" fmla="val 5639"/>
            </a:avLst>
          </a:prstGeom>
          <a:solidFill>
            <a:srgbClr val="1D1D1B"/>
          </a:solidFill>
          <a:ln w="15240">
            <a:solidFill>
              <a:srgbClr val="555553"/>
            </a:solidFill>
            <a:prstDash val="solid"/>
          </a:ln>
        </p:spPr>
      </p:sp>
      <p:sp>
        <p:nvSpPr>
          <p:cNvPr id="7" name="Shape 5"/>
          <p:cNvSpPr/>
          <p:nvPr/>
        </p:nvSpPr>
        <p:spPr>
          <a:xfrm>
            <a:off x="778550" y="2628067"/>
            <a:ext cx="60960" cy="1297305"/>
          </a:xfrm>
          <a:prstGeom prst="roundRect">
            <a:avLst>
              <a:gd name="adj" fmla="val 36628"/>
            </a:avLst>
          </a:prstGeom>
          <a:solidFill>
            <a:srgbClr val="E1E1DF"/>
          </a:solidFill>
          <a:ln/>
        </p:spPr>
      </p:sp>
      <p:sp>
        <p:nvSpPr>
          <p:cNvPr id="8" name="Text 6"/>
          <p:cNvSpPr/>
          <p:nvPr/>
        </p:nvSpPr>
        <p:spPr>
          <a:xfrm>
            <a:off x="3121104" y="2792135"/>
            <a:ext cx="2401014" cy="232529"/>
          </a:xfrm>
          <a:prstGeom prst="rect">
            <a:avLst/>
          </a:prstGeom>
          <a:noFill/>
          <a:ln/>
        </p:spPr>
        <p:txBody>
          <a:bodyPr wrap="none" lIns="0" tIns="0" rIns="0" bIns="0" rtlCol="0" anchor="t"/>
          <a:lstStyle/>
          <a:p>
            <a:pPr algn="ctr" indent="0" marL="0">
              <a:lnSpc>
                <a:spcPts val="1800"/>
              </a:lnSpc>
              <a:buNone/>
            </a:pPr>
            <a:r>
              <a:rPr lang="en-US" sz="1450" dirty="0">
                <a:solidFill>
                  <a:srgbClr val="C9C9C0"/>
                </a:solidFill>
                <a:latin typeface="Tomorrow Semi Bold" pitchFamily="34" charset="0"/>
                <a:ea typeface="Tomorrow Semi Bold" pitchFamily="34" charset="-122"/>
                <a:cs typeface="Tomorrow Semi Bold" pitchFamily="34" charset="-120"/>
              </a:rPr>
              <a:t>Something's Fishy (Easy)</a:t>
            </a:r>
            <a:endParaRPr lang="en-US" sz="1450" dirty="0"/>
          </a:p>
        </p:txBody>
      </p:sp>
      <p:sp>
        <p:nvSpPr>
          <p:cNvPr id="9" name="Text 7"/>
          <p:cNvSpPr/>
          <p:nvPr/>
        </p:nvSpPr>
        <p:spPr>
          <a:xfrm>
            <a:off x="1003578" y="3136225"/>
            <a:ext cx="6636187" cy="625078"/>
          </a:xfrm>
          <a:prstGeom prst="rect">
            <a:avLst/>
          </a:prstGeom>
          <a:noFill/>
          <a:ln/>
        </p:spPr>
        <p:txBody>
          <a:bodyPr wrap="square" lIns="0" tIns="0" rIns="0" bIns="0" rtlCol="0" anchor="t"/>
          <a:lstStyle/>
          <a:p>
            <a:pPr algn="ctr" indent="0" marL="0">
              <a:lnSpc>
                <a:spcPts val="1600"/>
              </a:lnSpc>
              <a:buNone/>
            </a:pPr>
            <a:r>
              <a:rPr lang="en-US" sz="1150" dirty="0">
                <a:solidFill>
                  <a:srgbClr val="C9C9C0"/>
                </a:solidFill>
                <a:latin typeface="Tomorrow" pitchFamily="34" charset="0"/>
                <a:ea typeface="Tomorrow" pitchFamily="34" charset="-122"/>
                <a:cs typeface="Tomorrow" pitchFamily="34" charset="-120"/>
              </a:rPr>
              <a:t>A fishing browser game with a high score of 1000. The game submitted scores via POST to </a:t>
            </a:r>
            <a:pPr algn="ctr" indent="0" marL="0">
              <a:lnSpc>
                <a:spcPts val="1600"/>
              </a:lnSpc>
              <a:buNone/>
            </a:pPr>
            <a:r>
              <a:rPr lang="en-US" sz="1150" dirty="0">
                <a:solidFill>
                  <a:srgbClr val="C9C9C0"/>
                </a:solidFill>
                <a:highlight>
                  <a:srgbClr val="2A2A28"/>
                </a:highlight>
                <a:latin typeface="Consolas" pitchFamily="34" charset="0"/>
                <a:ea typeface="Consolas" pitchFamily="34" charset="-122"/>
                <a:cs typeface="Consolas" pitchFamily="34" charset="-120"/>
              </a:rPr>
              <a:t>/score</a:t>
            </a:r>
            <a:pPr algn="ctr" indent="0" marL="0">
              <a:lnSpc>
                <a:spcPts val="1600"/>
              </a:lnSpc>
              <a:buNone/>
            </a:pPr>
            <a:r>
              <a:rPr lang="en-US" sz="1150" dirty="0">
                <a:solidFill>
                  <a:srgbClr val="C9C9C0"/>
                </a:solidFill>
                <a:latin typeface="Tomorrow" pitchFamily="34" charset="0"/>
                <a:ea typeface="Tomorrow" pitchFamily="34" charset="-122"/>
                <a:cs typeface="Tomorrow" pitchFamily="34" charset="-120"/>
              </a:rPr>
              <a:t> with </a:t>
            </a:r>
            <a:pPr algn="ctr" indent="0" marL="0">
              <a:lnSpc>
                <a:spcPts val="1600"/>
              </a:lnSpc>
              <a:buNone/>
            </a:pPr>
            <a:r>
              <a:rPr lang="en-US" sz="1150" b="1" dirty="0">
                <a:solidFill>
                  <a:srgbClr val="C9C9C0"/>
                </a:solidFill>
                <a:latin typeface="Tomorrow" pitchFamily="34" charset="0"/>
                <a:ea typeface="Tomorrow" pitchFamily="34" charset="-122"/>
                <a:cs typeface="Tomorrow" pitchFamily="34" charset="-120"/>
              </a:rPr>
              <a:t>no server-side validation</a:t>
            </a:r>
            <a:pPr algn="ctr" indent="0" marL="0">
              <a:lnSpc>
                <a:spcPts val="1600"/>
              </a:lnSpc>
              <a:buNone/>
            </a:pPr>
            <a:r>
              <a:rPr lang="en-US" sz="1150" dirty="0">
                <a:solidFill>
                  <a:srgbClr val="C9C9C0"/>
                </a:solidFill>
                <a:latin typeface="Tomorrow" pitchFamily="34" charset="0"/>
                <a:ea typeface="Tomorrow" pitchFamily="34" charset="-122"/>
                <a:cs typeface="Tomorrow" pitchFamily="34" charset="-120"/>
              </a:rPr>
              <a:t>. We sent our own request with score 1001 from the browser console. Flag: </a:t>
            </a:r>
            <a:pPr algn="ctr" indent="0" marL="0">
              <a:lnSpc>
                <a:spcPts val="1600"/>
              </a:lnSpc>
              <a:buNone/>
            </a:pPr>
            <a:r>
              <a:rPr lang="en-US" sz="1150" dirty="0">
                <a:solidFill>
                  <a:srgbClr val="C9C9C0"/>
                </a:solidFill>
                <a:highlight>
                  <a:srgbClr val="2A2A28"/>
                </a:highlight>
                <a:latin typeface="Consolas" pitchFamily="34" charset="0"/>
                <a:ea typeface="Consolas" pitchFamily="34" charset="-122"/>
                <a:cs typeface="Consolas" pitchFamily="34" charset="-120"/>
              </a:rPr>
              <a:t>SKY-ODES-6571</a:t>
            </a:r>
            <a:pPr algn="ctr" indent="0" marL="0">
              <a:lnSpc>
                <a:spcPts val="1600"/>
              </a:lnSpc>
              <a:buNone/>
            </a:pPr>
            <a:r>
              <a:rPr lang="en-US" sz="1150" dirty="0">
                <a:solidFill>
                  <a:srgbClr val="C9C9C0"/>
                </a:solidFill>
                <a:latin typeface="Tomorrow" pitchFamily="34" charset="0"/>
                <a:ea typeface="Tomorrow" pitchFamily="34" charset="-122"/>
                <a:cs typeface="Tomorrow" pitchFamily="34" charset="-120"/>
              </a:rPr>
              <a:t>.</a:t>
            </a:r>
            <a:endParaRPr lang="en-US" sz="1150" dirty="0"/>
          </a:p>
        </p:txBody>
      </p:sp>
      <p:sp>
        <p:nvSpPr>
          <p:cNvPr id="10" name="Shape 8"/>
          <p:cNvSpPr/>
          <p:nvPr/>
        </p:nvSpPr>
        <p:spPr>
          <a:xfrm>
            <a:off x="793790" y="4036933"/>
            <a:ext cx="7010043" cy="1297305"/>
          </a:xfrm>
          <a:prstGeom prst="roundRect">
            <a:avLst>
              <a:gd name="adj" fmla="val 5639"/>
            </a:avLst>
          </a:prstGeom>
          <a:solidFill>
            <a:srgbClr val="1D1D1B"/>
          </a:solidFill>
          <a:ln w="15240">
            <a:solidFill>
              <a:srgbClr val="555553"/>
            </a:solidFill>
            <a:prstDash val="solid"/>
          </a:ln>
        </p:spPr>
      </p:sp>
      <p:sp>
        <p:nvSpPr>
          <p:cNvPr id="11" name="Shape 9"/>
          <p:cNvSpPr/>
          <p:nvPr/>
        </p:nvSpPr>
        <p:spPr>
          <a:xfrm>
            <a:off x="778550" y="4036933"/>
            <a:ext cx="60960" cy="1297305"/>
          </a:xfrm>
          <a:prstGeom prst="roundRect">
            <a:avLst>
              <a:gd name="adj" fmla="val 36628"/>
            </a:avLst>
          </a:prstGeom>
          <a:solidFill>
            <a:srgbClr val="E1E1DF"/>
          </a:solidFill>
          <a:ln/>
        </p:spPr>
      </p:sp>
      <p:sp>
        <p:nvSpPr>
          <p:cNvPr id="12" name="Text 10"/>
          <p:cNvSpPr/>
          <p:nvPr/>
        </p:nvSpPr>
        <p:spPr>
          <a:xfrm>
            <a:off x="3391376" y="4201001"/>
            <a:ext cx="1860590" cy="232529"/>
          </a:xfrm>
          <a:prstGeom prst="rect">
            <a:avLst/>
          </a:prstGeom>
          <a:noFill/>
          <a:ln/>
        </p:spPr>
        <p:txBody>
          <a:bodyPr wrap="none" lIns="0" tIns="0" rIns="0" bIns="0" rtlCol="0" anchor="t"/>
          <a:lstStyle/>
          <a:p>
            <a:pPr algn="ctr" indent="0" marL="0">
              <a:lnSpc>
                <a:spcPts val="1800"/>
              </a:lnSpc>
              <a:buNone/>
            </a:pPr>
            <a:r>
              <a:rPr lang="en-US" sz="1450" dirty="0">
                <a:solidFill>
                  <a:srgbClr val="C9C9C0"/>
                </a:solidFill>
                <a:latin typeface="Tomorrow Semi Bold" pitchFamily="34" charset="0"/>
                <a:ea typeface="Tomorrow Semi Bold" pitchFamily="34" charset="-122"/>
                <a:cs typeface="Tomorrow Semi Bold" pitchFamily="34" charset="-120"/>
              </a:rPr>
              <a:t>Picto (Medium)</a:t>
            </a:r>
            <a:endParaRPr lang="en-US" sz="1450" dirty="0"/>
          </a:p>
        </p:txBody>
      </p:sp>
      <p:sp>
        <p:nvSpPr>
          <p:cNvPr id="13" name="Text 11"/>
          <p:cNvSpPr/>
          <p:nvPr/>
        </p:nvSpPr>
        <p:spPr>
          <a:xfrm>
            <a:off x="1003578" y="4545092"/>
            <a:ext cx="6636187" cy="625078"/>
          </a:xfrm>
          <a:prstGeom prst="rect">
            <a:avLst/>
          </a:prstGeom>
          <a:noFill/>
          <a:ln/>
        </p:spPr>
        <p:txBody>
          <a:bodyPr wrap="square" lIns="0" tIns="0" rIns="0" bIns="0" rtlCol="0" anchor="t"/>
          <a:lstStyle/>
          <a:p>
            <a:pPr algn="ctr" indent="0" marL="0">
              <a:lnSpc>
                <a:spcPts val="1600"/>
              </a:lnSpc>
              <a:buNone/>
            </a:pPr>
            <a:r>
              <a:rPr lang="en-US" sz="1150" dirty="0">
                <a:solidFill>
                  <a:srgbClr val="C9C9C0"/>
                </a:solidFill>
                <a:latin typeface="Tomorrow" pitchFamily="34" charset="0"/>
                <a:ea typeface="Tomorrow" pitchFamily="34" charset="-122"/>
                <a:cs typeface="Tomorrow" pitchFamily="34" charset="-120"/>
              </a:rPr>
              <a:t>A WebSocket-based chat and drawing app. Exploit </a:t>
            </a:r>
            <a:pPr algn="ctr" indent="0" marL="0">
              <a:lnSpc>
                <a:spcPts val="1600"/>
              </a:lnSpc>
              <a:buNone/>
            </a:pPr>
            <a:r>
              <a:rPr lang="en-US" sz="1150" b="1" dirty="0">
                <a:solidFill>
                  <a:srgbClr val="C9C9C0"/>
                </a:solidFill>
                <a:latin typeface="Tomorrow" pitchFamily="34" charset="0"/>
                <a:ea typeface="Tomorrow" pitchFamily="34" charset="-122"/>
                <a:cs typeface="Tomorrow" pitchFamily="34" charset="-120"/>
              </a:rPr>
              <a:t>cross-site scripting (XSS)</a:t>
            </a:r>
            <a:pPr algn="ctr" indent="0" marL="0">
              <a:lnSpc>
                <a:spcPts val="1600"/>
              </a:lnSpc>
              <a:buNone/>
            </a:pPr>
            <a:r>
              <a:rPr lang="en-US" sz="1150" dirty="0">
                <a:solidFill>
                  <a:srgbClr val="C9C9C0"/>
                </a:solidFill>
                <a:latin typeface="Tomorrow" pitchFamily="34" charset="0"/>
                <a:ea typeface="Tomorrow" pitchFamily="34" charset="-122"/>
                <a:cs typeface="Tomorrow" pitchFamily="34" charset="-120"/>
              </a:rPr>
              <a:t> through WebSocket messages to steal the admin's localStorage data. Required bypassing a sanitization library.</a:t>
            </a:r>
            <a:endParaRPr lang="en-US" sz="1150" dirty="0"/>
          </a:p>
        </p:txBody>
      </p:sp>
      <p:sp>
        <p:nvSpPr>
          <p:cNvPr id="14" name="Shape 12"/>
          <p:cNvSpPr/>
          <p:nvPr/>
        </p:nvSpPr>
        <p:spPr>
          <a:xfrm>
            <a:off x="793790" y="5445800"/>
            <a:ext cx="7010043" cy="1297305"/>
          </a:xfrm>
          <a:prstGeom prst="roundRect">
            <a:avLst>
              <a:gd name="adj" fmla="val 5639"/>
            </a:avLst>
          </a:prstGeom>
          <a:solidFill>
            <a:srgbClr val="1D1D1B"/>
          </a:solidFill>
          <a:ln w="15240">
            <a:solidFill>
              <a:srgbClr val="555553"/>
            </a:solidFill>
            <a:prstDash val="solid"/>
          </a:ln>
        </p:spPr>
      </p:sp>
      <p:sp>
        <p:nvSpPr>
          <p:cNvPr id="15" name="Shape 13"/>
          <p:cNvSpPr/>
          <p:nvPr/>
        </p:nvSpPr>
        <p:spPr>
          <a:xfrm>
            <a:off x="778550" y="5445800"/>
            <a:ext cx="60960" cy="1297305"/>
          </a:xfrm>
          <a:prstGeom prst="roundRect">
            <a:avLst>
              <a:gd name="adj" fmla="val 36628"/>
            </a:avLst>
          </a:prstGeom>
          <a:solidFill>
            <a:srgbClr val="E1E1DF"/>
          </a:solidFill>
          <a:ln/>
        </p:spPr>
      </p:sp>
      <p:sp>
        <p:nvSpPr>
          <p:cNvPr id="16" name="Text 14"/>
          <p:cNvSpPr/>
          <p:nvPr/>
        </p:nvSpPr>
        <p:spPr>
          <a:xfrm>
            <a:off x="2905839" y="5609868"/>
            <a:ext cx="2831663" cy="232529"/>
          </a:xfrm>
          <a:prstGeom prst="rect">
            <a:avLst/>
          </a:prstGeom>
          <a:noFill/>
          <a:ln/>
        </p:spPr>
        <p:txBody>
          <a:bodyPr wrap="none" lIns="0" tIns="0" rIns="0" bIns="0" rtlCol="0" anchor="t"/>
          <a:lstStyle/>
          <a:p>
            <a:pPr algn="ctr" indent="0" marL="0">
              <a:lnSpc>
                <a:spcPts val="1800"/>
              </a:lnSpc>
              <a:buNone/>
            </a:pPr>
            <a:r>
              <a:rPr lang="en-US" sz="1450" dirty="0">
                <a:solidFill>
                  <a:srgbClr val="C9C9C0"/>
                </a:solidFill>
                <a:latin typeface="Tomorrow Semi Bold" pitchFamily="34" charset="0"/>
                <a:ea typeface="Tomorrow Semi Bold" pitchFamily="34" charset="-122"/>
                <a:cs typeface="Tomorrow Semi Bold" pitchFamily="34" charset="-120"/>
              </a:rPr>
              <a:t>The Cucumber's Secret (Hard)</a:t>
            </a:r>
            <a:endParaRPr lang="en-US" sz="1450" dirty="0"/>
          </a:p>
        </p:txBody>
      </p:sp>
      <p:sp>
        <p:nvSpPr>
          <p:cNvPr id="17" name="Text 15"/>
          <p:cNvSpPr/>
          <p:nvPr/>
        </p:nvSpPr>
        <p:spPr>
          <a:xfrm>
            <a:off x="1003578" y="5953958"/>
            <a:ext cx="6636187" cy="625078"/>
          </a:xfrm>
          <a:prstGeom prst="rect">
            <a:avLst/>
          </a:prstGeom>
          <a:noFill/>
          <a:ln/>
        </p:spPr>
        <p:txBody>
          <a:bodyPr wrap="square" lIns="0" tIns="0" rIns="0" bIns="0" rtlCol="0" anchor="t"/>
          <a:lstStyle/>
          <a:p>
            <a:pPr algn="ctr" indent="0" marL="0">
              <a:lnSpc>
                <a:spcPts val="1600"/>
              </a:lnSpc>
              <a:buNone/>
            </a:pPr>
            <a:r>
              <a:rPr lang="en-US" sz="1150" dirty="0">
                <a:solidFill>
                  <a:srgbClr val="C9C9C0"/>
                </a:solidFill>
                <a:latin typeface="Tomorrow" pitchFamily="34" charset="0"/>
                <a:ea typeface="Tomorrow" pitchFamily="34" charset="-122"/>
                <a:cs typeface="Tomorrow" pitchFamily="34" charset="-120"/>
              </a:rPr>
              <a:t>A Python web app with </a:t>
            </a:r>
            <a:pPr algn="ctr" indent="0" marL="0">
              <a:lnSpc>
                <a:spcPts val="1600"/>
              </a:lnSpc>
              <a:buNone/>
            </a:pPr>
            <a:r>
              <a:rPr lang="en-US" sz="1150" b="1" dirty="0">
                <a:solidFill>
                  <a:srgbClr val="C9C9C0"/>
                </a:solidFill>
                <a:latin typeface="Tomorrow" pitchFamily="34" charset="0"/>
                <a:ea typeface="Tomorrow" pitchFamily="34" charset="-122"/>
                <a:cs typeface="Tomorrow" pitchFamily="34" charset="-120"/>
              </a:rPr>
              <a:t>insecure deserialization</a:t>
            </a:r>
            <a:pPr algn="ctr" indent="0" marL="0">
              <a:lnSpc>
                <a:spcPts val="1600"/>
              </a:lnSpc>
              <a:buNone/>
            </a:pPr>
            <a:r>
              <a:rPr lang="en-US" sz="1150" dirty="0">
                <a:solidFill>
                  <a:srgbClr val="C9C9C0"/>
                </a:solidFill>
                <a:latin typeface="Tomorrow" pitchFamily="34" charset="0"/>
                <a:ea typeface="Tomorrow" pitchFamily="34" charset="-122"/>
                <a:cs typeface="Tomorrow" pitchFamily="34" charset="-120"/>
              </a:rPr>
              <a:t>. The name is the hint — cucumber → pickle. Exploiting Python pickle deserialization can give you RCE. This is an </a:t>
            </a:r>
            <a:pPr algn="ctr" indent="0" marL="0">
              <a:lnSpc>
                <a:spcPts val="1600"/>
              </a:lnSpc>
              <a:buNone/>
            </a:pPr>
            <a:r>
              <a:rPr lang="en-US" sz="1150" b="1" dirty="0">
                <a:solidFill>
                  <a:srgbClr val="C9C9C0"/>
                </a:solidFill>
                <a:latin typeface="Tomorrow" pitchFamily="34" charset="0"/>
                <a:ea typeface="Tomorrow" pitchFamily="34" charset="-122"/>
                <a:cs typeface="Tomorrow" pitchFamily="34" charset="-120"/>
              </a:rPr>
              <a:t>OWASP Top 10</a:t>
            </a:r>
            <a:pPr algn="ctr" indent="0" marL="0">
              <a:lnSpc>
                <a:spcPts val="1600"/>
              </a:lnSpc>
              <a:buNone/>
            </a:pPr>
            <a:r>
              <a:rPr lang="en-US" sz="1150" dirty="0">
                <a:solidFill>
                  <a:srgbClr val="C9C9C0"/>
                </a:solidFill>
                <a:latin typeface="Tomorrow" pitchFamily="34" charset="0"/>
                <a:ea typeface="Tomorrow" pitchFamily="34" charset="-122"/>
                <a:cs typeface="Tomorrow" pitchFamily="34" charset="-120"/>
              </a:rPr>
              <a:t> vulnerability.</a:t>
            </a:r>
            <a:endParaRPr lang="en-US" sz="1150" dirty="0"/>
          </a:p>
        </p:txBody>
      </p:sp>
      <p:pic>
        <p:nvPicPr>
          <p:cNvPr id="18" name="Image 0" descr="preencoded.png">    </p:cNvPr>
          <p:cNvPicPr>
            <a:picLocks noChangeAspect="1"/>
          </p:cNvPicPr>
          <p:nvPr/>
        </p:nvPicPr>
        <p:blipFill>
          <a:blip r:embed="rId1"/>
          <a:stretch>
            <a:fillRect/>
          </a:stretch>
        </p:blipFill>
        <p:spPr>
          <a:xfrm>
            <a:off x="8174593" y="2628067"/>
            <a:ext cx="2286000" cy="2286000"/>
          </a:xfrm>
          <a:prstGeom prst="rect">
            <a:avLst/>
          </a:prstGeom>
        </p:spPr>
      </p:pic>
      <p:sp>
        <p:nvSpPr>
          <p:cNvPr id="19" name="Shape 16"/>
          <p:cNvSpPr/>
          <p:nvPr/>
        </p:nvSpPr>
        <p:spPr>
          <a:xfrm>
            <a:off x="8174593" y="5039558"/>
            <a:ext cx="5669518" cy="956191"/>
          </a:xfrm>
          <a:prstGeom prst="roundRect">
            <a:avLst>
              <a:gd name="adj" fmla="val 2335"/>
            </a:avLst>
          </a:prstGeom>
          <a:solidFill>
            <a:srgbClr val="272725"/>
          </a:solidFill>
          <a:ln/>
        </p:spPr>
      </p:sp>
      <p:pic>
        <p:nvPicPr>
          <p:cNvPr id="20" name="Image 1" descr="preencoded.png">    </p:cNvPr>
          <p:cNvPicPr>
            <a:picLocks noChangeAspect="1"/>
          </p:cNvPicPr>
          <p:nvPr/>
        </p:nvPicPr>
        <p:blipFill>
          <a:blip r:embed="rId2"/>
          <a:stretch>
            <a:fillRect/>
          </a:stretch>
        </p:blipFill>
        <p:spPr>
          <a:xfrm>
            <a:off x="8323421" y="5255300"/>
            <a:ext cx="185976" cy="148828"/>
          </a:xfrm>
          <a:prstGeom prst="rect">
            <a:avLst/>
          </a:prstGeom>
        </p:spPr>
      </p:pic>
      <p:sp>
        <p:nvSpPr>
          <p:cNvPr id="21" name="Text 17"/>
          <p:cNvSpPr/>
          <p:nvPr/>
        </p:nvSpPr>
        <p:spPr>
          <a:xfrm>
            <a:off x="8658225" y="5188268"/>
            <a:ext cx="5037058" cy="632698"/>
          </a:xfrm>
          <a:prstGeom prst="rect">
            <a:avLst/>
          </a:prstGeom>
          <a:noFill/>
          <a:ln/>
        </p:spPr>
        <p:txBody>
          <a:bodyPr wrap="square" lIns="0" tIns="0" rIns="0" bIns="0" rtlCol="0" anchor="t"/>
          <a:lstStyle/>
          <a:p>
            <a:pPr algn="l" indent="0" marL="0">
              <a:lnSpc>
                <a:spcPts val="1600"/>
              </a:lnSpc>
              <a:buNone/>
            </a:pPr>
            <a:r>
              <a:rPr lang="en-US" sz="1150" dirty="0">
                <a:solidFill>
                  <a:srgbClr val="000000"/>
                </a:solidFill>
                <a:latin typeface="Tomorrow" pitchFamily="34" charset="0"/>
                <a:ea typeface="Tomorrow" pitchFamily="34" charset="-122"/>
                <a:cs typeface="Tomorrow" pitchFamily="34" charset="-120"/>
              </a:rPr>
              <a:t>💡</a:t>
            </a:r>
            <a:pPr algn="l" indent="0" marL="0">
              <a:lnSpc>
                <a:spcPts val="1600"/>
              </a:lnSpc>
              <a:buNone/>
            </a:pPr>
            <a:r>
              <a:rPr lang="en-US" sz="1150" dirty="0">
                <a:solidFill>
                  <a:srgbClr val="FFFFFF"/>
                </a:solidFill>
                <a:latin typeface="Tomorrow" pitchFamily="34" charset="0"/>
                <a:ea typeface="Tomorrow" pitchFamily="34" charset="-122"/>
                <a:cs typeface="Tomorrow" pitchFamily="34" charset="-120"/>
              </a:rPr>
              <a:t> The Easy web challenges are very approachable for beginners. The source code even had a comment: </a:t>
            </a:r>
            <a:pPr algn="l" indent="0" marL="0">
              <a:lnSpc>
                <a:spcPts val="1600"/>
              </a:lnSpc>
              <a:buNone/>
            </a:pPr>
            <a:r>
              <a:rPr lang="en-US" sz="1150" i="1" dirty="0">
                <a:solidFill>
                  <a:srgbClr val="FFFFFF"/>
                </a:solidFill>
                <a:latin typeface="Tomorrow" pitchFamily="34" charset="0"/>
                <a:ea typeface="Tomorrow" pitchFamily="34" charset="-122"/>
                <a:cs typeface="Tomorrow" pitchFamily="34" charset="-120"/>
              </a:rPr>
              <a:t>"The security engineer said something about this function. Probably wasn't that important..."</a:t>
            </a:r>
            <a:endParaRPr lang="en-US" sz="1150" dirty="0"/>
          </a:p>
        </p:txBody>
      </p:sp>
      <p:sp>
        <p:nvSpPr>
          <p:cNvPr id="22" name="Text 18"/>
          <p:cNvSpPr/>
          <p:nvPr/>
        </p:nvSpPr>
        <p:spPr>
          <a:xfrm>
            <a:off x="793790" y="6994088"/>
            <a:ext cx="13042821" cy="208359"/>
          </a:xfrm>
          <a:prstGeom prst="rect">
            <a:avLst/>
          </a:prstGeom>
          <a:noFill/>
          <a:ln/>
        </p:spPr>
        <p:txBody>
          <a:bodyPr wrap="none" lIns="0" tIns="0" rIns="0" bIns="0" rtlCol="0" anchor="t"/>
          <a:lstStyle/>
          <a:p>
            <a:pPr algn="l" indent="0" marL="0">
              <a:lnSpc>
                <a:spcPts val="1600"/>
              </a:lnSpc>
              <a:buNone/>
            </a:pPr>
            <a:r>
              <a:rPr lang="en-US" sz="1150" b="1" dirty="0">
                <a:solidFill>
                  <a:srgbClr val="C9C9C0"/>
                </a:solidFill>
                <a:latin typeface="Tomorrow" pitchFamily="34" charset="0"/>
                <a:ea typeface="Tomorrow" pitchFamily="34" charset="-122"/>
                <a:cs typeface="Tomorrow" pitchFamily="34" charset="-120"/>
              </a:rPr>
              <a:t>Key tools:</a:t>
            </a:r>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 Browser DevTools (Network tab, Console, Sources), Burp Suite, curl, sqlmap, Gobuster</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793790" y="686038"/>
            <a:ext cx="1907977" cy="373142"/>
          </a:xfrm>
          <a:prstGeom prst="roundRect">
            <a:avLst>
              <a:gd name="adj" fmla="val 6383"/>
            </a:avLst>
          </a:prstGeom>
          <a:solidFill>
            <a:srgbClr val="272725"/>
          </a:solidFill>
          <a:ln/>
        </p:spPr>
      </p:sp>
      <p:sp>
        <p:nvSpPr>
          <p:cNvPr id="3" name="Text 1"/>
          <p:cNvSpPr/>
          <p:nvPr/>
        </p:nvSpPr>
        <p:spPr>
          <a:xfrm>
            <a:off x="912852" y="745569"/>
            <a:ext cx="1669852" cy="254079"/>
          </a:xfrm>
          <a:prstGeom prst="rect">
            <a:avLst/>
          </a:prstGeom>
          <a:noFill/>
          <a:ln/>
        </p:spPr>
        <p:txBody>
          <a:bodyPr wrap="none" lIns="0" tIns="0" rIns="0" bIns="0" rtlCol="0" anchor="t"/>
          <a:lstStyle/>
          <a:p>
            <a:pPr algn="l" indent="0" marL="0">
              <a:lnSpc>
                <a:spcPts val="2000"/>
              </a:lnSpc>
              <a:buNone/>
            </a:pPr>
            <a:r>
              <a:rPr lang="en-US" sz="1250" dirty="0">
                <a:solidFill>
                  <a:srgbClr val="C9C9C0"/>
                </a:solidFill>
                <a:latin typeface="Tomorrow" pitchFamily="34" charset="0"/>
                <a:ea typeface="Tomorrow" pitchFamily="34" charset="-122"/>
                <a:cs typeface="Tomorrow" pitchFamily="34" charset="-120"/>
              </a:rPr>
              <a:t>CATEGORY DEEP DIVE</a:t>
            </a:r>
            <a:endParaRPr lang="en-US" sz="1250" dirty="0"/>
          </a:p>
        </p:txBody>
      </p:sp>
      <p:sp>
        <p:nvSpPr>
          <p:cNvPr id="4" name="Text 2"/>
          <p:cNvSpPr/>
          <p:nvPr/>
        </p:nvSpPr>
        <p:spPr>
          <a:xfrm>
            <a:off x="793790" y="1138476"/>
            <a:ext cx="6940987" cy="620078"/>
          </a:xfrm>
          <a:prstGeom prst="rect">
            <a:avLst/>
          </a:prstGeom>
          <a:noFill/>
          <a:ln/>
        </p:spPr>
        <p:txBody>
          <a:bodyPr wrap="none" lIns="0" tIns="0" rIns="0" bIns="0" rtlCol="0" anchor="t"/>
          <a:lstStyle/>
          <a:p>
            <a:pPr algn="l" indent="0" marL="0">
              <a:lnSpc>
                <a:spcPts val="4850"/>
              </a:lnSpc>
              <a:buNone/>
            </a:pPr>
            <a:r>
              <a:rPr lang="en-US" sz="3900" dirty="0">
                <a:solidFill>
                  <a:srgbClr val="EDEDE8"/>
                </a:solidFill>
                <a:latin typeface="Tomorrow Semi Bold" pitchFamily="34" charset="0"/>
                <a:ea typeface="Tomorrow Semi Bold" pitchFamily="34" charset="-122"/>
                <a:cs typeface="Tomorrow Semi Bold" pitchFamily="34" charset="-120"/>
              </a:rPr>
              <a:t>Enumeration &amp; Exploitation</a:t>
            </a:r>
            <a:endParaRPr lang="en-US" sz="3900" dirty="0"/>
          </a:p>
        </p:txBody>
      </p:sp>
      <p:sp>
        <p:nvSpPr>
          <p:cNvPr id="5" name="Text 3"/>
          <p:cNvSpPr/>
          <p:nvPr/>
        </p:nvSpPr>
        <p:spPr>
          <a:xfrm>
            <a:off x="793790" y="2056209"/>
            <a:ext cx="13042821" cy="635079"/>
          </a:xfrm>
          <a:prstGeom prst="rect">
            <a:avLst/>
          </a:prstGeom>
          <a:noFill/>
          <a:ln/>
        </p:spPr>
        <p:txBody>
          <a:bodyPr wrap="square" lIns="0" tIns="0" rIns="0" bIns="0" rtlCol="0" anchor="t"/>
          <a:lstStyle/>
          <a:p>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What it is:</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Reverse engineering binaries, analyzing obfuscated code, exploiting system weaknesses. Ghidra is free and incredibly powerful — even basic skills will help with Medium challenges. Esoteric languages pop up every season.</a:t>
            </a:r>
            <a:endParaRPr lang="en-US" sz="1550" dirty="0"/>
          </a:p>
        </p:txBody>
      </p:sp>
      <p:sp>
        <p:nvSpPr>
          <p:cNvPr id="6" name="Shape 4"/>
          <p:cNvSpPr/>
          <p:nvPr/>
        </p:nvSpPr>
        <p:spPr>
          <a:xfrm>
            <a:off x="793790" y="2914531"/>
            <a:ext cx="6422231" cy="1786176"/>
          </a:xfrm>
          <a:prstGeom prst="roundRect">
            <a:avLst>
              <a:gd name="adj" fmla="val 1667"/>
            </a:avLst>
          </a:prstGeom>
          <a:solidFill>
            <a:srgbClr val="3C3C3A"/>
          </a:solidFill>
          <a:ln/>
        </p:spPr>
      </p:sp>
      <p:sp>
        <p:nvSpPr>
          <p:cNvPr id="7" name="Text 5"/>
          <p:cNvSpPr/>
          <p:nvPr/>
        </p:nvSpPr>
        <p:spPr>
          <a:xfrm>
            <a:off x="992148" y="3112889"/>
            <a:ext cx="2728913" cy="310158"/>
          </a:xfrm>
          <a:prstGeom prst="rect">
            <a:avLst/>
          </a:prstGeom>
          <a:noFill/>
          <a:ln/>
        </p:spPr>
        <p:txBody>
          <a:bodyPr wrap="none" lIns="0" tIns="0" rIns="0" bIns="0" rtlCol="0" anchor="t"/>
          <a:lstStyle/>
          <a:p>
            <a:pPr algn="l" indent="0" marL="0">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Cooking Lunch (Easy)</a:t>
            </a:r>
            <a:endParaRPr lang="en-US" sz="1950" dirty="0"/>
          </a:p>
        </p:txBody>
      </p:sp>
      <p:sp>
        <p:nvSpPr>
          <p:cNvPr id="8" name="Text 6"/>
          <p:cNvSpPr/>
          <p:nvPr/>
        </p:nvSpPr>
        <p:spPr>
          <a:xfrm>
            <a:off x="992148" y="3542109"/>
            <a:ext cx="6025515" cy="960239"/>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Code written in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Chef</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 an esoteric language where code looks like a cooking recipe. Ingredients are variables, cooking steps are operations. Output: </a:t>
            </a:r>
            <a:pPr algn="l" indent="0" marL="0">
              <a:lnSpc>
                <a:spcPts val="2500"/>
              </a:lnSpc>
              <a:buNone/>
            </a:pPr>
            <a:r>
              <a:rPr lang="en-US" sz="1550" dirty="0">
                <a:solidFill>
                  <a:srgbClr val="C9C9C0"/>
                </a:solidFill>
                <a:highlight>
                  <a:srgbClr val="2A2A28"/>
                </a:highlight>
                <a:latin typeface="Consolas" pitchFamily="34" charset="0"/>
                <a:ea typeface="Consolas" pitchFamily="34" charset="-122"/>
                <a:cs typeface="Consolas" pitchFamily="34" charset="-120"/>
              </a:rPr>
              <a:t>SKY-GOGO-8813</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a:t>
            </a:r>
            <a:endParaRPr lang="en-US" sz="1550" dirty="0"/>
          </a:p>
        </p:txBody>
      </p:sp>
      <p:sp>
        <p:nvSpPr>
          <p:cNvPr id="9" name="Shape 7"/>
          <p:cNvSpPr/>
          <p:nvPr/>
        </p:nvSpPr>
        <p:spPr>
          <a:xfrm>
            <a:off x="7414379" y="2914531"/>
            <a:ext cx="6422231" cy="1786176"/>
          </a:xfrm>
          <a:prstGeom prst="roundRect">
            <a:avLst>
              <a:gd name="adj" fmla="val 1667"/>
            </a:avLst>
          </a:prstGeom>
          <a:solidFill>
            <a:srgbClr val="3C3C3A"/>
          </a:solidFill>
          <a:ln/>
        </p:spPr>
      </p:sp>
      <p:sp>
        <p:nvSpPr>
          <p:cNvPr id="10" name="Text 8"/>
          <p:cNvSpPr/>
          <p:nvPr/>
        </p:nvSpPr>
        <p:spPr>
          <a:xfrm>
            <a:off x="7612737" y="311288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Poliwhirl (Medium)</a:t>
            </a:r>
            <a:endParaRPr lang="en-US" sz="1950" dirty="0"/>
          </a:p>
        </p:txBody>
      </p:sp>
      <p:sp>
        <p:nvSpPr>
          <p:cNvPr id="11" name="Text 9"/>
          <p:cNvSpPr/>
          <p:nvPr/>
        </p:nvSpPr>
        <p:spPr>
          <a:xfrm>
            <a:off x="7612737" y="3542109"/>
            <a:ext cx="6025515" cy="960239"/>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A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RISC-V</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binary with obfuscated password verification. Loaded into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Ghidra</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decompiled the function, identified per-byte XOR transformations, and reversed them. Flag: </a:t>
            </a:r>
            <a:pPr algn="l" indent="0" marL="0">
              <a:lnSpc>
                <a:spcPts val="2500"/>
              </a:lnSpc>
              <a:buNone/>
            </a:pPr>
            <a:r>
              <a:rPr lang="en-US" sz="1550" dirty="0">
                <a:solidFill>
                  <a:srgbClr val="C9C9C0"/>
                </a:solidFill>
                <a:highlight>
                  <a:srgbClr val="2A2A28"/>
                </a:highlight>
                <a:latin typeface="Consolas" pitchFamily="34" charset="0"/>
                <a:ea typeface="Consolas" pitchFamily="34" charset="-122"/>
                <a:cs typeface="Consolas" pitchFamily="34" charset="-120"/>
              </a:rPr>
              <a:t>SKY-POLI-3487</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a:t>
            </a:r>
            <a:endParaRPr lang="en-US" sz="1550" dirty="0"/>
          </a:p>
        </p:txBody>
      </p:sp>
      <p:sp>
        <p:nvSpPr>
          <p:cNvPr id="12" name="Shape 10"/>
          <p:cNvSpPr/>
          <p:nvPr/>
        </p:nvSpPr>
        <p:spPr>
          <a:xfrm>
            <a:off x="793790" y="4899065"/>
            <a:ext cx="6422231" cy="2103715"/>
          </a:xfrm>
          <a:prstGeom prst="roundRect">
            <a:avLst>
              <a:gd name="adj" fmla="val 1415"/>
            </a:avLst>
          </a:prstGeom>
          <a:solidFill>
            <a:srgbClr val="3C3C3A"/>
          </a:solidFill>
          <a:ln/>
        </p:spPr>
      </p:sp>
      <p:sp>
        <p:nvSpPr>
          <p:cNvPr id="13" name="Text 11"/>
          <p:cNvSpPr/>
          <p:nvPr/>
        </p:nvSpPr>
        <p:spPr>
          <a:xfrm>
            <a:off x="992148" y="5097423"/>
            <a:ext cx="2793802" cy="310158"/>
          </a:xfrm>
          <a:prstGeom prst="rect">
            <a:avLst/>
          </a:prstGeom>
          <a:noFill/>
          <a:ln/>
        </p:spPr>
        <p:txBody>
          <a:bodyPr wrap="none" lIns="0" tIns="0" rIns="0" bIns="0" rtlCol="0" anchor="t"/>
          <a:lstStyle/>
          <a:p>
            <a:pPr algn="l" indent="0" marL="0">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Cooking Dinner (Hard)</a:t>
            </a:r>
            <a:endParaRPr lang="en-US" sz="1950" dirty="0"/>
          </a:p>
        </p:txBody>
      </p:sp>
      <p:sp>
        <p:nvSpPr>
          <p:cNvPr id="14" name="Text 12"/>
          <p:cNvSpPr/>
          <p:nvPr/>
        </p:nvSpPr>
        <p:spPr>
          <a:xfrm>
            <a:off x="992148" y="5526643"/>
            <a:ext cx="6025515" cy="1277779"/>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Chef program with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intentional bugs</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(infinite recursion, decoy entry points). Instead of running it, we treated it as a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cryptanalysis</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problem and brute-forced the remaining bytes. Answer: </a:t>
            </a:r>
            <a:pPr algn="l" indent="0" marL="0">
              <a:lnSpc>
                <a:spcPts val="2500"/>
              </a:lnSpc>
              <a:buNone/>
            </a:pPr>
            <a:r>
              <a:rPr lang="en-US" sz="1550" dirty="0">
                <a:solidFill>
                  <a:srgbClr val="C9C9C0"/>
                </a:solidFill>
                <a:highlight>
                  <a:srgbClr val="2A2A28"/>
                </a:highlight>
                <a:latin typeface="Consolas" pitchFamily="34" charset="0"/>
                <a:ea typeface="Consolas" pitchFamily="34" charset="-122"/>
                <a:cs typeface="Consolas" pitchFamily="34" charset="-120"/>
              </a:rPr>
              <a:t>SKY-AOHU-8738</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a:t>
            </a:r>
            <a:endParaRPr lang="en-US" sz="1550" dirty="0"/>
          </a:p>
        </p:txBody>
      </p:sp>
      <p:sp>
        <p:nvSpPr>
          <p:cNvPr id="15" name="Shape 13"/>
          <p:cNvSpPr/>
          <p:nvPr/>
        </p:nvSpPr>
        <p:spPr>
          <a:xfrm>
            <a:off x="7414379" y="4899065"/>
            <a:ext cx="6422231" cy="2103715"/>
          </a:xfrm>
          <a:prstGeom prst="roundRect">
            <a:avLst>
              <a:gd name="adj" fmla="val 1415"/>
            </a:avLst>
          </a:prstGeom>
          <a:solidFill>
            <a:srgbClr val="3C3C3A"/>
          </a:solidFill>
          <a:ln/>
        </p:spPr>
      </p:sp>
      <p:sp>
        <p:nvSpPr>
          <p:cNvPr id="16" name="Text 14"/>
          <p:cNvSpPr/>
          <p:nvPr/>
        </p:nvSpPr>
        <p:spPr>
          <a:xfrm>
            <a:off x="7612737" y="5097423"/>
            <a:ext cx="3945612" cy="310158"/>
          </a:xfrm>
          <a:prstGeom prst="rect">
            <a:avLst/>
          </a:prstGeom>
          <a:noFill/>
          <a:ln/>
        </p:spPr>
        <p:txBody>
          <a:bodyPr wrap="none" lIns="0" tIns="0" rIns="0" bIns="0" rtlCol="0" anchor="t"/>
          <a:lstStyle/>
          <a:p>
            <a:pPr algn="l" indent="0" marL="0">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Access the Mainframe (140 pts)</a:t>
            </a:r>
            <a:endParaRPr lang="en-US" sz="1950" dirty="0"/>
          </a:p>
        </p:txBody>
      </p:sp>
      <p:sp>
        <p:nvSpPr>
          <p:cNvPr id="17" name="Text 15"/>
          <p:cNvSpPr/>
          <p:nvPr/>
        </p:nvSpPr>
        <p:spPr>
          <a:xfrm>
            <a:off x="7612737" y="5526643"/>
            <a:ext cx="6025515" cy="952619"/>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The highest-value single challenge. Full IBM mainframe exploitation: TN3270, TSO, ISPF, JCL, and dataset manipulation across </a:t>
            </a:r>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24 questions</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Extremely specialized.</a:t>
            </a:r>
            <a:endParaRPr lang="en-US" sz="1550" dirty="0"/>
          </a:p>
        </p:txBody>
      </p:sp>
      <p:sp>
        <p:nvSpPr>
          <p:cNvPr id="18" name="Text 16"/>
          <p:cNvSpPr/>
          <p:nvPr/>
        </p:nvSpPr>
        <p:spPr>
          <a:xfrm>
            <a:off x="793790" y="7226022"/>
            <a:ext cx="13042821" cy="317540"/>
          </a:xfrm>
          <a:prstGeom prst="rect">
            <a:avLst/>
          </a:prstGeom>
          <a:noFill/>
          <a:ln/>
        </p:spPr>
        <p:txBody>
          <a:bodyPr wrap="none" lIns="0" tIns="0" rIns="0" bIns="0" rtlCol="0" anchor="t"/>
          <a:lstStyle/>
          <a:p>
            <a:pPr algn="l" indent="0" marL="0">
              <a:lnSpc>
                <a:spcPts val="2500"/>
              </a:lnSpc>
              <a:buNone/>
            </a:pPr>
            <a:r>
              <a:rPr lang="en-US" sz="1550" b="1" dirty="0">
                <a:solidFill>
                  <a:srgbClr val="C9C9C0"/>
                </a:solidFill>
                <a:latin typeface="Tomorrow" pitchFamily="34" charset="0"/>
                <a:ea typeface="Tomorrow" pitchFamily="34" charset="-122"/>
                <a:cs typeface="Tomorrow" pitchFamily="34" charset="-120"/>
              </a:rPr>
              <a:t>Key tools:</a:t>
            </a:r>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 Ghidra (reverse engineering), file/strings/objdump (binary analysis), Python (scripting), esoteric language interpreters</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793790" y="557093"/>
            <a:ext cx="1830824" cy="255984"/>
          </a:xfrm>
          <a:prstGeom prst="roundRect">
            <a:avLst>
              <a:gd name="adj" fmla="val 6978"/>
            </a:avLst>
          </a:prstGeom>
          <a:solidFill>
            <a:srgbClr val="272725"/>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83087" y="625554"/>
            <a:ext cx="119063" cy="119063"/>
          </a:xfrm>
          <a:prstGeom prst="rect">
            <a:avLst/>
          </a:prstGeom>
        </p:spPr>
      </p:pic>
      <p:sp>
        <p:nvSpPr>
          <p:cNvPr id="4" name="Text 1"/>
          <p:cNvSpPr/>
          <p:nvPr/>
        </p:nvSpPr>
        <p:spPr>
          <a:xfrm>
            <a:off x="1061680" y="601742"/>
            <a:ext cx="1473637" cy="166688"/>
          </a:xfrm>
          <a:prstGeom prst="rect">
            <a:avLst/>
          </a:prstGeom>
          <a:noFill/>
          <a:ln/>
        </p:spPr>
        <p:txBody>
          <a:bodyPr wrap="none" lIns="0" tIns="0" rIns="0" bIns="0" rtlCol="0" anchor="t"/>
          <a:lstStyle/>
          <a:p>
            <a:pPr algn="l" indent="0" marL="0">
              <a:lnSpc>
                <a:spcPts val="1300"/>
              </a:lnSpc>
              <a:buNone/>
            </a:pPr>
            <a:r>
              <a:rPr lang="en-US" sz="900" dirty="0">
                <a:solidFill>
                  <a:srgbClr val="C9C9C0"/>
                </a:solidFill>
                <a:latin typeface="Tomorrow" pitchFamily="34" charset="0"/>
                <a:ea typeface="Tomorrow" pitchFamily="34" charset="-122"/>
                <a:cs typeface="Tomorrow" pitchFamily="34" charset="-120"/>
              </a:rPr>
              <a:t>ESSENTIAL PREPARATION</a:t>
            </a:r>
            <a:endParaRPr lang="en-US" sz="900" dirty="0"/>
          </a:p>
        </p:txBody>
      </p:sp>
      <p:sp>
        <p:nvSpPr>
          <p:cNvPr id="5" name="Text 2"/>
          <p:cNvSpPr/>
          <p:nvPr/>
        </p:nvSpPr>
        <p:spPr>
          <a:xfrm>
            <a:off x="793790" y="857726"/>
            <a:ext cx="3819763" cy="465177"/>
          </a:xfrm>
          <a:prstGeom prst="rect">
            <a:avLst/>
          </a:prstGeom>
          <a:noFill/>
          <a:ln/>
        </p:spPr>
        <p:txBody>
          <a:bodyPr wrap="none" lIns="0" tIns="0" rIns="0" bIns="0" rtlCol="0" anchor="t"/>
          <a:lstStyle/>
          <a:p>
            <a:pPr algn="l" indent="0" marL="0">
              <a:lnSpc>
                <a:spcPts val="3650"/>
              </a:lnSpc>
              <a:buNone/>
            </a:pPr>
            <a:r>
              <a:rPr lang="en-US" sz="2900" dirty="0">
                <a:solidFill>
                  <a:srgbClr val="EDEDE8"/>
                </a:solidFill>
                <a:latin typeface="Tomorrow Semi Bold" pitchFamily="34" charset="0"/>
                <a:ea typeface="Tomorrow Semi Bold" pitchFamily="34" charset="-122"/>
                <a:cs typeface="Tomorrow Semi Bold" pitchFamily="34" charset="-120"/>
              </a:rPr>
              <a:t>The Essential Toolkit</a:t>
            </a:r>
            <a:endParaRPr lang="en-US" sz="2900" dirty="0"/>
          </a:p>
        </p:txBody>
      </p:sp>
      <p:sp>
        <p:nvSpPr>
          <p:cNvPr id="6" name="Text 3"/>
          <p:cNvSpPr/>
          <p:nvPr/>
        </p:nvSpPr>
        <p:spPr>
          <a:xfrm>
            <a:off x="793790" y="1490305"/>
            <a:ext cx="13042821" cy="208359"/>
          </a:xfrm>
          <a:prstGeom prst="rect">
            <a:avLst/>
          </a:prstGeom>
          <a:noFill/>
          <a:ln/>
        </p:spPr>
        <p:txBody>
          <a:bodyPr wrap="none" lIns="0" tIns="0" rIns="0" bIns="0" rtlCol="0" anchor="t"/>
          <a:lstStyle/>
          <a:p>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Here's the short list of tools that came up again and again. Get these installed and tested </a:t>
            </a:r>
            <a:pPr algn="l" indent="0" marL="0">
              <a:lnSpc>
                <a:spcPts val="1600"/>
              </a:lnSpc>
              <a:buNone/>
            </a:pPr>
            <a:r>
              <a:rPr lang="en-US" sz="1150" b="1" dirty="0">
                <a:solidFill>
                  <a:srgbClr val="C9C9C0"/>
                </a:solidFill>
                <a:latin typeface="Tomorrow" pitchFamily="34" charset="0"/>
                <a:ea typeface="Tomorrow" pitchFamily="34" charset="-122"/>
                <a:cs typeface="Tomorrow" pitchFamily="34" charset="-120"/>
              </a:rPr>
              <a:t>before</a:t>
            </a:r>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 competition weekend — don't waste game time on setup.</a:t>
            </a:r>
            <a:endParaRPr lang="en-US" sz="1150" dirty="0"/>
          </a:p>
        </p:txBody>
      </p:sp>
      <p:sp>
        <p:nvSpPr>
          <p:cNvPr id="7" name="Shape 4"/>
          <p:cNvSpPr/>
          <p:nvPr/>
        </p:nvSpPr>
        <p:spPr>
          <a:xfrm>
            <a:off x="793790" y="1824157"/>
            <a:ext cx="13042821" cy="5848350"/>
          </a:xfrm>
          <a:prstGeom prst="roundRect">
            <a:avLst>
              <a:gd name="adj" fmla="val 382"/>
            </a:avLst>
          </a:prstGeom>
          <a:noFill/>
          <a:ln w="7620">
            <a:solidFill>
              <a:srgbClr val="FFFFFF">
                <a:alpha val="24000"/>
              </a:srgbClr>
            </a:solidFill>
            <a:prstDash val="solid"/>
          </a:ln>
        </p:spPr>
      </p:sp>
      <p:sp>
        <p:nvSpPr>
          <p:cNvPr id="8" name="Shape 5"/>
          <p:cNvSpPr/>
          <p:nvPr/>
        </p:nvSpPr>
        <p:spPr>
          <a:xfrm>
            <a:off x="801410" y="1831777"/>
            <a:ext cx="13027581" cy="357426"/>
          </a:xfrm>
          <a:prstGeom prst="rect">
            <a:avLst/>
          </a:prstGeom>
          <a:solidFill>
            <a:srgbClr val="FFFFFF">
              <a:alpha val="4000"/>
            </a:srgbClr>
          </a:solidFill>
          <a:ln/>
        </p:spPr>
      </p:sp>
      <p:sp>
        <p:nvSpPr>
          <p:cNvPr id="9" name="Shape 6"/>
          <p:cNvSpPr/>
          <p:nvPr/>
        </p:nvSpPr>
        <p:spPr>
          <a:xfrm>
            <a:off x="801648" y="1831777"/>
            <a:ext cx="2865953" cy="357426"/>
          </a:xfrm>
          <a:prstGeom prst="roundRect">
            <a:avLst>
              <a:gd name="adj" fmla="val 6247"/>
            </a:avLst>
          </a:prstGeom>
          <a:solidFill>
            <a:srgbClr val="4D4D4D"/>
          </a:solidFill>
          <a:ln/>
        </p:spPr>
      </p:sp>
      <p:sp>
        <p:nvSpPr>
          <p:cNvPr id="10" name="Text 7"/>
          <p:cNvSpPr/>
          <p:nvPr/>
        </p:nvSpPr>
        <p:spPr>
          <a:xfrm>
            <a:off x="950476" y="1906310"/>
            <a:ext cx="2564487" cy="208359"/>
          </a:xfrm>
          <a:prstGeom prst="rect">
            <a:avLst/>
          </a:prstGeom>
          <a:noFill/>
          <a:ln/>
        </p:spPr>
        <p:txBody>
          <a:bodyPr wrap="none" lIns="0" tIns="0" rIns="0" bIns="0" rtlCol="0" anchor="t"/>
          <a:lstStyle/>
          <a:p>
            <a:pPr algn="ctr" indent="0" marL="0">
              <a:lnSpc>
                <a:spcPts val="1600"/>
              </a:lnSpc>
              <a:buNone/>
            </a:pPr>
            <a:r>
              <a:rPr lang="en-US" sz="1150" b="1" dirty="0">
                <a:solidFill>
                  <a:srgbClr val="FFFFFF"/>
                </a:solidFill>
                <a:latin typeface="Tomorrow" pitchFamily="34" charset="0"/>
                <a:ea typeface="Tomorrow" pitchFamily="34" charset="-122"/>
                <a:cs typeface="Tomorrow" pitchFamily="34" charset="-120"/>
              </a:rPr>
              <a:t>Tool</a:t>
            </a:r>
            <a:endParaRPr lang="en-US" sz="1150" dirty="0"/>
          </a:p>
        </p:txBody>
      </p:sp>
      <p:sp>
        <p:nvSpPr>
          <p:cNvPr id="11" name="Shape 8"/>
          <p:cNvSpPr/>
          <p:nvPr/>
        </p:nvSpPr>
        <p:spPr>
          <a:xfrm>
            <a:off x="3667601" y="1831777"/>
            <a:ext cx="6253162" cy="357426"/>
          </a:xfrm>
          <a:prstGeom prst="rect">
            <a:avLst/>
          </a:prstGeom>
          <a:solidFill>
            <a:srgbClr val="4D4D4D"/>
          </a:solidFill>
          <a:ln/>
        </p:spPr>
      </p:sp>
      <p:sp>
        <p:nvSpPr>
          <p:cNvPr id="12" name="Text 9"/>
          <p:cNvSpPr/>
          <p:nvPr/>
        </p:nvSpPr>
        <p:spPr>
          <a:xfrm>
            <a:off x="3820239" y="1906310"/>
            <a:ext cx="5947886" cy="208359"/>
          </a:xfrm>
          <a:prstGeom prst="rect">
            <a:avLst/>
          </a:prstGeom>
          <a:noFill/>
          <a:ln/>
        </p:spPr>
        <p:txBody>
          <a:bodyPr wrap="none" lIns="0" tIns="0" rIns="0" bIns="0" rtlCol="0" anchor="t"/>
          <a:lstStyle/>
          <a:p>
            <a:pPr algn="ctr" indent="0" marL="0">
              <a:lnSpc>
                <a:spcPts val="1600"/>
              </a:lnSpc>
              <a:buNone/>
            </a:pPr>
            <a:r>
              <a:rPr lang="en-US" sz="1150" b="1" dirty="0">
                <a:solidFill>
                  <a:srgbClr val="FFFFFF"/>
                </a:solidFill>
                <a:latin typeface="Tomorrow" pitchFamily="34" charset="0"/>
                <a:ea typeface="Tomorrow" pitchFamily="34" charset="-122"/>
                <a:cs typeface="Tomorrow" pitchFamily="34" charset="-120"/>
              </a:rPr>
              <a:t>What It's For</a:t>
            </a:r>
            <a:endParaRPr lang="en-US" sz="1150" dirty="0"/>
          </a:p>
        </p:txBody>
      </p:sp>
      <p:sp>
        <p:nvSpPr>
          <p:cNvPr id="13" name="Shape 10"/>
          <p:cNvSpPr/>
          <p:nvPr/>
        </p:nvSpPr>
        <p:spPr>
          <a:xfrm>
            <a:off x="9920764" y="1831777"/>
            <a:ext cx="3908227" cy="357426"/>
          </a:xfrm>
          <a:prstGeom prst="rect">
            <a:avLst/>
          </a:prstGeom>
          <a:solidFill>
            <a:srgbClr val="4D4D4D"/>
          </a:solidFill>
          <a:ln/>
        </p:spPr>
      </p:sp>
      <p:sp>
        <p:nvSpPr>
          <p:cNvPr id="14" name="Text 11"/>
          <p:cNvSpPr/>
          <p:nvPr/>
        </p:nvSpPr>
        <p:spPr>
          <a:xfrm>
            <a:off x="10073402" y="1906310"/>
            <a:ext cx="3606760" cy="208359"/>
          </a:xfrm>
          <a:prstGeom prst="rect">
            <a:avLst/>
          </a:prstGeom>
          <a:noFill/>
          <a:ln/>
        </p:spPr>
        <p:txBody>
          <a:bodyPr wrap="none" lIns="0" tIns="0" rIns="0" bIns="0" rtlCol="0" anchor="t"/>
          <a:lstStyle/>
          <a:p>
            <a:pPr algn="ctr" indent="0" marL="0">
              <a:lnSpc>
                <a:spcPts val="1600"/>
              </a:lnSpc>
              <a:buNone/>
            </a:pPr>
            <a:r>
              <a:rPr lang="en-US" sz="1150" b="1" dirty="0">
                <a:solidFill>
                  <a:srgbClr val="FFFFFF"/>
                </a:solidFill>
                <a:latin typeface="Tomorrow" pitchFamily="34" charset="0"/>
                <a:ea typeface="Tomorrow" pitchFamily="34" charset="-122"/>
                <a:cs typeface="Tomorrow" pitchFamily="34" charset="-120"/>
              </a:rPr>
              <a:t>Priority</a:t>
            </a:r>
            <a:endParaRPr lang="en-US" sz="1150" dirty="0"/>
          </a:p>
        </p:txBody>
      </p:sp>
      <p:sp>
        <p:nvSpPr>
          <p:cNvPr id="15" name="Shape 12"/>
          <p:cNvSpPr/>
          <p:nvPr/>
        </p:nvSpPr>
        <p:spPr>
          <a:xfrm>
            <a:off x="801410" y="2189202"/>
            <a:ext cx="13027581" cy="365046"/>
          </a:xfrm>
          <a:prstGeom prst="rect">
            <a:avLst/>
          </a:prstGeom>
          <a:solidFill>
            <a:srgbClr val="000000">
              <a:alpha val="4000"/>
            </a:srgbClr>
          </a:solidFill>
          <a:ln/>
        </p:spPr>
      </p:sp>
      <p:sp>
        <p:nvSpPr>
          <p:cNvPr id="16" name="Text 13"/>
          <p:cNvSpPr/>
          <p:nvPr/>
        </p:nvSpPr>
        <p:spPr>
          <a:xfrm>
            <a:off x="950476" y="2263735"/>
            <a:ext cx="2564487" cy="208359"/>
          </a:xfrm>
          <a:prstGeom prst="rect">
            <a:avLst/>
          </a:prstGeom>
          <a:noFill/>
          <a:ln/>
        </p:spPr>
        <p:txBody>
          <a:bodyPr wrap="none" lIns="0" tIns="0" rIns="0" bIns="0" rtlCol="0" anchor="t"/>
          <a:lstStyle/>
          <a:p>
            <a:pPr algn="l" indent="0" marL="0">
              <a:lnSpc>
                <a:spcPts val="1600"/>
              </a:lnSpc>
              <a:buNone/>
            </a:pPr>
            <a:r>
              <a:rPr lang="en-US" sz="1150" b="1" dirty="0">
                <a:solidFill>
                  <a:srgbClr val="C9C9C0"/>
                </a:solidFill>
                <a:latin typeface="Tomorrow" pitchFamily="34" charset="0"/>
                <a:ea typeface="Tomorrow" pitchFamily="34" charset="-122"/>
                <a:cs typeface="Tomorrow" pitchFamily="34" charset="-120"/>
              </a:rPr>
              <a:t>CyberChef</a:t>
            </a:r>
            <a:endParaRPr lang="en-US" sz="1150" dirty="0"/>
          </a:p>
        </p:txBody>
      </p:sp>
      <p:sp>
        <p:nvSpPr>
          <p:cNvPr id="17" name="Text 14"/>
          <p:cNvSpPr/>
          <p:nvPr/>
        </p:nvSpPr>
        <p:spPr>
          <a:xfrm>
            <a:off x="3820239" y="2263735"/>
            <a:ext cx="5947886" cy="208359"/>
          </a:xfrm>
          <a:prstGeom prst="rect">
            <a:avLst/>
          </a:prstGeom>
          <a:noFill/>
          <a:ln/>
        </p:spPr>
        <p:txBody>
          <a:bodyPr wrap="none" lIns="0" tIns="0" rIns="0" bIns="0" rtlCol="0" anchor="t"/>
          <a:lstStyle/>
          <a:p>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Encoding/decoding/crypto Swiss army knife (web-based)</a:t>
            </a:r>
            <a:endParaRPr lang="en-US" sz="1150" dirty="0"/>
          </a:p>
        </p:txBody>
      </p:sp>
      <p:sp>
        <p:nvSpPr>
          <p:cNvPr id="18" name="Text 15"/>
          <p:cNvSpPr/>
          <p:nvPr/>
        </p:nvSpPr>
        <p:spPr>
          <a:xfrm>
            <a:off x="10073402" y="2263735"/>
            <a:ext cx="3606760" cy="215979"/>
          </a:xfrm>
          <a:prstGeom prst="rect">
            <a:avLst/>
          </a:prstGeom>
          <a:noFill/>
          <a:ln/>
        </p:spPr>
        <p:txBody>
          <a:bodyPr wrap="none" lIns="0" tIns="0" rIns="0" bIns="0" rtlCol="0" anchor="t"/>
          <a:lstStyle/>
          <a:p>
            <a:pPr algn="l" indent="0" marL="0">
              <a:lnSpc>
                <a:spcPts val="1600"/>
              </a:lnSpc>
              <a:buNone/>
            </a:pPr>
            <a:r>
              <a:rPr lang="en-US" sz="1150" dirty="0">
                <a:solidFill>
                  <a:srgbClr val="000000"/>
                </a:solidFill>
                <a:latin typeface="Tomorrow" pitchFamily="34" charset="0"/>
                <a:ea typeface="Tomorrow" pitchFamily="34" charset="-122"/>
                <a:cs typeface="Tomorrow" pitchFamily="34" charset="-120"/>
              </a:rPr>
              <a:t>🔴</a:t>
            </a:r>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 Must have</a:t>
            </a:r>
            <a:endParaRPr lang="en-US" sz="1150" dirty="0"/>
          </a:p>
        </p:txBody>
      </p:sp>
      <p:sp>
        <p:nvSpPr>
          <p:cNvPr id="19" name="Shape 16"/>
          <p:cNvSpPr/>
          <p:nvPr/>
        </p:nvSpPr>
        <p:spPr>
          <a:xfrm>
            <a:off x="801410" y="2554248"/>
            <a:ext cx="13027581" cy="365046"/>
          </a:xfrm>
          <a:prstGeom prst="rect">
            <a:avLst/>
          </a:prstGeom>
          <a:solidFill>
            <a:srgbClr val="FFFFFF">
              <a:alpha val="4000"/>
            </a:srgbClr>
          </a:solidFill>
          <a:ln/>
        </p:spPr>
      </p:sp>
      <p:sp>
        <p:nvSpPr>
          <p:cNvPr id="20" name="Text 17"/>
          <p:cNvSpPr/>
          <p:nvPr/>
        </p:nvSpPr>
        <p:spPr>
          <a:xfrm>
            <a:off x="950476" y="2628781"/>
            <a:ext cx="2564487" cy="208359"/>
          </a:xfrm>
          <a:prstGeom prst="rect">
            <a:avLst/>
          </a:prstGeom>
          <a:noFill/>
          <a:ln/>
        </p:spPr>
        <p:txBody>
          <a:bodyPr wrap="none" lIns="0" tIns="0" rIns="0" bIns="0" rtlCol="0" anchor="t"/>
          <a:lstStyle/>
          <a:p>
            <a:pPr algn="l" indent="0" marL="0">
              <a:lnSpc>
                <a:spcPts val="1600"/>
              </a:lnSpc>
              <a:buNone/>
            </a:pPr>
            <a:r>
              <a:rPr lang="en-US" sz="1150" b="1" dirty="0">
                <a:solidFill>
                  <a:srgbClr val="C9C9C0"/>
                </a:solidFill>
                <a:latin typeface="Tomorrow" pitchFamily="34" charset="0"/>
                <a:ea typeface="Tomorrow" pitchFamily="34" charset="-122"/>
                <a:cs typeface="Tomorrow" pitchFamily="34" charset="-120"/>
              </a:rPr>
              <a:t>Wireshark</a:t>
            </a:r>
            <a:endParaRPr lang="en-US" sz="1150" dirty="0"/>
          </a:p>
        </p:txBody>
      </p:sp>
      <p:sp>
        <p:nvSpPr>
          <p:cNvPr id="21" name="Text 18"/>
          <p:cNvSpPr/>
          <p:nvPr/>
        </p:nvSpPr>
        <p:spPr>
          <a:xfrm>
            <a:off x="3820239" y="2628781"/>
            <a:ext cx="5947886" cy="208359"/>
          </a:xfrm>
          <a:prstGeom prst="rect">
            <a:avLst/>
          </a:prstGeom>
          <a:noFill/>
          <a:ln/>
        </p:spPr>
        <p:txBody>
          <a:bodyPr wrap="none" lIns="0" tIns="0" rIns="0" bIns="0" rtlCol="0" anchor="t"/>
          <a:lstStyle/>
          <a:p>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Packet capture analysis</a:t>
            </a:r>
            <a:endParaRPr lang="en-US" sz="1150" dirty="0"/>
          </a:p>
        </p:txBody>
      </p:sp>
      <p:sp>
        <p:nvSpPr>
          <p:cNvPr id="22" name="Text 19"/>
          <p:cNvSpPr/>
          <p:nvPr/>
        </p:nvSpPr>
        <p:spPr>
          <a:xfrm>
            <a:off x="10073402" y="2628781"/>
            <a:ext cx="3606760" cy="215979"/>
          </a:xfrm>
          <a:prstGeom prst="rect">
            <a:avLst/>
          </a:prstGeom>
          <a:noFill/>
          <a:ln/>
        </p:spPr>
        <p:txBody>
          <a:bodyPr wrap="none" lIns="0" tIns="0" rIns="0" bIns="0" rtlCol="0" anchor="t"/>
          <a:lstStyle/>
          <a:p>
            <a:pPr algn="l" indent="0" marL="0">
              <a:lnSpc>
                <a:spcPts val="1600"/>
              </a:lnSpc>
              <a:buNone/>
            </a:pPr>
            <a:r>
              <a:rPr lang="en-US" sz="1150" dirty="0">
                <a:solidFill>
                  <a:srgbClr val="000000"/>
                </a:solidFill>
                <a:latin typeface="Tomorrow" pitchFamily="34" charset="0"/>
                <a:ea typeface="Tomorrow" pitchFamily="34" charset="-122"/>
                <a:cs typeface="Tomorrow" pitchFamily="34" charset="-120"/>
              </a:rPr>
              <a:t>🔴</a:t>
            </a:r>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 Must have</a:t>
            </a:r>
            <a:endParaRPr lang="en-US" sz="1150" dirty="0"/>
          </a:p>
        </p:txBody>
      </p:sp>
      <p:sp>
        <p:nvSpPr>
          <p:cNvPr id="23" name="Shape 20"/>
          <p:cNvSpPr/>
          <p:nvPr/>
        </p:nvSpPr>
        <p:spPr>
          <a:xfrm>
            <a:off x="801410" y="2919293"/>
            <a:ext cx="13027581" cy="365046"/>
          </a:xfrm>
          <a:prstGeom prst="rect">
            <a:avLst/>
          </a:prstGeom>
          <a:solidFill>
            <a:srgbClr val="000000">
              <a:alpha val="4000"/>
            </a:srgbClr>
          </a:solidFill>
          <a:ln/>
        </p:spPr>
      </p:sp>
      <p:sp>
        <p:nvSpPr>
          <p:cNvPr id="24" name="Text 21"/>
          <p:cNvSpPr/>
          <p:nvPr/>
        </p:nvSpPr>
        <p:spPr>
          <a:xfrm>
            <a:off x="950476" y="2993827"/>
            <a:ext cx="2564487" cy="208359"/>
          </a:xfrm>
          <a:prstGeom prst="rect">
            <a:avLst/>
          </a:prstGeom>
          <a:noFill/>
          <a:ln/>
        </p:spPr>
        <p:txBody>
          <a:bodyPr wrap="none" lIns="0" tIns="0" rIns="0" bIns="0" rtlCol="0" anchor="t"/>
          <a:lstStyle/>
          <a:p>
            <a:pPr algn="l" indent="0" marL="0">
              <a:lnSpc>
                <a:spcPts val="1600"/>
              </a:lnSpc>
              <a:buNone/>
            </a:pPr>
            <a:r>
              <a:rPr lang="en-US" sz="1150" b="1" dirty="0">
                <a:solidFill>
                  <a:srgbClr val="C9C9C0"/>
                </a:solidFill>
                <a:latin typeface="Tomorrow" pitchFamily="34" charset="0"/>
                <a:ea typeface="Tomorrow" pitchFamily="34" charset="-122"/>
                <a:cs typeface="Tomorrow" pitchFamily="34" charset="-120"/>
              </a:rPr>
              <a:t>nmap</a:t>
            </a:r>
            <a:endParaRPr lang="en-US" sz="1150" dirty="0"/>
          </a:p>
        </p:txBody>
      </p:sp>
      <p:sp>
        <p:nvSpPr>
          <p:cNvPr id="25" name="Text 22"/>
          <p:cNvSpPr/>
          <p:nvPr/>
        </p:nvSpPr>
        <p:spPr>
          <a:xfrm>
            <a:off x="3820239" y="2993827"/>
            <a:ext cx="5947886" cy="208359"/>
          </a:xfrm>
          <a:prstGeom prst="rect">
            <a:avLst/>
          </a:prstGeom>
          <a:noFill/>
          <a:ln/>
        </p:spPr>
        <p:txBody>
          <a:bodyPr wrap="none" lIns="0" tIns="0" rIns="0" bIns="0" rtlCol="0" anchor="t"/>
          <a:lstStyle/>
          <a:p>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Port scanning and service detection</a:t>
            </a:r>
            <a:endParaRPr lang="en-US" sz="1150" dirty="0"/>
          </a:p>
        </p:txBody>
      </p:sp>
      <p:sp>
        <p:nvSpPr>
          <p:cNvPr id="26" name="Text 23"/>
          <p:cNvSpPr/>
          <p:nvPr/>
        </p:nvSpPr>
        <p:spPr>
          <a:xfrm>
            <a:off x="10073402" y="2993827"/>
            <a:ext cx="3606760" cy="215979"/>
          </a:xfrm>
          <a:prstGeom prst="rect">
            <a:avLst/>
          </a:prstGeom>
          <a:noFill/>
          <a:ln/>
        </p:spPr>
        <p:txBody>
          <a:bodyPr wrap="none" lIns="0" tIns="0" rIns="0" bIns="0" rtlCol="0" anchor="t"/>
          <a:lstStyle/>
          <a:p>
            <a:pPr algn="l" indent="0" marL="0">
              <a:lnSpc>
                <a:spcPts val="1600"/>
              </a:lnSpc>
              <a:buNone/>
            </a:pPr>
            <a:r>
              <a:rPr lang="en-US" sz="1150" dirty="0">
                <a:solidFill>
                  <a:srgbClr val="000000"/>
                </a:solidFill>
                <a:latin typeface="Tomorrow" pitchFamily="34" charset="0"/>
                <a:ea typeface="Tomorrow" pitchFamily="34" charset="-122"/>
                <a:cs typeface="Tomorrow" pitchFamily="34" charset="-120"/>
              </a:rPr>
              <a:t>🔴</a:t>
            </a:r>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 Must have</a:t>
            </a:r>
            <a:endParaRPr lang="en-US" sz="1150" dirty="0"/>
          </a:p>
        </p:txBody>
      </p:sp>
      <p:sp>
        <p:nvSpPr>
          <p:cNvPr id="27" name="Shape 24"/>
          <p:cNvSpPr/>
          <p:nvPr/>
        </p:nvSpPr>
        <p:spPr>
          <a:xfrm>
            <a:off x="801410" y="3284339"/>
            <a:ext cx="13027581" cy="365046"/>
          </a:xfrm>
          <a:prstGeom prst="rect">
            <a:avLst/>
          </a:prstGeom>
          <a:solidFill>
            <a:srgbClr val="FFFFFF">
              <a:alpha val="4000"/>
            </a:srgbClr>
          </a:solidFill>
          <a:ln/>
        </p:spPr>
      </p:sp>
      <p:sp>
        <p:nvSpPr>
          <p:cNvPr id="28" name="Text 25"/>
          <p:cNvSpPr/>
          <p:nvPr/>
        </p:nvSpPr>
        <p:spPr>
          <a:xfrm>
            <a:off x="950476" y="3358872"/>
            <a:ext cx="2564487" cy="208359"/>
          </a:xfrm>
          <a:prstGeom prst="rect">
            <a:avLst/>
          </a:prstGeom>
          <a:noFill/>
          <a:ln/>
        </p:spPr>
        <p:txBody>
          <a:bodyPr wrap="none" lIns="0" tIns="0" rIns="0" bIns="0" rtlCol="0" anchor="t"/>
          <a:lstStyle/>
          <a:p>
            <a:pPr algn="l" indent="0" marL="0">
              <a:lnSpc>
                <a:spcPts val="1600"/>
              </a:lnSpc>
              <a:buNone/>
            </a:pPr>
            <a:r>
              <a:rPr lang="en-US" sz="1150" b="1" dirty="0">
                <a:solidFill>
                  <a:srgbClr val="C9C9C0"/>
                </a:solidFill>
                <a:latin typeface="Tomorrow" pitchFamily="34" charset="0"/>
                <a:ea typeface="Tomorrow" pitchFamily="34" charset="-122"/>
                <a:cs typeface="Tomorrow" pitchFamily="34" charset="-120"/>
              </a:rPr>
              <a:t>hashcat</a:t>
            </a:r>
            <a:endParaRPr lang="en-US" sz="1150" dirty="0"/>
          </a:p>
        </p:txBody>
      </p:sp>
      <p:sp>
        <p:nvSpPr>
          <p:cNvPr id="29" name="Text 26"/>
          <p:cNvSpPr/>
          <p:nvPr/>
        </p:nvSpPr>
        <p:spPr>
          <a:xfrm>
            <a:off x="3820239" y="3358872"/>
            <a:ext cx="5947886" cy="208359"/>
          </a:xfrm>
          <a:prstGeom prst="rect">
            <a:avLst/>
          </a:prstGeom>
          <a:noFill/>
          <a:ln/>
        </p:spPr>
        <p:txBody>
          <a:bodyPr wrap="none" lIns="0" tIns="0" rIns="0" bIns="0" rtlCol="0" anchor="t"/>
          <a:lstStyle/>
          <a:p>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GPU-accelerated password cracking</a:t>
            </a:r>
            <a:endParaRPr lang="en-US" sz="1150" dirty="0"/>
          </a:p>
        </p:txBody>
      </p:sp>
      <p:sp>
        <p:nvSpPr>
          <p:cNvPr id="30" name="Text 27"/>
          <p:cNvSpPr/>
          <p:nvPr/>
        </p:nvSpPr>
        <p:spPr>
          <a:xfrm>
            <a:off x="10073402" y="3358872"/>
            <a:ext cx="3606760" cy="215979"/>
          </a:xfrm>
          <a:prstGeom prst="rect">
            <a:avLst/>
          </a:prstGeom>
          <a:noFill/>
          <a:ln/>
        </p:spPr>
        <p:txBody>
          <a:bodyPr wrap="none" lIns="0" tIns="0" rIns="0" bIns="0" rtlCol="0" anchor="t"/>
          <a:lstStyle/>
          <a:p>
            <a:pPr algn="l" indent="0" marL="0">
              <a:lnSpc>
                <a:spcPts val="1600"/>
              </a:lnSpc>
              <a:buNone/>
            </a:pPr>
            <a:r>
              <a:rPr lang="en-US" sz="1150" dirty="0">
                <a:solidFill>
                  <a:srgbClr val="000000"/>
                </a:solidFill>
                <a:latin typeface="Tomorrow" pitchFamily="34" charset="0"/>
                <a:ea typeface="Tomorrow" pitchFamily="34" charset="-122"/>
                <a:cs typeface="Tomorrow" pitchFamily="34" charset="-120"/>
              </a:rPr>
              <a:t>🔴</a:t>
            </a:r>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 Must have</a:t>
            </a:r>
            <a:endParaRPr lang="en-US" sz="1150" dirty="0"/>
          </a:p>
        </p:txBody>
      </p:sp>
      <p:sp>
        <p:nvSpPr>
          <p:cNvPr id="31" name="Shape 28"/>
          <p:cNvSpPr/>
          <p:nvPr/>
        </p:nvSpPr>
        <p:spPr>
          <a:xfrm>
            <a:off x="801410" y="3649385"/>
            <a:ext cx="13027581" cy="365046"/>
          </a:xfrm>
          <a:prstGeom prst="rect">
            <a:avLst/>
          </a:prstGeom>
          <a:solidFill>
            <a:srgbClr val="000000">
              <a:alpha val="4000"/>
            </a:srgbClr>
          </a:solidFill>
          <a:ln/>
        </p:spPr>
      </p:sp>
      <p:sp>
        <p:nvSpPr>
          <p:cNvPr id="32" name="Text 29"/>
          <p:cNvSpPr/>
          <p:nvPr/>
        </p:nvSpPr>
        <p:spPr>
          <a:xfrm>
            <a:off x="950476" y="3723918"/>
            <a:ext cx="2564487" cy="208359"/>
          </a:xfrm>
          <a:prstGeom prst="rect">
            <a:avLst/>
          </a:prstGeom>
          <a:noFill/>
          <a:ln/>
        </p:spPr>
        <p:txBody>
          <a:bodyPr wrap="none" lIns="0" tIns="0" rIns="0" bIns="0" rtlCol="0" anchor="t"/>
          <a:lstStyle/>
          <a:p>
            <a:pPr algn="l" indent="0" marL="0">
              <a:lnSpc>
                <a:spcPts val="1600"/>
              </a:lnSpc>
              <a:buNone/>
            </a:pPr>
            <a:r>
              <a:rPr lang="en-US" sz="1150" b="1" dirty="0">
                <a:solidFill>
                  <a:srgbClr val="C9C9C0"/>
                </a:solidFill>
                <a:latin typeface="Tomorrow" pitchFamily="34" charset="0"/>
                <a:ea typeface="Tomorrow" pitchFamily="34" charset="-122"/>
                <a:cs typeface="Tomorrow" pitchFamily="34" charset="-120"/>
              </a:rPr>
              <a:t>Python 3</a:t>
            </a:r>
            <a:endParaRPr lang="en-US" sz="1150" dirty="0"/>
          </a:p>
        </p:txBody>
      </p:sp>
      <p:sp>
        <p:nvSpPr>
          <p:cNvPr id="33" name="Text 30"/>
          <p:cNvSpPr/>
          <p:nvPr/>
        </p:nvSpPr>
        <p:spPr>
          <a:xfrm>
            <a:off x="3820239" y="3723918"/>
            <a:ext cx="5947886" cy="208359"/>
          </a:xfrm>
          <a:prstGeom prst="rect">
            <a:avLst/>
          </a:prstGeom>
          <a:noFill/>
          <a:ln/>
        </p:spPr>
        <p:txBody>
          <a:bodyPr wrap="none" lIns="0" tIns="0" rIns="0" bIns="0" rtlCol="0" anchor="t"/>
          <a:lstStyle/>
          <a:p>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Scripting everything else</a:t>
            </a:r>
            <a:endParaRPr lang="en-US" sz="1150" dirty="0"/>
          </a:p>
        </p:txBody>
      </p:sp>
      <p:sp>
        <p:nvSpPr>
          <p:cNvPr id="34" name="Text 31"/>
          <p:cNvSpPr/>
          <p:nvPr/>
        </p:nvSpPr>
        <p:spPr>
          <a:xfrm>
            <a:off x="10073402" y="3723918"/>
            <a:ext cx="3606760" cy="215979"/>
          </a:xfrm>
          <a:prstGeom prst="rect">
            <a:avLst/>
          </a:prstGeom>
          <a:noFill/>
          <a:ln/>
        </p:spPr>
        <p:txBody>
          <a:bodyPr wrap="none" lIns="0" tIns="0" rIns="0" bIns="0" rtlCol="0" anchor="t"/>
          <a:lstStyle/>
          <a:p>
            <a:pPr algn="l" indent="0" marL="0">
              <a:lnSpc>
                <a:spcPts val="1600"/>
              </a:lnSpc>
              <a:buNone/>
            </a:pPr>
            <a:r>
              <a:rPr lang="en-US" sz="1150" dirty="0">
                <a:solidFill>
                  <a:srgbClr val="000000"/>
                </a:solidFill>
                <a:latin typeface="Tomorrow" pitchFamily="34" charset="0"/>
                <a:ea typeface="Tomorrow" pitchFamily="34" charset="-122"/>
                <a:cs typeface="Tomorrow" pitchFamily="34" charset="-120"/>
              </a:rPr>
              <a:t>🔴</a:t>
            </a:r>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 Essential</a:t>
            </a:r>
            <a:endParaRPr lang="en-US" sz="1150" dirty="0"/>
          </a:p>
        </p:txBody>
      </p:sp>
      <p:sp>
        <p:nvSpPr>
          <p:cNvPr id="35" name="Shape 32"/>
          <p:cNvSpPr/>
          <p:nvPr/>
        </p:nvSpPr>
        <p:spPr>
          <a:xfrm>
            <a:off x="801410" y="4014430"/>
            <a:ext cx="13027581" cy="365046"/>
          </a:xfrm>
          <a:prstGeom prst="rect">
            <a:avLst/>
          </a:prstGeom>
          <a:solidFill>
            <a:srgbClr val="FFFFFF">
              <a:alpha val="4000"/>
            </a:srgbClr>
          </a:solidFill>
          <a:ln/>
        </p:spPr>
      </p:sp>
      <p:sp>
        <p:nvSpPr>
          <p:cNvPr id="36" name="Text 33"/>
          <p:cNvSpPr/>
          <p:nvPr/>
        </p:nvSpPr>
        <p:spPr>
          <a:xfrm>
            <a:off x="950476" y="4088963"/>
            <a:ext cx="2564487" cy="208359"/>
          </a:xfrm>
          <a:prstGeom prst="rect">
            <a:avLst/>
          </a:prstGeom>
          <a:noFill/>
          <a:ln/>
        </p:spPr>
        <p:txBody>
          <a:bodyPr wrap="none" lIns="0" tIns="0" rIns="0" bIns="0" rtlCol="0" anchor="t"/>
          <a:lstStyle/>
          <a:p>
            <a:pPr algn="l" indent="0" marL="0">
              <a:lnSpc>
                <a:spcPts val="1600"/>
              </a:lnSpc>
              <a:buNone/>
            </a:pPr>
            <a:r>
              <a:rPr lang="en-US" sz="1150" b="1" dirty="0">
                <a:solidFill>
                  <a:srgbClr val="C9C9C0"/>
                </a:solidFill>
                <a:latin typeface="Tomorrow" pitchFamily="34" charset="0"/>
                <a:ea typeface="Tomorrow" pitchFamily="34" charset="-122"/>
                <a:cs typeface="Tomorrow" pitchFamily="34" charset="-120"/>
              </a:rPr>
              <a:t>Ghidra</a:t>
            </a:r>
            <a:endParaRPr lang="en-US" sz="1150" dirty="0"/>
          </a:p>
        </p:txBody>
      </p:sp>
      <p:sp>
        <p:nvSpPr>
          <p:cNvPr id="37" name="Text 34"/>
          <p:cNvSpPr/>
          <p:nvPr/>
        </p:nvSpPr>
        <p:spPr>
          <a:xfrm>
            <a:off x="3820239" y="4088963"/>
            <a:ext cx="5947886" cy="208359"/>
          </a:xfrm>
          <a:prstGeom prst="rect">
            <a:avLst/>
          </a:prstGeom>
          <a:noFill/>
          <a:ln/>
        </p:spPr>
        <p:txBody>
          <a:bodyPr wrap="none" lIns="0" tIns="0" rIns="0" bIns="0" rtlCol="0" anchor="t"/>
          <a:lstStyle/>
          <a:p>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Reverse engineering and binary analysis</a:t>
            </a:r>
            <a:endParaRPr lang="en-US" sz="1150" dirty="0"/>
          </a:p>
        </p:txBody>
      </p:sp>
      <p:sp>
        <p:nvSpPr>
          <p:cNvPr id="38" name="Text 35"/>
          <p:cNvSpPr/>
          <p:nvPr/>
        </p:nvSpPr>
        <p:spPr>
          <a:xfrm>
            <a:off x="10073402" y="4088963"/>
            <a:ext cx="3606760" cy="215979"/>
          </a:xfrm>
          <a:prstGeom prst="rect">
            <a:avLst/>
          </a:prstGeom>
          <a:noFill/>
          <a:ln/>
        </p:spPr>
        <p:txBody>
          <a:bodyPr wrap="none" lIns="0" tIns="0" rIns="0" bIns="0" rtlCol="0" anchor="t"/>
          <a:lstStyle/>
          <a:p>
            <a:pPr algn="l" indent="0" marL="0">
              <a:lnSpc>
                <a:spcPts val="1600"/>
              </a:lnSpc>
              <a:buNone/>
            </a:pPr>
            <a:r>
              <a:rPr lang="en-US" sz="1150" dirty="0">
                <a:solidFill>
                  <a:srgbClr val="000000"/>
                </a:solidFill>
                <a:latin typeface="Tomorrow" pitchFamily="34" charset="0"/>
                <a:ea typeface="Tomorrow" pitchFamily="34" charset="-122"/>
                <a:cs typeface="Tomorrow" pitchFamily="34" charset="-120"/>
              </a:rPr>
              <a:t>🟡</a:t>
            </a:r>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 Very useful</a:t>
            </a:r>
            <a:endParaRPr lang="en-US" sz="1150" dirty="0"/>
          </a:p>
        </p:txBody>
      </p:sp>
      <p:sp>
        <p:nvSpPr>
          <p:cNvPr id="39" name="Shape 36"/>
          <p:cNvSpPr/>
          <p:nvPr/>
        </p:nvSpPr>
        <p:spPr>
          <a:xfrm>
            <a:off x="801410" y="4379476"/>
            <a:ext cx="13027581" cy="365046"/>
          </a:xfrm>
          <a:prstGeom prst="rect">
            <a:avLst/>
          </a:prstGeom>
          <a:solidFill>
            <a:srgbClr val="000000">
              <a:alpha val="4000"/>
            </a:srgbClr>
          </a:solidFill>
          <a:ln/>
        </p:spPr>
      </p:sp>
      <p:sp>
        <p:nvSpPr>
          <p:cNvPr id="40" name="Text 37"/>
          <p:cNvSpPr/>
          <p:nvPr/>
        </p:nvSpPr>
        <p:spPr>
          <a:xfrm>
            <a:off x="950476" y="4454009"/>
            <a:ext cx="2564487" cy="208359"/>
          </a:xfrm>
          <a:prstGeom prst="rect">
            <a:avLst/>
          </a:prstGeom>
          <a:noFill/>
          <a:ln/>
        </p:spPr>
        <p:txBody>
          <a:bodyPr wrap="none" lIns="0" tIns="0" rIns="0" bIns="0" rtlCol="0" anchor="t"/>
          <a:lstStyle/>
          <a:p>
            <a:pPr algn="l" indent="0" marL="0">
              <a:lnSpc>
                <a:spcPts val="1600"/>
              </a:lnSpc>
              <a:buNone/>
            </a:pPr>
            <a:r>
              <a:rPr lang="en-US" sz="1150" b="1" dirty="0">
                <a:solidFill>
                  <a:srgbClr val="C9C9C0"/>
                </a:solidFill>
                <a:latin typeface="Tomorrow" pitchFamily="34" charset="0"/>
                <a:ea typeface="Tomorrow" pitchFamily="34" charset="-122"/>
                <a:cs typeface="Tomorrow" pitchFamily="34" charset="-120"/>
              </a:rPr>
              <a:t>Burp Suite</a:t>
            </a:r>
            <a:endParaRPr lang="en-US" sz="1150" dirty="0"/>
          </a:p>
        </p:txBody>
      </p:sp>
      <p:sp>
        <p:nvSpPr>
          <p:cNvPr id="41" name="Text 38"/>
          <p:cNvSpPr/>
          <p:nvPr/>
        </p:nvSpPr>
        <p:spPr>
          <a:xfrm>
            <a:off x="3820239" y="4454009"/>
            <a:ext cx="5947886" cy="208359"/>
          </a:xfrm>
          <a:prstGeom prst="rect">
            <a:avLst/>
          </a:prstGeom>
          <a:noFill/>
          <a:ln/>
        </p:spPr>
        <p:txBody>
          <a:bodyPr wrap="none" lIns="0" tIns="0" rIns="0" bIns="0" rtlCol="0" anchor="t"/>
          <a:lstStyle/>
          <a:p>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Web application testing proxy</a:t>
            </a:r>
            <a:endParaRPr lang="en-US" sz="1150" dirty="0"/>
          </a:p>
        </p:txBody>
      </p:sp>
      <p:sp>
        <p:nvSpPr>
          <p:cNvPr id="42" name="Text 39"/>
          <p:cNvSpPr/>
          <p:nvPr/>
        </p:nvSpPr>
        <p:spPr>
          <a:xfrm>
            <a:off x="10073402" y="4454009"/>
            <a:ext cx="3606760" cy="215979"/>
          </a:xfrm>
          <a:prstGeom prst="rect">
            <a:avLst/>
          </a:prstGeom>
          <a:noFill/>
          <a:ln/>
        </p:spPr>
        <p:txBody>
          <a:bodyPr wrap="none" lIns="0" tIns="0" rIns="0" bIns="0" rtlCol="0" anchor="t"/>
          <a:lstStyle/>
          <a:p>
            <a:pPr algn="l" indent="0" marL="0">
              <a:lnSpc>
                <a:spcPts val="1600"/>
              </a:lnSpc>
              <a:buNone/>
            </a:pPr>
            <a:r>
              <a:rPr lang="en-US" sz="1150" dirty="0">
                <a:solidFill>
                  <a:srgbClr val="000000"/>
                </a:solidFill>
                <a:latin typeface="Tomorrow" pitchFamily="34" charset="0"/>
                <a:ea typeface="Tomorrow" pitchFamily="34" charset="-122"/>
                <a:cs typeface="Tomorrow" pitchFamily="34" charset="-120"/>
              </a:rPr>
              <a:t>🟡</a:t>
            </a:r>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 Very useful</a:t>
            </a:r>
            <a:endParaRPr lang="en-US" sz="1150" dirty="0"/>
          </a:p>
        </p:txBody>
      </p:sp>
      <p:sp>
        <p:nvSpPr>
          <p:cNvPr id="43" name="Shape 40"/>
          <p:cNvSpPr/>
          <p:nvPr/>
        </p:nvSpPr>
        <p:spPr>
          <a:xfrm>
            <a:off x="801410" y="4744522"/>
            <a:ext cx="13027581" cy="365046"/>
          </a:xfrm>
          <a:prstGeom prst="rect">
            <a:avLst/>
          </a:prstGeom>
          <a:solidFill>
            <a:srgbClr val="FFFFFF">
              <a:alpha val="4000"/>
            </a:srgbClr>
          </a:solidFill>
          <a:ln/>
        </p:spPr>
      </p:sp>
      <p:sp>
        <p:nvSpPr>
          <p:cNvPr id="44" name="Text 41"/>
          <p:cNvSpPr/>
          <p:nvPr/>
        </p:nvSpPr>
        <p:spPr>
          <a:xfrm>
            <a:off x="950476" y="4819055"/>
            <a:ext cx="2564487" cy="208359"/>
          </a:xfrm>
          <a:prstGeom prst="rect">
            <a:avLst/>
          </a:prstGeom>
          <a:noFill/>
          <a:ln/>
        </p:spPr>
        <p:txBody>
          <a:bodyPr wrap="none" lIns="0" tIns="0" rIns="0" bIns="0" rtlCol="0" anchor="t"/>
          <a:lstStyle/>
          <a:p>
            <a:pPr algn="l" indent="0" marL="0">
              <a:lnSpc>
                <a:spcPts val="1600"/>
              </a:lnSpc>
              <a:buNone/>
            </a:pPr>
            <a:r>
              <a:rPr lang="en-US" sz="1150" b="1" dirty="0">
                <a:solidFill>
                  <a:srgbClr val="C9C9C0"/>
                </a:solidFill>
                <a:latin typeface="Tomorrow" pitchFamily="34" charset="0"/>
                <a:ea typeface="Tomorrow" pitchFamily="34" charset="-122"/>
                <a:cs typeface="Tomorrow" pitchFamily="34" charset="-120"/>
              </a:rPr>
              <a:t>exiftool</a:t>
            </a:r>
            <a:endParaRPr lang="en-US" sz="1150" dirty="0"/>
          </a:p>
        </p:txBody>
      </p:sp>
      <p:sp>
        <p:nvSpPr>
          <p:cNvPr id="45" name="Text 42"/>
          <p:cNvSpPr/>
          <p:nvPr/>
        </p:nvSpPr>
        <p:spPr>
          <a:xfrm>
            <a:off x="3820239" y="4819055"/>
            <a:ext cx="5947886" cy="208359"/>
          </a:xfrm>
          <a:prstGeom prst="rect">
            <a:avLst/>
          </a:prstGeom>
          <a:noFill/>
          <a:ln/>
        </p:spPr>
        <p:txBody>
          <a:bodyPr wrap="none" lIns="0" tIns="0" rIns="0" bIns="0" rtlCol="0" anchor="t"/>
          <a:lstStyle/>
          <a:p>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Image/file metadata extraction</a:t>
            </a:r>
            <a:endParaRPr lang="en-US" sz="1150" dirty="0"/>
          </a:p>
        </p:txBody>
      </p:sp>
      <p:sp>
        <p:nvSpPr>
          <p:cNvPr id="46" name="Text 43"/>
          <p:cNvSpPr/>
          <p:nvPr/>
        </p:nvSpPr>
        <p:spPr>
          <a:xfrm>
            <a:off x="10073402" y="4819055"/>
            <a:ext cx="3606760" cy="215979"/>
          </a:xfrm>
          <a:prstGeom prst="rect">
            <a:avLst/>
          </a:prstGeom>
          <a:noFill/>
          <a:ln/>
        </p:spPr>
        <p:txBody>
          <a:bodyPr wrap="none" lIns="0" tIns="0" rIns="0" bIns="0" rtlCol="0" anchor="t"/>
          <a:lstStyle/>
          <a:p>
            <a:pPr algn="l" indent="0" marL="0">
              <a:lnSpc>
                <a:spcPts val="1600"/>
              </a:lnSpc>
              <a:buNone/>
            </a:pPr>
            <a:r>
              <a:rPr lang="en-US" sz="1150" dirty="0">
                <a:solidFill>
                  <a:srgbClr val="000000"/>
                </a:solidFill>
                <a:latin typeface="Tomorrow" pitchFamily="34" charset="0"/>
                <a:ea typeface="Tomorrow" pitchFamily="34" charset="-122"/>
                <a:cs typeface="Tomorrow" pitchFamily="34" charset="-120"/>
              </a:rPr>
              <a:t>🟡</a:t>
            </a:r>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 Very useful</a:t>
            </a:r>
            <a:endParaRPr lang="en-US" sz="1150" dirty="0"/>
          </a:p>
        </p:txBody>
      </p:sp>
      <p:sp>
        <p:nvSpPr>
          <p:cNvPr id="47" name="Shape 44"/>
          <p:cNvSpPr/>
          <p:nvPr/>
        </p:nvSpPr>
        <p:spPr>
          <a:xfrm>
            <a:off x="801410" y="5109567"/>
            <a:ext cx="13027581" cy="365046"/>
          </a:xfrm>
          <a:prstGeom prst="rect">
            <a:avLst/>
          </a:prstGeom>
          <a:solidFill>
            <a:srgbClr val="000000">
              <a:alpha val="4000"/>
            </a:srgbClr>
          </a:solidFill>
          <a:ln/>
        </p:spPr>
      </p:sp>
      <p:sp>
        <p:nvSpPr>
          <p:cNvPr id="48" name="Text 45"/>
          <p:cNvSpPr/>
          <p:nvPr/>
        </p:nvSpPr>
        <p:spPr>
          <a:xfrm>
            <a:off x="950476" y="5184100"/>
            <a:ext cx="2564487" cy="208359"/>
          </a:xfrm>
          <a:prstGeom prst="rect">
            <a:avLst/>
          </a:prstGeom>
          <a:noFill/>
          <a:ln/>
        </p:spPr>
        <p:txBody>
          <a:bodyPr wrap="none" lIns="0" tIns="0" rIns="0" bIns="0" rtlCol="0" anchor="t"/>
          <a:lstStyle/>
          <a:p>
            <a:pPr algn="l" indent="0" marL="0">
              <a:lnSpc>
                <a:spcPts val="1600"/>
              </a:lnSpc>
              <a:buNone/>
            </a:pPr>
            <a:r>
              <a:rPr lang="en-US" sz="1150" b="1" dirty="0">
                <a:solidFill>
                  <a:srgbClr val="C9C9C0"/>
                </a:solidFill>
                <a:latin typeface="Tomorrow" pitchFamily="34" charset="0"/>
                <a:ea typeface="Tomorrow" pitchFamily="34" charset="-122"/>
                <a:cs typeface="Tomorrow" pitchFamily="34" charset="-120"/>
              </a:rPr>
              <a:t>jq</a:t>
            </a:r>
            <a:endParaRPr lang="en-US" sz="1150" dirty="0"/>
          </a:p>
        </p:txBody>
      </p:sp>
      <p:sp>
        <p:nvSpPr>
          <p:cNvPr id="49" name="Text 46"/>
          <p:cNvSpPr/>
          <p:nvPr/>
        </p:nvSpPr>
        <p:spPr>
          <a:xfrm>
            <a:off x="3820239" y="5184100"/>
            <a:ext cx="5947886" cy="208359"/>
          </a:xfrm>
          <a:prstGeom prst="rect">
            <a:avLst/>
          </a:prstGeom>
          <a:noFill/>
          <a:ln/>
        </p:spPr>
        <p:txBody>
          <a:bodyPr wrap="none" lIns="0" tIns="0" rIns="0" bIns="0" rtlCol="0" anchor="t"/>
          <a:lstStyle/>
          <a:p>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JSON parsing from the command line</a:t>
            </a:r>
            <a:endParaRPr lang="en-US" sz="1150" dirty="0"/>
          </a:p>
        </p:txBody>
      </p:sp>
      <p:sp>
        <p:nvSpPr>
          <p:cNvPr id="50" name="Text 47"/>
          <p:cNvSpPr/>
          <p:nvPr/>
        </p:nvSpPr>
        <p:spPr>
          <a:xfrm>
            <a:off x="10073402" y="5184100"/>
            <a:ext cx="3606760" cy="215979"/>
          </a:xfrm>
          <a:prstGeom prst="rect">
            <a:avLst/>
          </a:prstGeom>
          <a:noFill/>
          <a:ln/>
        </p:spPr>
        <p:txBody>
          <a:bodyPr wrap="none" lIns="0" tIns="0" rIns="0" bIns="0" rtlCol="0" anchor="t"/>
          <a:lstStyle/>
          <a:p>
            <a:pPr algn="l" indent="0" marL="0">
              <a:lnSpc>
                <a:spcPts val="1600"/>
              </a:lnSpc>
              <a:buNone/>
            </a:pPr>
            <a:r>
              <a:rPr lang="en-US" sz="1150" dirty="0">
                <a:solidFill>
                  <a:srgbClr val="000000"/>
                </a:solidFill>
                <a:latin typeface="Tomorrow" pitchFamily="34" charset="0"/>
                <a:ea typeface="Tomorrow" pitchFamily="34" charset="-122"/>
                <a:cs typeface="Tomorrow" pitchFamily="34" charset="-120"/>
              </a:rPr>
              <a:t>🟡</a:t>
            </a:r>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 Very useful</a:t>
            </a:r>
            <a:endParaRPr lang="en-US" sz="1150" dirty="0"/>
          </a:p>
        </p:txBody>
      </p:sp>
      <p:sp>
        <p:nvSpPr>
          <p:cNvPr id="51" name="Shape 48"/>
          <p:cNvSpPr/>
          <p:nvPr/>
        </p:nvSpPr>
        <p:spPr>
          <a:xfrm>
            <a:off x="801410" y="5474613"/>
            <a:ext cx="13027581" cy="365046"/>
          </a:xfrm>
          <a:prstGeom prst="rect">
            <a:avLst/>
          </a:prstGeom>
          <a:solidFill>
            <a:srgbClr val="FFFFFF">
              <a:alpha val="4000"/>
            </a:srgbClr>
          </a:solidFill>
          <a:ln/>
        </p:spPr>
      </p:sp>
      <p:sp>
        <p:nvSpPr>
          <p:cNvPr id="52" name="Text 49"/>
          <p:cNvSpPr/>
          <p:nvPr/>
        </p:nvSpPr>
        <p:spPr>
          <a:xfrm>
            <a:off x="950476" y="5549146"/>
            <a:ext cx="2564487" cy="208359"/>
          </a:xfrm>
          <a:prstGeom prst="rect">
            <a:avLst/>
          </a:prstGeom>
          <a:noFill/>
          <a:ln/>
        </p:spPr>
        <p:txBody>
          <a:bodyPr wrap="none" lIns="0" tIns="0" rIns="0" bIns="0" rtlCol="0" anchor="t"/>
          <a:lstStyle/>
          <a:p>
            <a:pPr algn="l" indent="0" marL="0">
              <a:lnSpc>
                <a:spcPts val="1600"/>
              </a:lnSpc>
              <a:buNone/>
            </a:pPr>
            <a:r>
              <a:rPr lang="en-US" sz="1150" b="1" dirty="0">
                <a:solidFill>
                  <a:srgbClr val="C9C9C0"/>
                </a:solidFill>
                <a:latin typeface="Tomorrow" pitchFamily="34" charset="0"/>
                <a:ea typeface="Tomorrow" pitchFamily="34" charset="-122"/>
                <a:cs typeface="Tomorrow" pitchFamily="34" charset="-120"/>
              </a:rPr>
              <a:t>Git</a:t>
            </a:r>
            <a:endParaRPr lang="en-US" sz="1150" dirty="0"/>
          </a:p>
        </p:txBody>
      </p:sp>
      <p:sp>
        <p:nvSpPr>
          <p:cNvPr id="53" name="Text 50"/>
          <p:cNvSpPr/>
          <p:nvPr/>
        </p:nvSpPr>
        <p:spPr>
          <a:xfrm>
            <a:off x="3820239" y="5549146"/>
            <a:ext cx="5947886" cy="208359"/>
          </a:xfrm>
          <a:prstGeom prst="rect">
            <a:avLst/>
          </a:prstGeom>
          <a:noFill/>
          <a:ln/>
        </p:spPr>
        <p:txBody>
          <a:bodyPr wrap="none" lIns="0" tIns="0" rIns="0" bIns="0" rtlCol="0" anchor="t"/>
          <a:lstStyle/>
          <a:p>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Version control (and history mining)</a:t>
            </a:r>
            <a:endParaRPr lang="en-US" sz="1150" dirty="0"/>
          </a:p>
        </p:txBody>
      </p:sp>
      <p:sp>
        <p:nvSpPr>
          <p:cNvPr id="54" name="Text 51"/>
          <p:cNvSpPr/>
          <p:nvPr/>
        </p:nvSpPr>
        <p:spPr>
          <a:xfrm>
            <a:off x="10073402" y="5549146"/>
            <a:ext cx="3606760" cy="215979"/>
          </a:xfrm>
          <a:prstGeom prst="rect">
            <a:avLst/>
          </a:prstGeom>
          <a:noFill/>
          <a:ln/>
        </p:spPr>
        <p:txBody>
          <a:bodyPr wrap="none" lIns="0" tIns="0" rIns="0" bIns="0" rtlCol="0" anchor="t"/>
          <a:lstStyle/>
          <a:p>
            <a:pPr algn="l" indent="0" marL="0">
              <a:lnSpc>
                <a:spcPts val="1600"/>
              </a:lnSpc>
              <a:buNone/>
            </a:pPr>
            <a:r>
              <a:rPr lang="en-US" sz="1150" dirty="0">
                <a:solidFill>
                  <a:srgbClr val="000000"/>
                </a:solidFill>
                <a:latin typeface="Tomorrow" pitchFamily="34" charset="0"/>
                <a:ea typeface="Tomorrow" pitchFamily="34" charset="-122"/>
                <a:cs typeface="Tomorrow" pitchFamily="34" charset="-120"/>
              </a:rPr>
              <a:t>🟡</a:t>
            </a:r>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 Very useful</a:t>
            </a:r>
            <a:endParaRPr lang="en-US" sz="1150" dirty="0"/>
          </a:p>
        </p:txBody>
      </p:sp>
      <p:sp>
        <p:nvSpPr>
          <p:cNvPr id="55" name="Shape 52"/>
          <p:cNvSpPr/>
          <p:nvPr/>
        </p:nvSpPr>
        <p:spPr>
          <a:xfrm>
            <a:off x="801410" y="5839658"/>
            <a:ext cx="13027581" cy="365046"/>
          </a:xfrm>
          <a:prstGeom prst="rect">
            <a:avLst/>
          </a:prstGeom>
          <a:solidFill>
            <a:srgbClr val="000000">
              <a:alpha val="4000"/>
            </a:srgbClr>
          </a:solidFill>
          <a:ln/>
        </p:spPr>
      </p:sp>
      <p:sp>
        <p:nvSpPr>
          <p:cNvPr id="56" name="Text 53"/>
          <p:cNvSpPr/>
          <p:nvPr/>
        </p:nvSpPr>
        <p:spPr>
          <a:xfrm>
            <a:off x="950476" y="5914192"/>
            <a:ext cx="2564487" cy="208359"/>
          </a:xfrm>
          <a:prstGeom prst="rect">
            <a:avLst/>
          </a:prstGeom>
          <a:noFill/>
          <a:ln/>
        </p:spPr>
        <p:txBody>
          <a:bodyPr wrap="none" lIns="0" tIns="0" rIns="0" bIns="0" rtlCol="0" anchor="t"/>
          <a:lstStyle/>
          <a:p>
            <a:pPr algn="l" indent="0" marL="0">
              <a:lnSpc>
                <a:spcPts val="1600"/>
              </a:lnSpc>
              <a:buNone/>
            </a:pPr>
            <a:r>
              <a:rPr lang="en-US" sz="1150" b="1" dirty="0">
                <a:solidFill>
                  <a:srgbClr val="C9C9C0"/>
                </a:solidFill>
                <a:latin typeface="Tomorrow" pitchFamily="34" charset="0"/>
                <a:ea typeface="Tomorrow" pitchFamily="34" charset="-122"/>
                <a:cs typeface="Tomorrow" pitchFamily="34" charset="-120"/>
              </a:rPr>
              <a:t>Browser DevTools</a:t>
            </a:r>
            <a:endParaRPr lang="en-US" sz="1150" dirty="0"/>
          </a:p>
        </p:txBody>
      </p:sp>
      <p:sp>
        <p:nvSpPr>
          <p:cNvPr id="57" name="Text 54"/>
          <p:cNvSpPr/>
          <p:nvPr/>
        </p:nvSpPr>
        <p:spPr>
          <a:xfrm>
            <a:off x="3820239" y="5914192"/>
            <a:ext cx="5947886" cy="208359"/>
          </a:xfrm>
          <a:prstGeom prst="rect">
            <a:avLst/>
          </a:prstGeom>
          <a:noFill/>
          <a:ln/>
        </p:spPr>
        <p:txBody>
          <a:bodyPr wrap="none" lIns="0" tIns="0" rIns="0" bIns="0" rtlCol="0" anchor="t"/>
          <a:lstStyle/>
          <a:p>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Web exploitation, JavaScript analysis</a:t>
            </a:r>
            <a:endParaRPr lang="en-US" sz="1150" dirty="0"/>
          </a:p>
        </p:txBody>
      </p:sp>
      <p:sp>
        <p:nvSpPr>
          <p:cNvPr id="58" name="Text 55"/>
          <p:cNvSpPr/>
          <p:nvPr/>
        </p:nvSpPr>
        <p:spPr>
          <a:xfrm>
            <a:off x="10073402" y="5914192"/>
            <a:ext cx="3606760" cy="215979"/>
          </a:xfrm>
          <a:prstGeom prst="rect">
            <a:avLst/>
          </a:prstGeom>
          <a:noFill/>
          <a:ln/>
        </p:spPr>
        <p:txBody>
          <a:bodyPr wrap="none" lIns="0" tIns="0" rIns="0" bIns="0" rtlCol="0" anchor="t"/>
          <a:lstStyle/>
          <a:p>
            <a:pPr algn="l" indent="0" marL="0">
              <a:lnSpc>
                <a:spcPts val="1600"/>
              </a:lnSpc>
              <a:buNone/>
            </a:pPr>
            <a:r>
              <a:rPr lang="en-US" sz="1150" dirty="0">
                <a:solidFill>
                  <a:srgbClr val="000000"/>
                </a:solidFill>
                <a:latin typeface="Tomorrow" pitchFamily="34" charset="0"/>
                <a:ea typeface="Tomorrow" pitchFamily="34" charset="-122"/>
                <a:cs typeface="Tomorrow" pitchFamily="34" charset="-120"/>
              </a:rPr>
              <a:t>🟢</a:t>
            </a:r>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 Already installed</a:t>
            </a:r>
            <a:endParaRPr lang="en-US" sz="1150" dirty="0"/>
          </a:p>
        </p:txBody>
      </p:sp>
      <p:sp>
        <p:nvSpPr>
          <p:cNvPr id="59" name="Shape 56"/>
          <p:cNvSpPr/>
          <p:nvPr/>
        </p:nvSpPr>
        <p:spPr>
          <a:xfrm>
            <a:off x="801410" y="6204704"/>
            <a:ext cx="13027581" cy="365046"/>
          </a:xfrm>
          <a:prstGeom prst="rect">
            <a:avLst/>
          </a:prstGeom>
          <a:solidFill>
            <a:srgbClr val="FFFFFF">
              <a:alpha val="4000"/>
            </a:srgbClr>
          </a:solidFill>
          <a:ln/>
        </p:spPr>
      </p:sp>
      <p:sp>
        <p:nvSpPr>
          <p:cNvPr id="60" name="Text 57"/>
          <p:cNvSpPr/>
          <p:nvPr/>
        </p:nvSpPr>
        <p:spPr>
          <a:xfrm>
            <a:off x="950476" y="6279237"/>
            <a:ext cx="2564487" cy="208359"/>
          </a:xfrm>
          <a:prstGeom prst="rect">
            <a:avLst/>
          </a:prstGeom>
          <a:noFill/>
          <a:ln/>
        </p:spPr>
        <p:txBody>
          <a:bodyPr wrap="none" lIns="0" tIns="0" rIns="0" bIns="0" rtlCol="0" anchor="t"/>
          <a:lstStyle/>
          <a:p>
            <a:pPr algn="l" indent="0" marL="0">
              <a:lnSpc>
                <a:spcPts val="1600"/>
              </a:lnSpc>
              <a:buNone/>
            </a:pPr>
            <a:r>
              <a:rPr lang="en-US" sz="1150" b="1" dirty="0">
                <a:solidFill>
                  <a:srgbClr val="C9C9C0"/>
                </a:solidFill>
                <a:latin typeface="Tomorrow" pitchFamily="34" charset="0"/>
                <a:ea typeface="Tomorrow" pitchFamily="34" charset="-122"/>
                <a:cs typeface="Tomorrow" pitchFamily="34" charset="-120"/>
              </a:rPr>
              <a:t>John the Ripper</a:t>
            </a:r>
            <a:endParaRPr lang="en-US" sz="1150" dirty="0"/>
          </a:p>
        </p:txBody>
      </p:sp>
      <p:sp>
        <p:nvSpPr>
          <p:cNvPr id="61" name="Text 58"/>
          <p:cNvSpPr/>
          <p:nvPr/>
        </p:nvSpPr>
        <p:spPr>
          <a:xfrm>
            <a:off x="3820239" y="6279237"/>
            <a:ext cx="5947886" cy="208359"/>
          </a:xfrm>
          <a:prstGeom prst="rect">
            <a:avLst/>
          </a:prstGeom>
          <a:noFill/>
          <a:ln/>
        </p:spPr>
        <p:txBody>
          <a:bodyPr wrap="none" lIns="0" tIns="0" rIns="0" bIns="0" rtlCol="0" anchor="t"/>
          <a:lstStyle/>
          <a:p>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Password cracking (CPU-based)</a:t>
            </a:r>
            <a:endParaRPr lang="en-US" sz="1150" dirty="0"/>
          </a:p>
        </p:txBody>
      </p:sp>
      <p:sp>
        <p:nvSpPr>
          <p:cNvPr id="62" name="Text 59"/>
          <p:cNvSpPr/>
          <p:nvPr/>
        </p:nvSpPr>
        <p:spPr>
          <a:xfrm>
            <a:off x="10073402" y="6279237"/>
            <a:ext cx="3606760" cy="215979"/>
          </a:xfrm>
          <a:prstGeom prst="rect">
            <a:avLst/>
          </a:prstGeom>
          <a:noFill/>
          <a:ln/>
        </p:spPr>
        <p:txBody>
          <a:bodyPr wrap="none" lIns="0" tIns="0" rIns="0" bIns="0" rtlCol="0" anchor="t"/>
          <a:lstStyle/>
          <a:p>
            <a:pPr algn="l" indent="0" marL="0">
              <a:lnSpc>
                <a:spcPts val="1600"/>
              </a:lnSpc>
              <a:buNone/>
            </a:pPr>
            <a:r>
              <a:rPr lang="en-US" sz="1150" dirty="0">
                <a:solidFill>
                  <a:srgbClr val="000000"/>
                </a:solidFill>
                <a:latin typeface="Tomorrow" pitchFamily="34" charset="0"/>
                <a:ea typeface="Tomorrow" pitchFamily="34" charset="-122"/>
                <a:cs typeface="Tomorrow" pitchFamily="34" charset="-120"/>
              </a:rPr>
              <a:t>🟢</a:t>
            </a:r>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 Good to have</a:t>
            </a:r>
            <a:endParaRPr lang="en-US" sz="1150" dirty="0"/>
          </a:p>
        </p:txBody>
      </p:sp>
      <p:sp>
        <p:nvSpPr>
          <p:cNvPr id="63" name="Shape 60"/>
          <p:cNvSpPr/>
          <p:nvPr/>
        </p:nvSpPr>
        <p:spPr>
          <a:xfrm>
            <a:off x="801410" y="6569750"/>
            <a:ext cx="13027581" cy="365046"/>
          </a:xfrm>
          <a:prstGeom prst="rect">
            <a:avLst/>
          </a:prstGeom>
          <a:solidFill>
            <a:srgbClr val="000000">
              <a:alpha val="4000"/>
            </a:srgbClr>
          </a:solidFill>
          <a:ln/>
        </p:spPr>
      </p:sp>
      <p:sp>
        <p:nvSpPr>
          <p:cNvPr id="64" name="Text 61"/>
          <p:cNvSpPr/>
          <p:nvPr/>
        </p:nvSpPr>
        <p:spPr>
          <a:xfrm>
            <a:off x="950476" y="6644283"/>
            <a:ext cx="2564487" cy="208359"/>
          </a:xfrm>
          <a:prstGeom prst="rect">
            <a:avLst/>
          </a:prstGeom>
          <a:noFill/>
          <a:ln/>
        </p:spPr>
        <p:txBody>
          <a:bodyPr wrap="none" lIns="0" tIns="0" rIns="0" bIns="0" rtlCol="0" anchor="t"/>
          <a:lstStyle/>
          <a:p>
            <a:pPr algn="l" indent="0" marL="0">
              <a:lnSpc>
                <a:spcPts val="1600"/>
              </a:lnSpc>
              <a:buNone/>
            </a:pPr>
            <a:r>
              <a:rPr lang="en-US" sz="1150" b="1" dirty="0">
                <a:solidFill>
                  <a:srgbClr val="C9C9C0"/>
                </a:solidFill>
                <a:latin typeface="Tomorrow" pitchFamily="34" charset="0"/>
                <a:ea typeface="Tomorrow" pitchFamily="34" charset="-122"/>
                <a:cs typeface="Tomorrow" pitchFamily="34" charset="-120"/>
              </a:rPr>
              <a:t>steghide / binwalk</a:t>
            </a:r>
            <a:endParaRPr lang="en-US" sz="1150" dirty="0"/>
          </a:p>
        </p:txBody>
      </p:sp>
      <p:sp>
        <p:nvSpPr>
          <p:cNvPr id="65" name="Text 62"/>
          <p:cNvSpPr/>
          <p:nvPr/>
        </p:nvSpPr>
        <p:spPr>
          <a:xfrm>
            <a:off x="3820239" y="6644283"/>
            <a:ext cx="5947886" cy="208359"/>
          </a:xfrm>
          <a:prstGeom prst="rect">
            <a:avLst/>
          </a:prstGeom>
          <a:noFill/>
          <a:ln/>
        </p:spPr>
        <p:txBody>
          <a:bodyPr wrap="none" lIns="0" tIns="0" rIns="0" bIns="0" rtlCol="0" anchor="t"/>
          <a:lstStyle/>
          <a:p>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Steganography and file carving</a:t>
            </a:r>
            <a:endParaRPr lang="en-US" sz="1150" dirty="0"/>
          </a:p>
        </p:txBody>
      </p:sp>
      <p:sp>
        <p:nvSpPr>
          <p:cNvPr id="66" name="Text 63"/>
          <p:cNvSpPr/>
          <p:nvPr/>
        </p:nvSpPr>
        <p:spPr>
          <a:xfrm>
            <a:off x="10073402" y="6644283"/>
            <a:ext cx="3606760" cy="215979"/>
          </a:xfrm>
          <a:prstGeom prst="rect">
            <a:avLst/>
          </a:prstGeom>
          <a:noFill/>
          <a:ln/>
        </p:spPr>
        <p:txBody>
          <a:bodyPr wrap="none" lIns="0" tIns="0" rIns="0" bIns="0" rtlCol="0" anchor="t"/>
          <a:lstStyle/>
          <a:p>
            <a:pPr algn="l" indent="0" marL="0">
              <a:lnSpc>
                <a:spcPts val="1600"/>
              </a:lnSpc>
              <a:buNone/>
            </a:pPr>
            <a:r>
              <a:rPr lang="en-US" sz="1150" dirty="0">
                <a:solidFill>
                  <a:srgbClr val="000000"/>
                </a:solidFill>
                <a:latin typeface="Tomorrow" pitchFamily="34" charset="0"/>
                <a:ea typeface="Tomorrow" pitchFamily="34" charset="-122"/>
                <a:cs typeface="Tomorrow" pitchFamily="34" charset="-120"/>
              </a:rPr>
              <a:t>🟢</a:t>
            </a:r>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 Good to have</a:t>
            </a:r>
            <a:endParaRPr lang="en-US" sz="1150" dirty="0"/>
          </a:p>
        </p:txBody>
      </p:sp>
      <p:sp>
        <p:nvSpPr>
          <p:cNvPr id="67" name="Shape 64"/>
          <p:cNvSpPr/>
          <p:nvPr/>
        </p:nvSpPr>
        <p:spPr>
          <a:xfrm>
            <a:off x="801410" y="6934795"/>
            <a:ext cx="13027581" cy="365046"/>
          </a:xfrm>
          <a:prstGeom prst="rect">
            <a:avLst/>
          </a:prstGeom>
          <a:solidFill>
            <a:srgbClr val="FFFFFF">
              <a:alpha val="4000"/>
            </a:srgbClr>
          </a:solidFill>
          <a:ln/>
        </p:spPr>
      </p:sp>
      <p:sp>
        <p:nvSpPr>
          <p:cNvPr id="68" name="Text 65"/>
          <p:cNvSpPr/>
          <p:nvPr/>
        </p:nvSpPr>
        <p:spPr>
          <a:xfrm>
            <a:off x="950476" y="7009328"/>
            <a:ext cx="2564487" cy="208359"/>
          </a:xfrm>
          <a:prstGeom prst="rect">
            <a:avLst/>
          </a:prstGeom>
          <a:noFill/>
          <a:ln/>
        </p:spPr>
        <p:txBody>
          <a:bodyPr wrap="none" lIns="0" tIns="0" rIns="0" bIns="0" rtlCol="0" anchor="t"/>
          <a:lstStyle/>
          <a:p>
            <a:pPr algn="l" indent="0" marL="0">
              <a:lnSpc>
                <a:spcPts val="1600"/>
              </a:lnSpc>
              <a:buNone/>
            </a:pPr>
            <a:r>
              <a:rPr lang="en-US" sz="1150" b="1" dirty="0">
                <a:solidFill>
                  <a:srgbClr val="C9C9C0"/>
                </a:solidFill>
                <a:latin typeface="Tomorrow" pitchFamily="34" charset="0"/>
                <a:ea typeface="Tomorrow" pitchFamily="34" charset="-122"/>
                <a:cs typeface="Tomorrow" pitchFamily="34" charset="-120"/>
              </a:rPr>
              <a:t>snmpwalk</a:t>
            </a:r>
            <a:endParaRPr lang="en-US" sz="1150" dirty="0"/>
          </a:p>
        </p:txBody>
      </p:sp>
      <p:sp>
        <p:nvSpPr>
          <p:cNvPr id="69" name="Text 66"/>
          <p:cNvSpPr/>
          <p:nvPr/>
        </p:nvSpPr>
        <p:spPr>
          <a:xfrm>
            <a:off x="3820239" y="7009328"/>
            <a:ext cx="5947886" cy="208359"/>
          </a:xfrm>
          <a:prstGeom prst="rect">
            <a:avLst/>
          </a:prstGeom>
          <a:noFill/>
          <a:ln/>
        </p:spPr>
        <p:txBody>
          <a:bodyPr wrap="none" lIns="0" tIns="0" rIns="0" bIns="0" rtlCol="0" anchor="t"/>
          <a:lstStyle/>
          <a:p>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SNMP enumeration</a:t>
            </a:r>
            <a:endParaRPr lang="en-US" sz="1150" dirty="0"/>
          </a:p>
        </p:txBody>
      </p:sp>
      <p:sp>
        <p:nvSpPr>
          <p:cNvPr id="70" name="Text 67"/>
          <p:cNvSpPr/>
          <p:nvPr/>
        </p:nvSpPr>
        <p:spPr>
          <a:xfrm>
            <a:off x="10073402" y="7009328"/>
            <a:ext cx="3606760" cy="215979"/>
          </a:xfrm>
          <a:prstGeom prst="rect">
            <a:avLst/>
          </a:prstGeom>
          <a:noFill/>
          <a:ln/>
        </p:spPr>
        <p:txBody>
          <a:bodyPr wrap="none" lIns="0" tIns="0" rIns="0" bIns="0" rtlCol="0" anchor="t"/>
          <a:lstStyle/>
          <a:p>
            <a:pPr algn="l" indent="0" marL="0">
              <a:lnSpc>
                <a:spcPts val="1600"/>
              </a:lnSpc>
              <a:buNone/>
            </a:pPr>
            <a:r>
              <a:rPr lang="en-US" sz="1150" dirty="0">
                <a:solidFill>
                  <a:srgbClr val="000000"/>
                </a:solidFill>
                <a:latin typeface="Tomorrow" pitchFamily="34" charset="0"/>
                <a:ea typeface="Tomorrow" pitchFamily="34" charset="-122"/>
                <a:cs typeface="Tomorrow" pitchFamily="34" charset="-120"/>
              </a:rPr>
              <a:t>🟢</a:t>
            </a:r>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 Good to have</a:t>
            </a:r>
            <a:endParaRPr lang="en-US" sz="1150" dirty="0"/>
          </a:p>
        </p:txBody>
      </p:sp>
      <p:sp>
        <p:nvSpPr>
          <p:cNvPr id="71" name="Shape 68"/>
          <p:cNvSpPr/>
          <p:nvPr/>
        </p:nvSpPr>
        <p:spPr>
          <a:xfrm>
            <a:off x="801410" y="7299841"/>
            <a:ext cx="13027581" cy="365046"/>
          </a:xfrm>
          <a:prstGeom prst="rect">
            <a:avLst/>
          </a:prstGeom>
          <a:solidFill>
            <a:srgbClr val="000000">
              <a:alpha val="4000"/>
            </a:srgbClr>
          </a:solidFill>
          <a:ln/>
        </p:spPr>
      </p:sp>
      <p:sp>
        <p:nvSpPr>
          <p:cNvPr id="72" name="Text 69"/>
          <p:cNvSpPr/>
          <p:nvPr/>
        </p:nvSpPr>
        <p:spPr>
          <a:xfrm>
            <a:off x="950476" y="7374374"/>
            <a:ext cx="2564487" cy="208359"/>
          </a:xfrm>
          <a:prstGeom prst="rect">
            <a:avLst/>
          </a:prstGeom>
          <a:noFill/>
          <a:ln/>
        </p:spPr>
        <p:txBody>
          <a:bodyPr wrap="none" lIns="0" tIns="0" rIns="0" bIns="0" rtlCol="0" anchor="t"/>
          <a:lstStyle/>
          <a:p>
            <a:pPr algn="l" indent="0" marL="0">
              <a:lnSpc>
                <a:spcPts val="1600"/>
              </a:lnSpc>
              <a:buNone/>
            </a:pPr>
            <a:r>
              <a:rPr lang="en-US" sz="1150" b="1" dirty="0">
                <a:solidFill>
                  <a:srgbClr val="C9C9C0"/>
                </a:solidFill>
                <a:latin typeface="Tomorrow" pitchFamily="34" charset="0"/>
                <a:ea typeface="Tomorrow" pitchFamily="34" charset="-122"/>
                <a:cs typeface="Tomorrow" pitchFamily="34" charset="-120"/>
              </a:rPr>
              <a:t>sqlmap</a:t>
            </a:r>
            <a:endParaRPr lang="en-US" sz="1150" dirty="0"/>
          </a:p>
        </p:txBody>
      </p:sp>
      <p:sp>
        <p:nvSpPr>
          <p:cNvPr id="73" name="Text 70"/>
          <p:cNvSpPr/>
          <p:nvPr/>
        </p:nvSpPr>
        <p:spPr>
          <a:xfrm>
            <a:off x="3820239" y="7374374"/>
            <a:ext cx="5947886" cy="208359"/>
          </a:xfrm>
          <a:prstGeom prst="rect">
            <a:avLst/>
          </a:prstGeom>
          <a:noFill/>
          <a:ln/>
        </p:spPr>
        <p:txBody>
          <a:bodyPr wrap="none" lIns="0" tIns="0" rIns="0" bIns="0" rtlCol="0" anchor="t"/>
          <a:lstStyle/>
          <a:p>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SQL injection automation</a:t>
            </a:r>
            <a:endParaRPr lang="en-US" sz="1150" dirty="0"/>
          </a:p>
        </p:txBody>
      </p:sp>
      <p:sp>
        <p:nvSpPr>
          <p:cNvPr id="74" name="Text 71"/>
          <p:cNvSpPr/>
          <p:nvPr/>
        </p:nvSpPr>
        <p:spPr>
          <a:xfrm>
            <a:off x="10073402" y="7374374"/>
            <a:ext cx="3606760" cy="215979"/>
          </a:xfrm>
          <a:prstGeom prst="rect">
            <a:avLst/>
          </a:prstGeom>
          <a:noFill/>
          <a:ln/>
        </p:spPr>
        <p:txBody>
          <a:bodyPr wrap="none" lIns="0" tIns="0" rIns="0" bIns="0" rtlCol="0" anchor="t"/>
          <a:lstStyle/>
          <a:p>
            <a:pPr algn="l" indent="0" marL="0">
              <a:lnSpc>
                <a:spcPts val="1600"/>
              </a:lnSpc>
              <a:buNone/>
            </a:pPr>
            <a:r>
              <a:rPr lang="en-US" sz="1150" dirty="0">
                <a:solidFill>
                  <a:srgbClr val="000000"/>
                </a:solidFill>
                <a:latin typeface="Tomorrow" pitchFamily="34" charset="0"/>
                <a:ea typeface="Tomorrow" pitchFamily="34" charset="-122"/>
                <a:cs typeface="Tomorrow" pitchFamily="34" charset="-120"/>
              </a:rPr>
              <a:t>🟢</a:t>
            </a:r>
            <a:pPr algn="l" indent="0" marL="0">
              <a:lnSpc>
                <a:spcPts val="1600"/>
              </a:lnSpc>
              <a:buNone/>
            </a:pPr>
            <a:r>
              <a:rPr lang="en-US" sz="1150" dirty="0">
                <a:solidFill>
                  <a:srgbClr val="C9C9C0"/>
                </a:solidFill>
                <a:latin typeface="Tomorrow" pitchFamily="34" charset="0"/>
                <a:ea typeface="Tomorrow" pitchFamily="34" charset="-122"/>
                <a:cs typeface="Tomorrow" pitchFamily="34" charset="-120"/>
              </a:rPr>
              <a:t> Good to have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793790" y="698540"/>
            <a:ext cx="1708309" cy="348377"/>
          </a:xfrm>
          <a:prstGeom prst="roundRect">
            <a:avLst>
              <a:gd name="adj" fmla="val 6495"/>
            </a:avLst>
          </a:prstGeom>
          <a:solidFill>
            <a:srgbClr val="272725"/>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06899" y="797362"/>
            <a:ext cx="150733" cy="150733"/>
          </a:xfrm>
          <a:prstGeom prst="rect">
            <a:avLst/>
          </a:prstGeom>
        </p:spPr>
      </p:pic>
      <p:sp>
        <p:nvSpPr>
          <p:cNvPr id="4" name="Text 1"/>
          <p:cNvSpPr/>
          <p:nvPr/>
        </p:nvSpPr>
        <p:spPr>
          <a:xfrm>
            <a:off x="1132999" y="755094"/>
            <a:ext cx="1255990" cy="235268"/>
          </a:xfrm>
          <a:prstGeom prst="rect">
            <a:avLst/>
          </a:prstGeom>
          <a:noFill/>
          <a:ln/>
        </p:spPr>
        <p:txBody>
          <a:bodyPr wrap="none" lIns="0" tIns="0" rIns="0" bIns="0" rtlCol="0" anchor="t"/>
          <a:lstStyle/>
          <a:p>
            <a:pPr algn="l" indent="0" marL="0">
              <a:lnSpc>
                <a:spcPts val="1850"/>
              </a:lnSpc>
              <a:buNone/>
            </a:pPr>
            <a:r>
              <a:rPr lang="en-US" sz="1150" dirty="0">
                <a:solidFill>
                  <a:srgbClr val="C9C9C0"/>
                </a:solidFill>
                <a:latin typeface="Tomorrow" pitchFamily="34" charset="0"/>
                <a:ea typeface="Tomorrow" pitchFamily="34" charset="-122"/>
                <a:cs typeface="Tomorrow" pitchFamily="34" charset="-120"/>
              </a:rPr>
              <a:t>STRATEGY GUIDE</a:t>
            </a:r>
            <a:endParaRPr lang="en-US" sz="1150" dirty="0"/>
          </a:p>
        </p:txBody>
      </p:sp>
      <p:sp>
        <p:nvSpPr>
          <p:cNvPr id="5" name="Text 2"/>
          <p:cNvSpPr/>
          <p:nvPr/>
        </p:nvSpPr>
        <p:spPr>
          <a:xfrm>
            <a:off x="793790" y="1118473"/>
            <a:ext cx="4713684" cy="589121"/>
          </a:xfrm>
          <a:prstGeom prst="rect">
            <a:avLst/>
          </a:prstGeom>
          <a:noFill/>
          <a:ln/>
        </p:spPr>
        <p:txBody>
          <a:bodyPr wrap="none" lIns="0" tIns="0" rIns="0" bIns="0" rtlCol="0" anchor="t"/>
          <a:lstStyle/>
          <a:p>
            <a:pPr algn="l" indent="0" marL="0">
              <a:lnSpc>
                <a:spcPts val="4600"/>
              </a:lnSpc>
              <a:buNone/>
            </a:pPr>
            <a:r>
              <a:rPr lang="en-US" sz="3700" dirty="0">
                <a:solidFill>
                  <a:srgbClr val="EDEDE8"/>
                </a:solidFill>
                <a:latin typeface="Tomorrow Semi Bold" pitchFamily="34" charset="0"/>
                <a:ea typeface="Tomorrow Semi Bold" pitchFamily="34" charset="-122"/>
                <a:cs typeface="Tomorrow Semi Bold" pitchFamily="34" charset="-120"/>
              </a:rPr>
              <a:t>Tips From the Team</a:t>
            </a:r>
            <a:endParaRPr lang="en-US" sz="3700" dirty="0"/>
          </a:p>
        </p:txBody>
      </p:sp>
      <p:sp>
        <p:nvSpPr>
          <p:cNvPr id="6" name="Text 3"/>
          <p:cNvSpPr/>
          <p:nvPr/>
        </p:nvSpPr>
        <p:spPr>
          <a:xfrm>
            <a:off x="793790" y="2155269"/>
            <a:ext cx="3098721" cy="309920"/>
          </a:xfrm>
          <a:prstGeom prst="rect">
            <a:avLst/>
          </a:prstGeom>
          <a:noFill/>
          <a:ln/>
        </p:spPr>
        <p:txBody>
          <a:bodyPr wrap="none" lIns="0" tIns="0" rIns="0" bIns="0" rtlCol="0" anchor="t"/>
          <a:lstStyle/>
          <a:p>
            <a:pPr algn="l" indent="0" marL="0">
              <a:lnSpc>
                <a:spcPts val="2300"/>
              </a:lnSpc>
              <a:buNone/>
            </a:pPr>
            <a:r>
              <a:rPr lang="en-US" sz="1850" dirty="0">
                <a:solidFill>
                  <a:srgbClr val="000000"/>
                </a:solidFill>
                <a:latin typeface="Tomorrow Semi Bold" pitchFamily="34" charset="0"/>
                <a:ea typeface="Tomorrow Semi Bold" pitchFamily="34" charset="-122"/>
                <a:cs typeface="Tomorrow Semi Bold" pitchFamily="34" charset="-120"/>
              </a:rPr>
              <a:t>🛠️</a:t>
            </a:r>
            <a:pPr algn="l" indent="0" marL="0">
              <a:lnSpc>
                <a:spcPts val="2300"/>
              </a:lnSpc>
              <a:buNone/>
            </a:pPr>
            <a:r>
              <a:rPr lang="en-US" sz="1850" dirty="0">
                <a:solidFill>
                  <a:srgbClr val="EDEDE8"/>
                </a:solidFill>
                <a:latin typeface="Tomorrow Semi Bold" pitchFamily="34" charset="0"/>
                <a:ea typeface="Tomorrow Semi Bold" pitchFamily="34" charset="-122"/>
                <a:cs typeface="Tomorrow Semi Bold" pitchFamily="34" charset="-120"/>
              </a:rPr>
              <a:t> Before the Competition</a:t>
            </a:r>
            <a:endParaRPr lang="en-US" sz="1850" dirty="0"/>
          </a:p>
        </p:txBody>
      </p:sp>
      <p:sp>
        <p:nvSpPr>
          <p:cNvPr id="7" name="Text 4"/>
          <p:cNvSpPr/>
          <p:nvPr/>
        </p:nvSpPr>
        <p:spPr>
          <a:xfrm>
            <a:off x="793790" y="2644259"/>
            <a:ext cx="6291382" cy="2247305"/>
          </a:xfrm>
          <a:prstGeom prst="rect">
            <a:avLst/>
          </a:prstGeom>
          <a:noFill/>
          <a:ln/>
        </p:spPr>
        <p:txBody>
          <a:bodyPr wrap="square" lIns="0" tIns="0" rIns="0" bIns="0" rtlCol="0" anchor="t"/>
          <a:lstStyle/>
          <a:p>
            <a:pPr algn="l" marL="342900" indent="-342900">
              <a:lnSpc>
                <a:spcPts val="2300"/>
              </a:lnSpc>
              <a:buSzPct val="100000"/>
              <a:buChar char="•"/>
            </a:pPr>
            <a:r>
              <a:rPr lang="en-US" sz="1450" dirty="0">
                <a:solidFill>
                  <a:srgbClr val="C9C9C0"/>
                </a:solidFill>
                <a:latin typeface="Tomorrow" pitchFamily="34" charset="0"/>
                <a:ea typeface="Tomorrow" pitchFamily="34" charset="-122"/>
                <a:cs typeface="Tomorrow" pitchFamily="34" charset="-120"/>
              </a:rPr>
              <a:t>Get your tools installed and tested — don't waste competition time on setup</a:t>
            </a:r>
            <a:endParaRPr lang="en-US" sz="1450" dirty="0"/>
          </a:p>
          <a:p>
            <a:pPr algn="l" marL="342900" indent="-342900">
              <a:lnSpc>
                <a:spcPts val="2300"/>
              </a:lnSpc>
              <a:buSzPct val="100000"/>
              <a:buChar char="•"/>
            </a:pPr>
            <a:r>
              <a:rPr lang="en-US" sz="1450" dirty="0">
                <a:solidFill>
                  <a:srgbClr val="C9C9C0"/>
                </a:solidFill>
                <a:latin typeface="Tomorrow" pitchFamily="34" charset="0"/>
                <a:ea typeface="Tomorrow" pitchFamily="34" charset="-122"/>
                <a:cs typeface="Tomorrow" pitchFamily="34" charset="-120"/>
              </a:rPr>
              <a:t>Have </a:t>
            </a:r>
            <a:pPr algn="l" indent="0" marL="0">
              <a:lnSpc>
                <a:spcPts val="2300"/>
              </a:lnSpc>
              <a:buNone/>
            </a:pPr>
            <a:r>
              <a:rPr lang="en-US" sz="1450" b="1" dirty="0">
                <a:solidFill>
                  <a:srgbClr val="C9C9C0"/>
                </a:solidFill>
                <a:latin typeface="Tomorrow" pitchFamily="34" charset="0"/>
                <a:ea typeface="Tomorrow" pitchFamily="34" charset="-122"/>
                <a:cs typeface="Tomorrow" pitchFamily="34" charset="-120"/>
              </a:rPr>
              <a:t>rockyou.txt</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downloaded and ready — it's used in almost every password cracking challenge</a:t>
            </a:r>
            <a:endParaRPr lang="en-US" sz="1450" dirty="0"/>
          </a:p>
          <a:p>
            <a:pPr algn="l" marL="342900" indent="-342900">
              <a:lnSpc>
                <a:spcPts val="2300"/>
              </a:lnSpc>
              <a:buSzPct val="100000"/>
              <a:buChar char="•"/>
            </a:pPr>
            <a:r>
              <a:rPr lang="en-US" sz="1450" dirty="0">
                <a:solidFill>
                  <a:srgbClr val="C9C9C0"/>
                </a:solidFill>
                <a:latin typeface="Tomorrow" pitchFamily="34" charset="0"/>
                <a:ea typeface="Tomorrow" pitchFamily="34" charset="-122"/>
                <a:cs typeface="Tomorrow" pitchFamily="34" charset="-120"/>
              </a:rPr>
              <a:t>Make sure nmap, hashcat, and Wireshark all work on your machine</a:t>
            </a:r>
            <a:endParaRPr lang="en-US" sz="1450" dirty="0"/>
          </a:p>
          <a:p>
            <a:pPr algn="l" marL="342900" indent="-342900">
              <a:lnSpc>
                <a:spcPts val="2300"/>
              </a:lnSpc>
              <a:buSzPct val="100000"/>
              <a:buChar char="•"/>
            </a:pPr>
            <a:r>
              <a:rPr lang="en-US" sz="1450" dirty="0">
                <a:solidFill>
                  <a:srgbClr val="C9C9C0"/>
                </a:solidFill>
                <a:latin typeface="Tomorrow" pitchFamily="34" charset="0"/>
                <a:ea typeface="Tomorrow" pitchFamily="34" charset="-122"/>
                <a:cs typeface="Tomorrow" pitchFamily="34" charset="-120"/>
              </a:rPr>
              <a:t>If your team has a GPU, confirm hashcat can use it — it makes cracking </a:t>
            </a:r>
            <a:pPr algn="l" indent="0" marL="0">
              <a:lnSpc>
                <a:spcPts val="2300"/>
              </a:lnSpc>
              <a:buNone/>
            </a:pPr>
            <a:r>
              <a:rPr lang="en-US" sz="1450" b="1" dirty="0">
                <a:solidFill>
                  <a:srgbClr val="C9C9C0"/>
                </a:solidFill>
                <a:latin typeface="Tomorrow" pitchFamily="34" charset="0"/>
                <a:ea typeface="Tomorrow" pitchFamily="34" charset="-122"/>
                <a:cs typeface="Tomorrow" pitchFamily="34" charset="-120"/>
              </a:rPr>
              <a:t>100x faster</a:t>
            </a:r>
            <a:endParaRPr lang="en-US" sz="1450" dirty="0"/>
          </a:p>
        </p:txBody>
      </p:sp>
      <p:sp>
        <p:nvSpPr>
          <p:cNvPr id="8" name="Text 5"/>
          <p:cNvSpPr/>
          <p:nvPr/>
        </p:nvSpPr>
        <p:spPr>
          <a:xfrm>
            <a:off x="7552849" y="2155269"/>
            <a:ext cx="3122414" cy="309920"/>
          </a:xfrm>
          <a:prstGeom prst="rect">
            <a:avLst/>
          </a:prstGeom>
          <a:noFill/>
          <a:ln/>
        </p:spPr>
        <p:txBody>
          <a:bodyPr wrap="none" lIns="0" tIns="0" rIns="0" bIns="0" rtlCol="0" anchor="t"/>
          <a:lstStyle/>
          <a:p>
            <a:pPr algn="l" indent="0" marL="0">
              <a:lnSpc>
                <a:spcPts val="2300"/>
              </a:lnSpc>
              <a:buNone/>
            </a:pPr>
            <a:r>
              <a:rPr lang="en-US" sz="1850" dirty="0">
                <a:solidFill>
                  <a:srgbClr val="000000"/>
                </a:solidFill>
                <a:latin typeface="Tomorrow Semi Bold" pitchFamily="34" charset="0"/>
                <a:ea typeface="Tomorrow Semi Bold" pitchFamily="34" charset="-122"/>
                <a:cs typeface="Tomorrow Semi Bold" pitchFamily="34" charset="-120"/>
              </a:rPr>
              <a:t>⚡</a:t>
            </a:r>
            <a:pPr algn="l" indent="0" marL="0">
              <a:lnSpc>
                <a:spcPts val="2300"/>
              </a:lnSpc>
              <a:buNone/>
            </a:pPr>
            <a:r>
              <a:rPr lang="en-US" sz="1850" dirty="0">
                <a:solidFill>
                  <a:srgbClr val="EDEDE8"/>
                </a:solidFill>
                <a:latin typeface="Tomorrow Semi Bold" pitchFamily="34" charset="0"/>
                <a:ea typeface="Tomorrow Semi Bold" pitchFamily="34" charset="-122"/>
                <a:cs typeface="Tomorrow Semi Bold" pitchFamily="34" charset="-120"/>
              </a:rPr>
              <a:t> During the Competition</a:t>
            </a:r>
            <a:endParaRPr lang="en-US" sz="1850" dirty="0"/>
          </a:p>
        </p:txBody>
      </p:sp>
      <p:sp>
        <p:nvSpPr>
          <p:cNvPr id="9" name="Text 6"/>
          <p:cNvSpPr/>
          <p:nvPr/>
        </p:nvSpPr>
        <p:spPr>
          <a:xfrm>
            <a:off x="7552849" y="2644259"/>
            <a:ext cx="6291382" cy="3255169"/>
          </a:xfrm>
          <a:prstGeom prst="rect">
            <a:avLst/>
          </a:prstGeom>
          <a:noFill/>
          <a:ln/>
        </p:spPr>
        <p:txBody>
          <a:bodyPr wrap="square" lIns="0" tIns="0" rIns="0" bIns="0" rtlCol="0" anchor="t"/>
          <a:lstStyle/>
          <a:p>
            <a:pPr algn="l" marL="342900" indent="-342900">
              <a:lnSpc>
                <a:spcPts val="2300"/>
              </a:lnSpc>
              <a:buSzPct val="100000"/>
              <a:buChar char="•"/>
            </a:pPr>
            <a:r>
              <a:rPr lang="en-US" sz="1450" b="1" dirty="0">
                <a:solidFill>
                  <a:srgbClr val="C9C9C0"/>
                </a:solidFill>
                <a:latin typeface="Tomorrow" pitchFamily="34" charset="0"/>
                <a:ea typeface="Tomorrow" pitchFamily="34" charset="-122"/>
                <a:cs typeface="Tomorrow" pitchFamily="34" charset="-120"/>
              </a:rPr>
              <a:t>Start with Easy challenges</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in every category to rack up quick points</a:t>
            </a:r>
            <a:endParaRPr lang="en-US" sz="1450" dirty="0"/>
          </a:p>
          <a:p>
            <a:pPr algn="l" marL="342900" indent="-342900">
              <a:lnSpc>
                <a:spcPts val="2300"/>
              </a:lnSpc>
              <a:buSzPct val="100000"/>
              <a:buChar char="•"/>
            </a:pPr>
            <a:r>
              <a:rPr lang="en-US" sz="1450" b="1" dirty="0">
                <a:solidFill>
                  <a:srgbClr val="C9C9C0"/>
                </a:solidFill>
                <a:latin typeface="Tomorrow" pitchFamily="34" charset="0"/>
                <a:ea typeface="Tomorrow" pitchFamily="34" charset="-122"/>
                <a:cs typeface="Tomorrow" pitchFamily="34" charset="-120"/>
              </a:rPr>
              <a:t>Divide by skillset</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 not everyone needs to touch every category</a:t>
            </a:r>
            <a:endParaRPr lang="en-US" sz="1450" dirty="0"/>
          </a:p>
          <a:p>
            <a:pPr algn="l" marL="342900" indent="-342900">
              <a:lnSpc>
                <a:spcPts val="2300"/>
              </a:lnSpc>
              <a:buSzPct val="100000"/>
              <a:buChar char="•"/>
            </a:pPr>
            <a:r>
              <a:rPr lang="en-US" sz="1450" b="1" dirty="0">
                <a:solidFill>
                  <a:srgbClr val="C9C9C0"/>
                </a:solidFill>
                <a:latin typeface="Tomorrow" pitchFamily="34" charset="0"/>
                <a:ea typeface="Tomorrow" pitchFamily="34" charset="-122"/>
                <a:cs typeface="Tomorrow" pitchFamily="34" charset="-120"/>
              </a:rPr>
              <a:t>Read the challenge name carefully</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 it's almost always a hint</a:t>
            </a:r>
            <a:endParaRPr lang="en-US" sz="1450" dirty="0"/>
          </a:p>
          <a:p>
            <a:pPr algn="l" marL="342900" indent="-342900">
              <a:lnSpc>
                <a:spcPts val="2300"/>
              </a:lnSpc>
              <a:buSzPct val="100000"/>
              <a:buChar char="•"/>
            </a:pPr>
            <a:r>
              <a:rPr lang="en-US" sz="1450" b="1" dirty="0">
                <a:solidFill>
                  <a:srgbClr val="C9C9C0"/>
                </a:solidFill>
                <a:latin typeface="Tomorrow" pitchFamily="34" charset="0"/>
                <a:ea typeface="Tomorrow" pitchFamily="34" charset="-122"/>
                <a:cs typeface="Tomorrow" pitchFamily="34" charset="-120"/>
              </a:rPr>
              <a:t>Check EXIF metadata on every file</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you're given — it's free information</a:t>
            </a:r>
            <a:endParaRPr lang="en-US" sz="1450" dirty="0"/>
          </a:p>
          <a:p>
            <a:pPr algn="l" marL="342900" indent="-342900">
              <a:lnSpc>
                <a:spcPts val="2300"/>
              </a:lnSpc>
              <a:buSzPct val="100000"/>
              <a:buChar char="•"/>
            </a:pPr>
            <a:r>
              <a:rPr lang="en-US" sz="1450" b="1" dirty="0">
                <a:solidFill>
                  <a:srgbClr val="C9C9C0"/>
                </a:solidFill>
                <a:latin typeface="Tomorrow" pitchFamily="34" charset="0"/>
                <a:ea typeface="Tomorrow" pitchFamily="34" charset="-122"/>
                <a:cs typeface="Tomorrow" pitchFamily="34" charset="-120"/>
              </a:rPr>
              <a:t>Don't skip UDP scans</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 an entire hard challenge was hidden on a UDP-only port</a:t>
            </a:r>
            <a:endParaRPr lang="en-US" sz="1450" dirty="0"/>
          </a:p>
          <a:p>
            <a:pPr algn="l" marL="342900" indent="-342900">
              <a:lnSpc>
                <a:spcPts val="2300"/>
              </a:lnSpc>
              <a:buSzPct val="100000"/>
              <a:buChar char="•"/>
            </a:pPr>
            <a:r>
              <a:rPr lang="en-US" sz="1450" b="1" dirty="0">
                <a:solidFill>
                  <a:srgbClr val="C9C9C0"/>
                </a:solidFill>
                <a:latin typeface="Tomorrow" pitchFamily="34" charset="0"/>
                <a:ea typeface="Tomorrow" pitchFamily="34" charset="-122"/>
                <a:cs typeface="Tomorrow" pitchFamily="34" charset="-120"/>
              </a:rPr>
              <a:t>When in doubt, try CyberChef</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 throw suspicious data at it and experiment</a:t>
            </a:r>
            <a:endParaRPr lang="en-US" sz="1450" dirty="0"/>
          </a:p>
        </p:txBody>
      </p:sp>
      <p:sp>
        <p:nvSpPr>
          <p:cNvPr id="10" name="Shape 7"/>
          <p:cNvSpPr/>
          <p:nvPr/>
        </p:nvSpPr>
        <p:spPr>
          <a:xfrm>
            <a:off x="793790" y="6163508"/>
            <a:ext cx="13042821" cy="1367433"/>
          </a:xfrm>
          <a:prstGeom prst="roundRect">
            <a:avLst>
              <a:gd name="adj" fmla="val 33093"/>
            </a:avLst>
          </a:prstGeom>
          <a:solidFill>
            <a:srgbClr val="3C3C3A"/>
          </a:solidFill>
          <a:ln/>
        </p:spPr>
      </p:sp>
      <p:sp>
        <p:nvSpPr>
          <p:cNvPr id="11" name="Text 8"/>
          <p:cNvSpPr/>
          <p:nvPr/>
        </p:nvSpPr>
        <p:spPr>
          <a:xfrm>
            <a:off x="982266" y="6351984"/>
            <a:ext cx="2442329" cy="294680"/>
          </a:xfrm>
          <a:prstGeom prst="rect">
            <a:avLst/>
          </a:prstGeom>
          <a:noFill/>
          <a:ln/>
        </p:spPr>
        <p:txBody>
          <a:bodyPr wrap="none" lIns="0" tIns="0" rIns="0" bIns="0" rtlCol="0" anchor="t"/>
          <a:lstStyle/>
          <a:p>
            <a:pPr algn="l" indent="0" marL="0">
              <a:lnSpc>
                <a:spcPts val="2300"/>
              </a:lnSpc>
              <a:buNone/>
            </a:pPr>
            <a:r>
              <a:rPr lang="en-US" sz="1850" dirty="0">
                <a:solidFill>
                  <a:srgbClr val="C9C9C0"/>
                </a:solidFill>
                <a:latin typeface="Tomorrow Semi Bold" pitchFamily="34" charset="0"/>
                <a:ea typeface="Tomorrow Semi Bold" pitchFamily="34" charset="-122"/>
                <a:cs typeface="Tomorrow Semi Bold" pitchFamily="34" charset="-120"/>
              </a:rPr>
              <a:t>The Scoring Mindset</a:t>
            </a:r>
            <a:endParaRPr lang="en-US" sz="1850" dirty="0"/>
          </a:p>
        </p:txBody>
      </p:sp>
      <p:sp>
        <p:nvSpPr>
          <p:cNvPr id="12" name="Text 9"/>
          <p:cNvSpPr/>
          <p:nvPr/>
        </p:nvSpPr>
        <p:spPr>
          <a:xfrm>
            <a:off x="982266" y="6754058"/>
            <a:ext cx="12665869" cy="588407"/>
          </a:xfrm>
          <a:prstGeom prst="rect">
            <a:avLst/>
          </a:prstGeom>
          <a:noFill/>
          <a:ln/>
        </p:spPr>
        <p:txBody>
          <a:bodyPr wrap="square" lIns="0" tIns="0" rIns="0" bIns="0" rtlCol="0" anchor="t"/>
          <a:lstStyle/>
          <a:p>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Easy challenges are often worth the same total points as Hard ones but take a fraction of the time. Partial credit counts — even 2 out of 5 questions adds up. The competition runs all weekend. Take breaks, come back fresh.</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791647" y="546021"/>
            <a:ext cx="1673900" cy="314801"/>
          </a:xfrm>
          <a:prstGeom prst="roundRect">
            <a:avLst>
              <a:gd name="adj" fmla="val 6413"/>
            </a:avLst>
          </a:prstGeom>
          <a:noFill/>
          <a:ln w="7620">
            <a:solidFill>
              <a:srgbClr val="E1E1DF"/>
            </a:solidFill>
            <a:prstDash val="solid"/>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00113" y="636151"/>
            <a:ext cx="134541" cy="134541"/>
          </a:xfrm>
          <a:prstGeom prst="rect">
            <a:avLst/>
          </a:prstGeom>
        </p:spPr>
      </p:pic>
      <p:sp>
        <p:nvSpPr>
          <p:cNvPr id="4" name="Text 1"/>
          <p:cNvSpPr/>
          <p:nvPr/>
        </p:nvSpPr>
        <p:spPr>
          <a:xfrm>
            <a:off x="1101923" y="604004"/>
            <a:ext cx="1255157" cy="198834"/>
          </a:xfrm>
          <a:prstGeom prst="rect">
            <a:avLst/>
          </a:prstGeom>
          <a:noFill/>
          <a:ln/>
        </p:spPr>
        <p:txBody>
          <a:bodyPr wrap="none" lIns="0" tIns="0" rIns="0" bIns="0" rtlCol="0" anchor="t"/>
          <a:lstStyle/>
          <a:p>
            <a:pPr algn="l" indent="0" marL="0">
              <a:lnSpc>
                <a:spcPts val="1550"/>
              </a:lnSpc>
              <a:buNone/>
            </a:pPr>
            <a:r>
              <a:rPr lang="en-US" sz="1050" dirty="0">
                <a:solidFill>
                  <a:srgbClr val="E1E1DF"/>
                </a:solidFill>
                <a:latin typeface="Tomorrow" pitchFamily="34" charset="0"/>
                <a:ea typeface="Tomorrow" pitchFamily="34" charset="-122"/>
                <a:cs typeface="Tomorrow" pitchFamily="34" charset="-120"/>
              </a:rPr>
              <a:t>LESSONS LEARNED</a:t>
            </a:r>
            <a:endParaRPr lang="en-US" sz="1050" dirty="0"/>
          </a:p>
        </p:txBody>
      </p:sp>
      <p:sp>
        <p:nvSpPr>
          <p:cNvPr id="5" name="Text 2"/>
          <p:cNvSpPr/>
          <p:nvPr/>
        </p:nvSpPr>
        <p:spPr>
          <a:xfrm>
            <a:off x="791647" y="917853"/>
            <a:ext cx="6872764" cy="525780"/>
          </a:xfrm>
          <a:prstGeom prst="rect">
            <a:avLst/>
          </a:prstGeom>
          <a:noFill/>
          <a:ln/>
        </p:spPr>
        <p:txBody>
          <a:bodyPr wrap="none" lIns="0" tIns="0" rIns="0" bIns="0" rtlCol="0" anchor="t"/>
          <a:lstStyle/>
          <a:p>
            <a:pPr algn="l" indent="0" marL="0">
              <a:lnSpc>
                <a:spcPts val="4100"/>
              </a:lnSpc>
              <a:buNone/>
            </a:pPr>
            <a:r>
              <a:rPr lang="en-US" sz="3300" dirty="0">
                <a:solidFill>
                  <a:srgbClr val="EDEDE8"/>
                </a:solidFill>
                <a:latin typeface="Tomorrow Semi Bold" pitchFamily="34" charset="0"/>
                <a:ea typeface="Tomorrow Semi Bold" pitchFamily="34" charset="-122"/>
                <a:cs typeface="Tomorrow Semi Bold" pitchFamily="34" charset="-120"/>
              </a:rPr>
              <a:t>Quick Reference — What Beat Us</a:t>
            </a:r>
            <a:endParaRPr lang="en-US" sz="3300" dirty="0"/>
          </a:p>
        </p:txBody>
      </p:sp>
      <p:sp>
        <p:nvSpPr>
          <p:cNvPr id="6" name="Text 3"/>
          <p:cNvSpPr/>
          <p:nvPr/>
        </p:nvSpPr>
        <p:spPr>
          <a:xfrm>
            <a:off x="791647" y="1657469"/>
            <a:ext cx="13047107" cy="248603"/>
          </a:xfrm>
          <a:prstGeom prst="rect">
            <a:avLst/>
          </a:prstGeom>
          <a:noFill/>
          <a:ln/>
        </p:spPr>
        <p:txBody>
          <a:bodyPr wrap="none" lIns="0" tIns="0" rIns="0" bIns="0" rtlCol="0" anchor="t"/>
          <a:lstStyle/>
          <a:p>
            <a:pPr algn="l" indent="0" marL="0">
              <a:lnSpc>
                <a:spcPts val="1950"/>
              </a:lnSpc>
              <a:buNone/>
            </a:pPr>
            <a:r>
              <a:rPr lang="en-US" sz="1300" dirty="0">
                <a:solidFill>
                  <a:srgbClr val="C9C9C0"/>
                </a:solidFill>
                <a:latin typeface="Tomorrow" pitchFamily="34" charset="0"/>
                <a:ea typeface="Tomorrow" pitchFamily="34" charset="-122"/>
                <a:cs typeface="Tomorrow" pitchFamily="34" charset="-120"/>
              </a:rPr>
              <a:t>Not everything got solved. Here's where we struggled — and where there's room to grow. These are great areas to study before the next competition.</a:t>
            </a:r>
            <a:endParaRPr lang="en-US" sz="1300" dirty="0"/>
          </a:p>
        </p:txBody>
      </p:sp>
      <p:sp>
        <p:nvSpPr>
          <p:cNvPr id="7" name="Shape 4"/>
          <p:cNvSpPr/>
          <p:nvPr/>
        </p:nvSpPr>
        <p:spPr>
          <a:xfrm>
            <a:off x="791647" y="2066449"/>
            <a:ext cx="13047107" cy="1009412"/>
          </a:xfrm>
          <a:prstGeom prst="roundRect">
            <a:avLst>
              <a:gd name="adj" fmla="val 2500"/>
            </a:avLst>
          </a:prstGeom>
          <a:solidFill>
            <a:srgbClr val="1D1D1B"/>
          </a:solidFill>
          <a:ln w="22860">
            <a:solidFill>
              <a:srgbClr val="555553"/>
            </a:solidFill>
            <a:prstDash val="solid"/>
          </a:ln>
        </p:spPr>
      </p:sp>
      <p:sp>
        <p:nvSpPr>
          <p:cNvPr id="8" name="Shape 5"/>
          <p:cNvSpPr/>
          <p:nvPr/>
        </p:nvSpPr>
        <p:spPr>
          <a:xfrm>
            <a:off x="814507" y="2089309"/>
            <a:ext cx="672941" cy="963692"/>
          </a:xfrm>
          <a:prstGeom prst="rect">
            <a:avLst/>
          </a:prstGeom>
          <a:solidFill>
            <a:srgbClr val="3C3C3A"/>
          </a:solidFill>
          <a:ln/>
        </p:spPr>
      </p:sp>
      <p:sp>
        <p:nvSpPr>
          <p:cNvPr id="9" name="Text 6"/>
          <p:cNvSpPr/>
          <p:nvPr/>
        </p:nvSpPr>
        <p:spPr>
          <a:xfrm>
            <a:off x="1024771" y="2413397"/>
            <a:ext cx="252293" cy="315397"/>
          </a:xfrm>
          <a:prstGeom prst="rect">
            <a:avLst/>
          </a:prstGeom>
          <a:noFill/>
          <a:ln/>
        </p:spPr>
        <p:txBody>
          <a:bodyPr wrap="none" lIns="0" tIns="0" rIns="0" bIns="0" rtlCol="0" anchor="t"/>
          <a:lstStyle/>
          <a:p>
            <a:pPr algn="l" indent="0" marL="0">
              <a:lnSpc>
                <a:spcPts val="1950"/>
              </a:lnSpc>
              <a:buNone/>
            </a:pPr>
            <a:r>
              <a:rPr lang="en-US" sz="1950" dirty="0">
                <a:solidFill>
                  <a:srgbClr val="C9C9C0"/>
                </a:solidFill>
                <a:latin typeface="Tomorrow Semi Bold" pitchFamily="34" charset="0"/>
                <a:ea typeface="Tomorrow Semi Bold" pitchFamily="34" charset="-122"/>
                <a:cs typeface="Tomorrow Semi Bold" pitchFamily="34" charset="-120"/>
              </a:rPr>
              <a:t>1</a:t>
            </a:r>
            <a:endParaRPr lang="en-US" sz="1950" dirty="0"/>
          </a:p>
        </p:txBody>
      </p:sp>
      <p:sp>
        <p:nvSpPr>
          <p:cNvPr id="10" name="Text 7"/>
          <p:cNvSpPr/>
          <p:nvPr/>
        </p:nvSpPr>
        <p:spPr>
          <a:xfrm>
            <a:off x="1629966" y="2257544"/>
            <a:ext cx="3015853" cy="262771"/>
          </a:xfrm>
          <a:prstGeom prst="rect">
            <a:avLst/>
          </a:prstGeom>
          <a:noFill/>
          <a:ln/>
        </p:spPr>
        <p:txBody>
          <a:bodyPr wrap="none" lIns="0" tIns="0" rIns="0" bIns="0" rtlCol="0" anchor="t"/>
          <a:lstStyle/>
          <a:p>
            <a:pPr algn="l" indent="0" marL="0">
              <a:lnSpc>
                <a:spcPts val="2050"/>
              </a:lnSpc>
              <a:buNone/>
            </a:pPr>
            <a:r>
              <a:rPr lang="en-US" sz="1650" dirty="0">
                <a:solidFill>
                  <a:srgbClr val="C9C9C0"/>
                </a:solidFill>
                <a:latin typeface="Tomorrow Semi Bold" pitchFamily="34" charset="0"/>
                <a:ea typeface="Tomorrow Semi Bold" pitchFamily="34" charset="-122"/>
                <a:cs typeface="Tomorrow Semi Bold" pitchFamily="34" charset="-120"/>
              </a:rPr>
              <a:t>Chaos Theory (Hard, Crypto)</a:t>
            </a:r>
            <a:endParaRPr lang="en-US" sz="1650" dirty="0"/>
          </a:p>
        </p:txBody>
      </p:sp>
      <p:sp>
        <p:nvSpPr>
          <p:cNvPr id="11" name="Text 8"/>
          <p:cNvSpPr/>
          <p:nvPr/>
        </p:nvSpPr>
        <p:spPr>
          <a:xfrm>
            <a:off x="1629966" y="2605802"/>
            <a:ext cx="12017693" cy="248603"/>
          </a:xfrm>
          <a:prstGeom prst="rect">
            <a:avLst/>
          </a:prstGeom>
          <a:noFill/>
          <a:ln/>
        </p:spPr>
        <p:txBody>
          <a:bodyPr wrap="none" lIns="0" tIns="0" rIns="0" bIns="0" rtlCol="0" anchor="t"/>
          <a:lstStyle/>
          <a:p>
            <a:pPr algn="l" indent="0" marL="0">
              <a:lnSpc>
                <a:spcPts val="1950"/>
              </a:lnSpc>
              <a:buNone/>
            </a:pPr>
            <a:r>
              <a:rPr lang="en-US" sz="1300" dirty="0">
                <a:solidFill>
                  <a:srgbClr val="C9C9C0"/>
                </a:solidFill>
                <a:latin typeface="Tomorrow" pitchFamily="34" charset="0"/>
                <a:ea typeface="Tomorrow" pitchFamily="34" charset="-122"/>
                <a:cs typeface="Tomorrow" pitchFamily="34" charset="-120"/>
              </a:rPr>
              <a:t>Binary file with partial encryption. We couldn't identify the cipher mode and key. Needs deeper study of block cipher modes.</a:t>
            </a:r>
            <a:endParaRPr lang="en-US" sz="1300" dirty="0"/>
          </a:p>
        </p:txBody>
      </p:sp>
      <p:sp>
        <p:nvSpPr>
          <p:cNvPr id="12" name="Shape 9"/>
          <p:cNvSpPr/>
          <p:nvPr/>
        </p:nvSpPr>
        <p:spPr>
          <a:xfrm>
            <a:off x="791647" y="3218378"/>
            <a:ext cx="13047107" cy="1009412"/>
          </a:xfrm>
          <a:prstGeom prst="roundRect">
            <a:avLst>
              <a:gd name="adj" fmla="val 2500"/>
            </a:avLst>
          </a:prstGeom>
          <a:solidFill>
            <a:srgbClr val="1D1D1B"/>
          </a:solidFill>
          <a:ln w="22860">
            <a:solidFill>
              <a:srgbClr val="555553"/>
            </a:solidFill>
            <a:prstDash val="solid"/>
          </a:ln>
        </p:spPr>
      </p:sp>
      <p:sp>
        <p:nvSpPr>
          <p:cNvPr id="13" name="Shape 10"/>
          <p:cNvSpPr/>
          <p:nvPr/>
        </p:nvSpPr>
        <p:spPr>
          <a:xfrm>
            <a:off x="814507" y="3241238"/>
            <a:ext cx="672941" cy="963692"/>
          </a:xfrm>
          <a:prstGeom prst="rect">
            <a:avLst/>
          </a:prstGeom>
          <a:solidFill>
            <a:srgbClr val="3C3C3A"/>
          </a:solidFill>
          <a:ln/>
        </p:spPr>
      </p:sp>
      <p:sp>
        <p:nvSpPr>
          <p:cNvPr id="14" name="Text 11"/>
          <p:cNvSpPr/>
          <p:nvPr/>
        </p:nvSpPr>
        <p:spPr>
          <a:xfrm>
            <a:off x="1024771" y="3565327"/>
            <a:ext cx="252293" cy="315397"/>
          </a:xfrm>
          <a:prstGeom prst="rect">
            <a:avLst/>
          </a:prstGeom>
          <a:noFill/>
          <a:ln/>
        </p:spPr>
        <p:txBody>
          <a:bodyPr wrap="none" lIns="0" tIns="0" rIns="0" bIns="0" rtlCol="0" anchor="t"/>
          <a:lstStyle/>
          <a:p>
            <a:pPr algn="l" indent="0" marL="0">
              <a:lnSpc>
                <a:spcPts val="1950"/>
              </a:lnSpc>
              <a:buNone/>
            </a:pPr>
            <a:r>
              <a:rPr lang="en-US" sz="1950" dirty="0">
                <a:solidFill>
                  <a:srgbClr val="C9C9C0"/>
                </a:solidFill>
                <a:latin typeface="Tomorrow Semi Bold" pitchFamily="34" charset="0"/>
                <a:ea typeface="Tomorrow Semi Bold" pitchFamily="34" charset="-122"/>
                <a:cs typeface="Tomorrow Semi Bold" pitchFamily="34" charset="-120"/>
              </a:rPr>
              <a:t>2</a:t>
            </a:r>
            <a:endParaRPr lang="en-US" sz="1950" dirty="0"/>
          </a:p>
        </p:txBody>
      </p:sp>
      <p:sp>
        <p:nvSpPr>
          <p:cNvPr id="15" name="Text 12"/>
          <p:cNvSpPr/>
          <p:nvPr/>
        </p:nvSpPr>
        <p:spPr>
          <a:xfrm>
            <a:off x="1629966" y="3409474"/>
            <a:ext cx="3967758" cy="262771"/>
          </a:xfrm>
          <a:prstGeom prst="rect">
            <a:avLst/>
          </a:prstGeom>
          <a:noFill/>
          <a:ln/>
        </p:spPr>
        <p:txBody>
          <a:bodyPr wrap="none" lIns="0" tIns="0" rIns="0" bIns="0" rtlCol="0" anchor="t"/>
          <a:lstStyle/>
          <a:p>
            <a:pPr algn="l" indent="0" marL="0">
              <a:lnSpc>
                <a:spcPts val="2050"/>
              </a:lnSpc>
              <a:buNone/>
            </a:pPr>
            <a:r>
              <a:rPr lang="en-US" sz="1650" dirty="0">
                <a:solidFill>
                  <a:srgbClr val="C9C9C0"/>
                </a:solidFill>
                <a:latin typeface="Tomorrow Semi Bold" pitchFamily="34" charset="0"/>
                <a:ea typeface="Tomorrow Semi Bold" pitchFamily="34" charset="-122"/>
                <a:cs typeface="Tomorrow Semi Bold" pitchFamily="34" charset="-120"/>
              </a:rPr>
              <a:t>Access the Mainframe (Hard, 140 pts)</a:t>
            </a:r>
            <a:endParaRPr lang="en-US" sz="1650" dirty="0"/>
          </a:p>
        </p:txBody>
      </p:sp>
      <p:sp>
        <p:nvSpPr>
          <p:cNvPr id="16" name="Text 13"/>
          <p:cNvSpPr/>
          <p:nvPr/>
        </p:nvSpPr>
        <p:spPr>
          <a:xfrm>
            <a:off x="1629966" y="3757732"/>
            <a:ext cx="12017693" cy="248603"/>
          </a:xfrm>
          <a:prstGeom prst="rect">
            <a:avLst/>
          </a:prstGeom>
          <a:noFill/>
          <a:ln/>
        </p:spPr>
        <p:txBody>
          <a:bodyPr wrap="none" lIns="0" tIns="0" rIns="0" bIns="0" rtlCol="0" anchor="t"/>
          <a:lstStyle/>
          <a:p>
            <a:pPr algn="l" indent="0" marL="0">
              <a:lnSpc>
                <a:spcPts val="1950"/>
              </a:lnSpc>
              <a:buNone/>
            </a:pPr>
            <a:r>
              <a:rPr lang="en-US" sz="1300" dirty="0">
                <a:solidFill>
                  <a:srgbClr val="C9C9C0"/>
                </a:solidFill>
                <a:latin typeface="Tomorrow" pitchFamily="34" charset="0"/>
                <a:ea typeface="Tomorrow" pitchFamily="34" charset="-122"/>
                <a:cs typeface="Tomorrow" pitchFamily="34" charset="-120"/>
              </a:rPr>
              <a:t>IBM mainframe exploitation with 24 questions. Requires specialized TSO/ISPF/JCL knowledge that most teams won't have.</a:t>
            </a:r>
            <a:endParaRPr lang="en-US" sz="1300" dirty="0"/>
          </a:p>
        </p:txBody>
      </p:sp>
      <p:sp>
        <p:nvSpPr>
          <p:cNvPr id="17" name="Shape 14"/>
          <p:cNvSpPr/>
          <p:nvPr/>
        </p:nvSpPr>
        <p:spPr>
          <a:xfrm>
            <a:off x="791647" y="4370308"/>
            <a:ext cx="13047107" cy="1009412"/>
          </a:xfrm>
          <a:prstGeom prst="roundRect">
            <a:avLst>
              <a:gd name="adj" fmla="val 2500"/>
            </a:avLst>
          </a:prstGeom>
          <a:solidFill>
            <a:srgbClr val="1D1D1B"/>
          </a:solidFill>
          <a:ln w="22860">
            <a:solidFill>
              <a:srgbClr val="555553"/>
            </a:solidFill>
            <a:prstDash val="solid"/>
          </a:ln>
        </p:spPr>
      </p:sp>
      <p:sp>
        <p:nvSpPr>
          <p:cNvPr id="18" name="Shape 15"/>
          <p:cNvSpPr/>
          <p:nvPr/>
        </p:nvSpPr>
        <p:spPr>
          <a:xfrm>
            <a:off x="814507" y="4393168"/>
            <a:ext cx="672941" cy="963692"/>
          </a:xfrm>
          <a:prstGeom prst="rect">
            <a:avLst/>
          </a:prstGeom>
          <a:solidFill>
            <a:srgbClr val="3C3C3A"/>
          </a:solidFill>
          <a:ln/>
        </p:spPr>
      </p:sp>
      <p:sp>
        <p:nvSpPr>
          <p:cNvPr id="19" name="Text 16"/>
          <p:cNvSpPr/>
          <p:nvPr/>
        </p:nvSpPr>
        <p:spPr>
          <a:xfrm>
            <a:off x="1024771" y="4717256"/>
            <a:ext cx="252293" cy="315397"/>
          </a:xfrm>
          <a:prstGeom prst="rect">
            <a:avLst/>
          </a:prstGeom>
          <a:noFill/>
          <a:ln/>
        </p:spPr>
        <p:txBody>
          <a:bodyPr wrap="none" lIns="0" tIns="0" rIns="0" bIns="0" rtlCol="0" anchor="t"/>
          <a:lstStyle/>
          <a:p>
            <a:pPr algn="l" indent="0" marL="0">
              <a:lnSpc>
                <a:spcPts val="1950"/>
              </a:lnSpc>
              <a:buNone/>
            </a:pPr>
            <a:r>
              <a:rPr lang="en-US" sz="1950" dirty="0">
                <a:solidFill>
                  <a:srgbClr val="C9C9C0"/>
                </a:solidFill>
                <a:latin typeface="Tomorrow Semi Bold" pitchFamily="34" charset="0"/>
                <a:ea typeface="Tomorrow Semi Bold" pitchFamily="34" charset="-122"/>
                <a:cs typeface="Tomorrow Semi Bold" pitchFamily="34" charset="-120"/>
              </a:rPr>
              <a:t>3</a:t>
            </a:r>
            <a:endParaRPr lang="en-US" sz="1950" dirty="0"/>
          </a:p>
        </p:txBody>
      </p:sp>
      <p:sp>
        <p:nvSpPr>
          <p:cNvPr id="20" name="Text 17"/>
          <p:cNvSpPr/>
          <p:nvPr/>
        </p:nvSpPr>
        <p:spPr>
          <a:xfrm>
            <a:off x="1629966" y="4561403"/>
            <a:ext cx="5444490" cy="262771"/>
          </a:xfrm>
          <a:prstGeom prst="rect">
            <a:avLst/>
          </a:prstGeom>
          <a:noFill/>
          <a:ln/>
        </p:spPr>
        <p:txBody>
          <a:bodyPr wrap="none" lIns="0" tIns="0" rIns="0" bIns="0" rtlCol="0" anchor="t"/>
          <a:lstStyle/>
          <a:p>
            <a:pPr algn="l" indent="0" marL="0">
              <a:lnSpc>
                <a:spcPts val="2050"/>
              </a:lnSpc>
              <a:buNone/>
            </a:pPr>
            <a:r>
              <a:rPr lang="en-US" sz="1650" dirty="0">
                <a:solidFill>
                  <a:srgbClr val="C9C9C0"/>
                </a:solidFill>
                <a:latin typeface="Tomorrow Semi Bold" pitchFamily="34" charset="0"/>
                <a:ea typeface="Tomorrow Semi Bold" pitchFamily="34" charset="-122"/>
                <a:cs typeface="Tomorrow Semi Bold" pitchFamily="34" charset="-120"/>
              </a:rPr>
              <a:t>Peninsula-Password (Medium, Password Cracking)</a:t>
            </a:r>
            <a:endParaRPr lang="en-US" sz="1650" dirty="0"/>
          </a:p>
        </p:txBody>
      </p:sp>
      <p:sp>
        <p:nvSpPr>
          <p:cNvPr id="21" name="Text 18"/>
          <p:cNvSpPr/>
          <p:nvPr/>
        </p:nvSpPr>
        <p:spPr>
          <a:xfrm>
            <a:off x="1629966" y="4909661"/>
            <a:ext cx="12017693" cy="248603"/>
          </a:xfrm>
          <a:prstGeom prst="rect">
            <a:avLst/>
          </a:prstGeom>
          <a:noFill/>
          <a:ln/>
        </p:spPr>
        <p:txBody>
          <a:bodyPr wrap="none" lIns="0" tIns="0" rIns="0" bIns="0" rtlCol="0" anchor="t"/>
          <a:lstStyle/>
          <a:p>
            <a:pPr algn="l" indent="0" marL="0">
              <a:lnSpc>
                <a:spcPts val="1950"/>
              </a:lnSpc>
              <a:buNone/>
            </a:pPr>
            <a:r>
              <a:rPr lang="en-US" sz="1300" dirty="0">
                <a:solidFill>
                  <a:srgbClr val="C9C9C0"/>
                </a:solidFill>
                <a:latin typeface="Tomorrow" pitchFamily="34" charset="0"/>
                <a:ea typeface="Tomorrow" pitchFamily="34" charset="-122"/>
                <a:cs typeface="Tomorrow" pitchFamily="34" charset="-120"/>
              </a:rPr>
              <a:t>NTLM passphrases from EFF diceware wordlists. Required combinator attacks we didn't execute in time.</a:t>
            </a:r>
            <a:endParaRPr lang="en-US" sz="1300" dirty="0"/>
          </a:p>
        </p:txBody>
      </p:sp>
      <p:sp>
        <p:nvSpPr>
          <p:cNvPr id="22" name="Shape 19"/>
          <p:cNvSpPr/>
          <p:nvPr/>
        </p:nvSpPr>
        <p:spPr>
          <a:xfrm>
            <a:off x="791647" y="5522238"/>
            <a:ext cx="13047107" cy="1009412"/>
          </a:xfrm>
          <a:prstGeom prst="roundRect">
            <a:avLst>
              <a:gd name="adj" fmla="val 2500"/>
            </a:avLst>
          </a:prstGeom>
          <a:solidFill>
            <a:srgbClr val="1D1D1B"/>
          </a:solidFill>
          <a:ln w="22860">
            <a:solidFill>
              <a:srgbClr val="555553"/>
            </a:solidFill>
            <a:prstDash val="solid"/>
          </a:ln>
        </p:spPr>
      </p:sp>
      <p:sp>
        <p:nvSpPr>
          <p:cNvPr id="23" name="Shape 20"/>
          <p:cNvSpPr/>
          <p:nvPr/>
        </p:nvSpPr>
        <p:spPr>
          <a:xfrm>
            <a:off x="814507" y="5545098"/>
            <a:ext cx="672941" cy="963692"/>
          </a:xfrm>
          <a:prstGeom prst="rect">
            <a:avLst/>
          </a:prstGeom>
          <a:solidFill>
            <a:srgbClr val="3C3C3A"/>
          </a:solidFill>
          <a:ln/>
        </p:spPr>
      </p:sp>
      <p:sp>
        <p:nvSpPr>
          <p:cNvPr id="24" name="Text 21"/>
          <p:cNvSpPr/>
          <p:nvPr/>
        </p:nvSpPr>
        <p:spPr>
          <a:xfrm>
            <a:off x="1024771" y="5869186"/>
            <a:ext cx="252293" cy="315397"/>
          </a:xfrm>
          <a:prstGeom prst="rect">
            <a:avLst/>
          </a:prstGeom>
          <a:noFill/>
          <a:ln/>
        </p:spPr>
        <p:txBody>
          <a:bodyPr wrap="none" lIns="0" tIns="0" rIns="0" bIns="0" rtlCol="0" anchor="t"/>
          <a:lstStyle/>
          <a:p>
            <a:pPr algn="l" indent="0" marL="0">
              <a:lnSpc>
                <a:spcPts val="1950"/>
              </a:lnSpc>
              <a:buNone/>
            </a:pPr>
            <a:r>
              <a:rPr lang="en-US" sz="1950" dirty="0">
                <a:solidFill>
                  <a:srgbClr val="C9C9C0"/>
                </a:solidFill>
                <a:latin typeface="Tomorrow Semi Bold" pitchFamily="34" charset="0"/>
                <a:ea typeface="Tomorrow Semi Bold" pitchFamily="34" charset="-122"/>
                <a:cs typeface="Tomorrow Semi Bold" pitchFamily="34" charset="-120"/>
              </a:rPr>
              <a:t>4</a:t>
            </a:r>
            <a:endParaRPr lang="en-US" sz="1950" dirty="0"/>
          </a:p>
        </p:txBody>
      </p:sp>
      <p:sp>
        <p:nvSpPr>
          <p:cNvPr id="25" name="Text 22"/>
          <p:cNvSpPr/>
          <p:nvPr/>
        </p:nvSpPr>
        <p:spPr>
          <a:xfrm>
            <a:off x="1629966" y="5713333"/>
            <a:ext cx="4246245" cy="262771"/>
          </a:xfrm>
          <a:prstGeom prst="rect">
            <a:avLst/>
          </a:prstGeom>
          <a:noFill/>
          <a:ln/>
        </p:spPr>
        <p:txBody>
          <a:bodyPr wrap="none" lIns="0" tIns="0" rIns="0" bIns="0" rtlCol="0" anchor="t"/>
          <a:lstStyle/>
          <a:p>
            <a:pPr algn="l" indent="0" marL="0">
              <a:lnSpc>
                <a:spcPts val="2050"/>
              </a:lnSpc>
              <a:buNone/>
            </a:pPr>
            <a:r>
              <a:rPr lang="en-US" sz="1650" dirty="0">
                <a:solidFill>
                  <a:srgbClr val="C9C9C0"/>
                </a:solidFill>
                <a:latin typeface="Tomorrow Semi Bold" pitchFamily="34" charset="0"/>
                <a:ea typeface="Tomorrow Semi Bold" pitchFamily="34" charset="-122"/>
                <a:cs typeface="Tomorrow Semi Bold" pitchFamily="34" charset="-120"/>
              </a:rPr>
              <a:t>The Cucumber's Secret (Hard, Web App)</a:t>
            </a:r>
            <a:endParaRPr lang="en-US" sz="1650" dirty="0"/>
          </a:p>
        </p:txBody>
      </p:sp>
      <p:sp>
        <p:nvSpPr>
          <p:cNvPr id="26" name="Text 23"/>
          <p:cNvSpPr/>
          <p:nvPr/>
        </p:nvSpPr>
        <p:spPr>
          <a:xfrm>
            <a:off x="1629966" y="6061591"/>
            <a:ext cx="12017693" cy="248603"/>
          </a:xfrm>
          <a:prstGeom prst="rect">
            <a:avLst/>
          </a:prstGeom>
          <a:noFill/>
          <a:ln/>
        </p:spPr>
        <p:txBody>
          <a:bodyPr wrap="none" lIns="0" tIns="0" rIns="0" bIns="0" rtlCol="0" anchor="t"/>
          <a:lstStyle/>
          <a:p>
            <a:pPr algn="l" indent="0" marL="0">
              <a:lnSpc>
                <a:spcPts val="1950"/>
              </a:lnSpc>
              <a:buNone/>
            </a:pPr>
            <a:r>
              <a:rPr lang="en-US" sz="1300" dirty="0">
                <a:solidFill>
                  <a:srgbClr val="C9C9C0"/>
                </a:solidFill>
                <a:latin typeface="Tomorrow" pitchFamily="34" charset="0"/>
                <a:ea typeface="Tomorrow" pitchFamily="34" charset="-122"/>
                <a:cs typeface="Tomorrow" pitchFamily="34" charset="-120"/>
              </a:rPr>
              <a:t>Python pickle deserialization exploit. We identified the vulnerability but didn't complete the exploitation chain.</a:t>
            </a:r>
            <a:endParaRPr lang="en-US" sz="1300" dirty="0"/>
          </a:p>
        </p:txBody>
      </p:sp>
      <p:sp>
        <p:nvSpPr>
          <p:cNvPr id="27" name="Shape 24"/>
          <p:cNvSpPr/>
          <p:nvPr/>
        </p:nvSpPr>
        <p:spPr>
          <a:xfrm>
            <a:off x="791647" y="6674168"/>
            <a:ext cx="13047107" cy="1009412"/>
          </a:xfrm>
          <a:prstGeom prst="roundRect">
            <a:avLst>
              <a:gd name="adj" fmla="val 2500"/>
            </a:avLst>
          </a:prstGeom>
          <a:solidFill>
            <a:srgbClr val="1D1D1B"/>
          </a:solidFill>
          <a:ln w="22860">
            <a:solidFill>
              <a:srgbClr val="555553"/>
            </a:solidFill>
            <a:prstDash val="solid"/>
          </a:ln>
        </p:spPr>
      </p:sp>
      <p:sp>
        <p:nvSpPr>
          <p:cNvPr id="28" name="Shape 25"/>
          <p:cNvSpPr/>
          <p:nvPr/>
        </p:nvSpPr>
        <p:spPr>
          <a:xfrm>
            <a:off x="814507" y="6697027"/>
            <a:ext cx="672941" cy="963692"/>
          </a:xfrm>
          <a:prstGeom prst="rect">
            <a:avLst/>
          </a:prstGeom>
          <a:solidFill>
            <a:srgbClr val="3C3C3A"/>
          </a:solidFill>
          <a:ln/>
        </p:spPr>
      </p:sp>
      <p:sp>
        <p:nvSpPr>
          <p:cNvPr id="29" name="Text 26"/>
          <p:cNvSpPr/>
          <p:nvPr/>
        </p:nvSpPr>
        <p:spPr>
          <a:xfrm>
            <a:off x="1024771" y="7021116"/>
            <a:ext cx="252293" cy="315397"/>
          </a:xfrm>
          <a:prstGeom prst="rect">
            <a:avLst/>
          </a:prstGeom>
          <a:noFill/>
          <a:ln/>
        </p:spPr>
        <p:txBody>
          <a:bodyPr wrap="none" lIns="0" tIns="0" rIns="0" bIns="0" rtlCol="0" anchor="t"/>
          <a:lstStyle/>
          <a:p>
            <a:pPr algn="l" indent="0" marL="0">
              <a:lnSpc>
                <a:spcPts val="1950"/>
              </a:lnSpc>
              <a:buNone/>
            </a:pPr>
            <a:r>
              <a:rPr lang="en-US" sz="1950" dirty="0">
                <a:solidFill>
                  <a:srgbClr val="C9C9C0"/>
                </a:solidFill>
                <a:latin typeface="Tomorrow Semi Bold" pitchFamily="34" charset="0"/>
                <a:ea typeface="Tomorrow Semi Bold" pitchFamily="34" charset="-122"/>
                <a:cs typeface="Tomorrow Semi Bold" pitchFamily="34" charset="-120"/>
              </a:rPr>
              <a:t>5</a:t>
            </a:r>
            <a:endParaRPr lang="en-US" sz="1950" dirty="0"/>
          </a:p>
        </p:txBody>
      </p:sp>
      <p:sp>
        <p:nvSpPr>
          <p:cNvPr id="30" name="Text 27"/>
          <p:cNvSpPr/>
          <p:nvPr/>
        </p:nvSpPr>
        <p:spPr>
          <a:xfrm>
            <a:off x="1629966" y="6865263"/>
            <a:ext cx="2665571" cy="262771"/>
          </a:xfrm>
          <a:prstGeom prst="rect">
            <a:avLst/>
          </a:prstGeom>
          <a:noFill/>
          <a:ln/>
        </p:spPr>
        <p:txBody>
          <a:bodyPr wrap="none" lIns="0" tIns="0" rIns="0" bIns="0" rtlCol="0" anchor="t"/>
          <a:lstStyle/>
          <a:p>
            <a:pPr algn="l" indent="0" marL="0">
              <a:lnSpc>
                <a:spcPts val="2050"/>
              </a:lnSpc>
              <a:buNone/>
            </a:pPr>
            <a:r>
              <a:rPr lang="en-US" sz="1650" dirty="0">
                <a:solidFill>
                  <a:srgbClr val="C9C9C0"/>
                </a:solidFill>
                <a:latin typeface="Tomorrow Semi Bold" pitchFamily="34" charset="0"/>
                <a:ea typeface="Tomorrow Semi Bold" pitchFamily="34" charset="-122"/>
                <a:cs typeface="Tomorrow Semi Bold" pitchFamily="34" charset="-120"/>
              </a:rPr>
              <a:t>Picto (Medium, Web App)</a:t>
            </a:r>
            <a:endParaRPr lang="en-US" sz="1650" dirty="0"/>
          </a:p>
        </p:txBody>
      </p:sp>
      <p:sp>
        <p:nvSpPr>
          <p:cNvPr id="31" name="Text 28"/>
          <p:cNvSpPr/>
          <p:nvPr/>
        </p:nvSpPr>
        <p:spPr>
          <a:xfrm>
            <a:off x="1629966" y="7213521"/>
            <a:ext cx="12017693" cy="248603"/>
          </a:xfrm>
          <a:prstGeom prst="rect">
            <a:avLst/>
          </a:prstGeom>
          <a:noFill/>
          <a:ln/>
        </p:spPr>
        <p:txBody>
          <a:bodyPr wrap="none" lIns="0" tIns="0" rIns="0" bIns="0" rtlCol="0" anchor="t"/>
          <a:lstStyle/>
          <a:p>
            <a:pPr algn="l" indent="0" marL="0">
              <a:lnSpc>
                <a:spcPts val="1950"/>
              </a:lnSpc>
              <a:buNone/>
            </a:pPr>
            <a:r>
              <a:rPr lang="en-US" sz="1300" dirty="0">
                <a:solidFill>
                  <a:srgbClr val="C9C9C0"/>
                </a:solidFill>
                <a:latin typeface="Tomorrow" pitchFamily="34" charset="0"/>
                <a:ea typeface="Tomorrow" pitchFamily="34" charset="-122"/>
                <a:cs typeface="Tomorrow" pitchFamily="34" charset="-120"/>
              </a:rPr>
              <a:t>WebSocket-based XSS. Getting past the sanitization library was the blocker. Needs practice with advanced XSS payloads.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638889"/>
            <a:ext cx="4713684" cy="619601"/>
          </a:xfrm>
          <a:prstGeom prst="rect">
            <a:avLst/>
          </a:prstGeom>
          <a:noFill/>
          <a:ln/>
        </p:spPr>
        <p:txBody>
          <a:bodyPr wrap="none" lIns="0" tIns="0" rIns="0" bIns="0" rtlCol="0" anchor="t"/>
          <a:lstStyle/>
          <a:p>
            <a:pPr algn="l" indent="0" marL="0">
              <a:lnSpc>
                <a:spcPts val="4600"/>
              </a:lnSpc>
              <a:buNone/>
            </a:pPr>
            <a:r>
              <a:rPr lang="en-US" sz="3700" dirty="0">
                <a:solidFill>
                  <a:srgbClr val="EDEDE8"/>
                </a:solidFill>
                <a:latin typeface="Tomorrow Semi Bold" pitchFamily="34" charset="0"/>
                <a:ea typeface="Tomorrow Semi Bold" pitchFamily="34" charset="-122"/>
                <a:cs typeface="Tomorrow Semi Bold" pitchFamily="34" charset="-120"/>
              </a:rPr>
              <a:t>Let's Get After It </a:t>
            </a:r>
            <a:pPr algn="l" indent="0" marL="0">
              <a:lnSpc>
                <a:spcPts val="4600"/>
              </a:lnSpc>
              <a:buNone/>
            </a:pPr>
            <a:r>
              <a:rPr lang="en-US" sz="3700" dirty="0">
                <a:solidFill>
                  <a:srgbClr val="000000"/>
                </a:solidFill>
                <a:latin typeface="Tomorrow Semi Bold" pitchFamily="34" charset="0"/>
                <a:ea typeface="Tomorrow Semi Bold" pitchFamily="34" charset="-122"/>
                <a:cs typeface="Tomorrow Semi Bold" pitchFamily="34" charset="-120"/>
              </a:rPr>
              <a:t>🚩</a:t>
            </a:r>
            <a:endParaRPr lang="en-US" sz="3700" dirty="0"/>
          </a:p>
        </p:txBody>
      </p:sp>
      <p:sp>
        <p:nvSpPr>
          <p:cNvPr id="4" name="Text 1"/>
          <p:cNvSpPr/>
          <p:nvPr/>
        </p:nvSpPr>
        <p:spPr>
          <a:xfrm>
            <a:off x="793790" y="1527096"/>
            <a:ext cx="7556421" cy="1470660"/>
          </a:xfrm>
          <a:prstGeom prst="rect">
            <a:avLst/>
          </a:prstGeom>
          <a:noFill/>
          <a:ln/>
        </p:spPr>
        <p:txBody>
          <a:bodyPr wrap="square" lIns="0" tIns="0" rIns="0" bIns="0" rtlCol="0" anchor="t"/>
          <a:lstStyle/>
          <a:p>
            <a:pPr algn="l" indent="0" marL="0">
              <a:lnSpc>
                <a:spcPts val="2850"/>
              </a:lnSpc>
              <a:buNone/>
            </a:pPr>
            <a:r>
              <a:rPr lang="en-US" sz="1850" dirty="0">
                <a:solidFill>
                  <a:srgbClr val="C9C9C0"/>
                </a:solidFill>
                <a:latin typeface="Tomorrow" pitchFamily="34" charset="0"/>
                <a:ea typeface="Tomorrow" pitchFamily="34" charset="-122"/>
                <a:cs typeface="Tomorrow" pitchFamily="34" charset="-120"/>
              </a:rPr>
              <a:t>The NCL is one of the best opportunities to build </a:t>
            </a:r>
            <a:pPr algn="l" indent="0" marL="0">
              <a:lnSpc>
                <a:spcPts val="2850"/>
              </a:lnSpc>
              <a:buNone/>
            </a:pPr>
            <a:r>
              <a:rPr lang="en-US" sz="1850" b="1" dirty="0">
                <a:solidFill>
                  <a:srgbClr val="C9C9C0"/>
                </a:solidFill>
                <a:latin typeface="Tomorrow" pitchFamily="34" charset="0"/>
                <a:ea typeface="Tomorrow" pitchFamily="34" charset="-122"/>
                <a:cs typeface="Tomorrow" pitchFamily="34" charset="-120"/>
              </a:rPr>
              <a:t>real cybersecurity skills</a:t>
            </a:r>
            <a:pPr algn="l" indent="0" marL="0">
              <a:lnSpc>
                <a:spcPts val="2850"/>
              </a:lnSpc>
              <a:buNone/>
            </a:pPr>
            <a:r>
              <a:rPr lang="en-US" sz="1850" dirty="0">
                <a:solidFill>
                  <a:srgbClr val="C9C9C0"/>
                </a:solidFill>
                <a:latin typeface="Tomorrow" pitchFamily="34" charset="0"/>
                <a:ea typeface="Tomorrow" pitchFamily="34" charset="-122"/>
                <a:cs typeface="Tomorrow" pitchFamily="34" charset="-120"/>
              </a:rPr>
              <a:t> while competing at a national level. Whether it's your first time or your fifth, there's always something new to learn.</a:t>
            </a:r>
            <a:endParaRPr lang="en-US" sz="1850" dirty="0"/>
          </a:p>
        </p:txBody>
      </p:sp>
      <p:pic>
        <p:nvPicPr>
          <p:cNvPr id="5" name="Image 1" descr="preencoded.png">    </p:cNvPr>
          <p:cNvPicPr>
            <a:picLocks noChangeAspect="1"/>
          </p:cNvPicPr>
          <p:nvPr/>
        </p:nvPicPr>
        <p:blipFill>
          <a:blip r:embed="rId2"/>
          <a:stretch>
            <a:fillRect/>
          </a:stretch>
        </p:blipFill>
        <p:spPr>
          <a:xfrm>
            <a:off x="1785580" y="3199209"/>
            <a:ext cx="5572720" cy="3307437"/>
          </a:xfrm>
          <a:prstGeom prst="rect">
            <a:avLst/>
          </a:prstGeom>
        </p:spPr>
      </p:pic>
      <p:pic>
        <p:nvPicPr>
          <p:cNvPr id="6" name="Image 2"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86944" y="4007602"/>
            <a:ext cx="474403" cy="474403"/>
          </a:xfrm>
          <a:prstGeom prst="rect">
            <a:avLst/>
          </a:prstGeom>
        </p:spPr>
      </p:pic>
      <p:sp>
        <p:nvSpPr>
          <p:cNvPr id="7" name="Text 2"/>
          <p:cNvSpPr/>
          <p:nvPr/>
        </p:nvSpPr>
        <p:spPr>
          <a:xfrm>
            <a:off x="5664281" y="5606042"/>
            <a:ext cx="1385255" cy="533703"/>
          </a:xfrm>
          <a:prstGeom prst="rect">
            <a:avLst/>
          </a:prstGeom>
          <a:noFill/>
          <a:ln/>
        </p:spPr>
        <p:txBody>
          <a:bodyPr wrap="square" lIns="0" tIns="0" rIns="0" bIns="0" rtlCol="0" anchor="t"/>
          <a:lstStyle/>
          <a:p>
            <a:pPr algn="ctr" indent="0" marL="0">
              <a:lnSpc>
                <a:spcPts val="2100"/>
              </a:lnSpc>
              <a:buNone/>
            </a:pPr>
            <a:r>
              <a:rPr lang="en-US" sz="1650" dirty="0">
                <a:solidFill>
                  <a:srgbClr val="C9C9C0"/>
                </a:solidFill>
                <a:latin typeface="Tomorrow Semi Bold" pitchFamily="34" charset="0"/>
                <a:ea typeface="Tomorrow Semi Bold" pitchFamily="34" charset="-122"/>
                <a:cs typeface="Tomorrow Semi Bold" pitchFamily="34" charset="-120"/>
              </a:rPr>
              <a:t>Compete Spring‑26</a:t>
            </a:r>
            <a:endParaRPr lang="en-US" sz="1650" dirty="0"/>
          </a:p>
        </p:txBody>
      </p:sp>
      <p:pic>
        <p:nvPicPr>
          <p:cNvPr id="8"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50186" y="4008492"/>
            <a:ext cx="474403" cy="474402"/>
          </a:xfrm>
          <a:prstGeom prst="rect">
            <a:avLst/>
          </a:prstGeom>
        </p:spPr>
      </p:pic>
      <p:sp>
        <p:nvSpPr>
          <p:cNvPr id="9" name="Text 3"/>
          <p:cNvSpPr/>
          <p:nvPr/>
        </p:nvSpPr>
        <p:spPr>
          <a:xfrm>
            <a:off x="3918479" y="5606042"/>
            <a:ext cx="1385255" cy="533703"/>
          </a:xfrm>
          <a:prstGeom prst="rect">
            <a:avLst/>
          </a:prstGeom>
          <a:noFill/>
          <a:ln/>
        </p:spPr>
        <p:txBody>
          <a:bodyPr wrap="square" lIns="0" tIns="0" rIns="0" bIns="0" rtlCol="0" anchor="t"/>
          <a:lstStyle/>
          <a:p>
            <a:pPr algn="ctr" indent="0" marL="0">
              <a:lnSpc>
                <a:spcPts val="2100"/>
              </a:lnSpc>
              <a:buNone/>
            </a:pPr>
            <a:r>
              <a:rPr lang="en-US" sz="1650" dirty="0">
                <a:solidFill>
                  <a:srgbClr val="C9C9C0"/>
                </a:solidFill>
                <a:latin typeface="Tomorrow Semi Bold" pitchFamily="34" charset="0"/>
                <a:ea typeface="Tomorrow Semi Bold" pitchFamily="34" charset="-122"/>
                <a:cs typeface="Tomorrow Semi Bold" pitchFamily="34" charset="-120"/>
              </a:rPr>
              <a:t>Assemble Team</a:t>
            </a:r>
            <a:endParaRPr lang="en-US" sz="1650" dirty="0"/>
          </a:p>
        </p:txBody>
      </p:sp>
      <p:pic>
        <p:nvPicPr>
          <p:cNvPr id="10" name="Image 4"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604385" y="4008492"/>
            <a:ext cx="474402" cy="474402"/>
          </a:xfrm>
          <a:prstGeom prst="rect">
            <a:avLst/>
          </a:prstGeom>
        </p:spPr>
      </p:pic>
      <p:sp>
        <p:nvSpPr>
          <p:cNvPr id="11" name="Text 4"/>
          <p:cNvSpPr/>
          <p:nvPr/>
        </p:nvSpPr>
        <p:spPr>
          <a:xfrm>
            <a:off x="2144214" y="5606042"/>
            <a:ext cx="1385255" cy="533703"/>
          </a:xfrm>
          <a:prstGeom prst="rect">
            <a:avLst/>
          </a:prstGeom>
          <a:noFill/>
          <a:ln/>
        </p:spPr>
        <p:txBody>
          <a:bodyPr wrap="square" lIns="0" tIns="0" rIns="0" bIns="0" rtlCol="0" anchor="t"/>
          <a:lstStyle/>
          <a:p>
            <a:pPr algn="ctr" indent="0" marL="0">
              <a:lnSpc>
                <a:spcPts val="2100"/>
              </a:lnSpc>
              <a:buNone/>
            </a:pPr>
            <a:r>
              <a:rPr lang="en-US" sz="1650" dirty="0">
                <a:solidFill>
                  <a:srgbClr val="C9C9C0"/>
                </a:solidFill>
                <a:latin typeface="Tomorrow Semi Bold" pitchFamily="34" charset="0"/>
                <a:ea typeface="Tomorrow Semi Bold" pitchFamily="34" charset="-122"/>
                <a:cs typeface="Tomorrow Semi Bold" pitchFamily="34" charset="-120"/>
              </a:rPr>
              <a:t>Prepare Toolkit</a:t>
            </a:r>
            <a:endParaRPr lang="en-US" sz="1650" dirty="0"/>
          </a:p>
        </p:txBody>
      </p:sp>
      <p:sp>
        <p:nvSpPr>
          <p:cNvPr id="12" name="Text 5"/>
          <p:cNvSpPr/>
          <p:nvPr/>
        </p:nvSpPr>
        <p:spPr>
          <a:xfrm>
            <a:off x="793790" y="6708100"/>
            <a:ext cx="7556421" cy="882610"/>
          </a:xfrm>
          <a:prstGeom prst="rect">
            <a:avLst/>
          </a:prstGeom>
          <a:noFill/>
          <a:ln/>
        </p:spPr>
        <p:txBody>
          <a:bodyPr wrap="square" lIns="0" tIns="0" rIns="0" bIns="0" rtlCol="0" anchor="t"/>
          <a:lstStyle/>
          <a:p>
            <a:pPr algn="l" indent="0" marL="0">
              <a:lnSpc>
                <a:spcPts val="2300"/>
              </a:lnSpc>
              <a:buNone/>
            </a:pPr>
            <a:r>
              <a:rPr lang="en-US" sz="1450" b="1" dirty="0">
                <a:solidFill>
                  <a:srgbClr val="C9C9C0"/>
                </a:solidFill>
                <a:latin typeface="Tomorrow" pitchFamily="34" charset="0"/>
                <a:ea typeface="Tomorrow" pitchFamily="34" charset="-122"/>
                <a:cs typeface="Tomorrow" pitchFamily="34" charset="-120"/>
              </a:rPr>
              <a:t>Spring 2026 season is coming up.</a:t>
            </a:r>
            <a:pPr algn="l" indent="0" marL="0">
              <a:lnSpc>
                <a:spcPts val="2300"/>
              </a:lnSpc>
              <a:buNone/>
            </a:pPr>
            <a:r>
              <a:rPr lang="en-US" sz="1450" dirty="0">
                <a:solidFill>
                  <a:srgbClr val="C9C9C0"/>
                </a:solidFill>
                <a:latin typeface="Tomorrow" pitchFamily="34" charset="0"/>
                <a:ea typeface="Tomorrow" pitchFamily="34" charset="-122"/>
                <a:cs typeface="Tomorrow" pitchFamily="34" charset="-120"/>
              </a:rPr>
              <a:t> Let's put a team together, sharpen our tools, and go earn some flags. Every challenge you solve makes you a stronger cybersecurity professional — and your Scouting Report proves it.</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1091446" y="1453634"/>
            <a:ext cx="12745164" cy="317540"/>
          </a:xfrm>
          <a:prstGeom prst="rect">
            <a:avLst/>
          </a:prstGeom>
          <a:noFill/>
          <a:ln/>
        </p:spPr>
        <p:txBody>
          <a:bodyPr wrap="none" lIns="0" tIns="0" rIns="0" bIns="0" rtlCol="0" anchor="t"/>
          <a:lstStyle/>
          <a:p>
            <a:pPr algn="l" indent="0" marL="0">
              <a:lnSpc>
                <a:spcPts val="2500"/>
              </a:lnSpc>
              <a:buNone/>
            </a:pPr>
            <a:r>
              <a:rPr lang="en-US" sz="1550" i="1" dirty="0">
                <a:solidFill>
                  <a:srgbClr val="C9C9C0"/>
                </a:solidFill>
                <a:latin typeface="Tomorrow" pitchFamily="34" charset="0"/>
                <a:ea typeface="Tomorrow" pitchFamily="34" charset="-122"/>
                <a:cs typeface="Tomorrow" pitchFamily="34" charset="-120"/>
              </a:rPr>
              <a:t>Notes compiled from Fall 2025 NCL Team Game — </a:t>
            </a:r>
            <a:pPr algn="l" indent="0" marL="0">
              <a:lnSpc>
                <a:spcPts val="2500"/>
              </a:lnSpc>
              <a:buNone/>
            </a:pPr>
            <a:r>
              <a:rPr lang="en-US" sz="1550" b="1" i="1" dirty="0">
                <a:solidFill>
                  <a:srgbClr val="C9C9C0"/>
                </a:solidFill>
                <a:latin typeface="Tomorrow" pitchFamily="34" charset="0"/>
                <a:ea typeface="Tomorrow" pitchFamily="34" charset="-122"/>
                <a:cs typeface="Tomorrow" pitchFamily="34" charset="-120"/>
              </a:rPr>
              <a:t>Terminalators</a:t>
            </a:r>
            <a:endParaRPr lang="en-US" sz="1550" dirty="0"/>
          </a:p>
        </p:txBody>
      </p:sp>
      <p:sp>
        <p:nvSpPr>
          <p:cNvPr id="3" name="Shape 1"/>
          <p:cNvSpPr/>
          <p:nvPr/>
        </p:nvSpPr>
        <p:spPr>
          <a:xfrm>
            <a:off x="793790" y="1230392"/>
            <a:ext cx="22860" cy="764024"/>
          </a:xfrm>
          <a:prstGeom prst="rect">
            <a:avLst/>
          </a:prstGeom>
          <a:solidFill>
            <a:srgbClr val="E1E1DF"/>
          </a:solidFill>
          <a:ln/>
        </p:spPr>
      </p:sp>
      <p:sp>
        <p:nvSpPr>
          <p:cNvPr id="4" name="Text 2"/>
          <p:cNvSpPr/>
          <p:nvPr/>
        </p:nvSpPr>
        <p:spPr>
          <a:xfrm>
            <a:off x="793790" y="2292072"/>
            <a:ext cx="6065282" cy="620078"/>
          </a:xfrm>
          <a:prstGeom prst="rect">
            <a:avLst/>
          </a:prstGeom>
          <a:noFill/>
          <a:ln/>
        </p:spPr>
        <p:txBody>
          <a:bodyPr wrap="none" lIns="0" tIns="0" rIns="0" bIns="0" rtlCol="0" anchor="t"/>
          <a:lstStyle/>
          <a:p>
            <a:pPr algn="l" indent="0" marL="0">
              <a:lnSpc>
                <a:spcPts val="4850"/>
              </a:lnSpc>
              <a:buNone/>
            </a:pPr>
            <a:r>
              <a:rPr lang="en-US" sz="3900" dirty="0">
                <a:solidFill>
                  <a:srgbClr val="EDEDE8"/>
                </a:solidFill>
                <a:latin typeface="Tomorrow Semi Bold" pitchFamily="34" charset="0"/>
                <a:ea typeface="Tomorrow Semi Bold" pitchFamily="34" charset="-122"/>
                <a:cs typeface="Tomorrow Semi Bold" pitchFamily="34" charset="-120"/>
              </a:rPr>
              <a:t>Resources &amp; Repository</a:t>
            </a:r>
            <a:endParaRPr lang="en-US" sz="3900" dirty="0"/>
          </a:p>
        </p:txBody>
      </p:sp>
      <p:sp>
        <p:nvSpPr>
          <p:cNvPr id="5" name="Text 3"/>
          <p:cNvSpPr/>
          <p:nvPr/>
        </p:nvSpPr>
        <p:spPr>
          <a:xfrm>
            <a:off x="793790" y="3209806"/>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All scripts, writeups, and tools referenced in this presentation are available in our team repository. Clone it, study the solutions, and use them as a foundation for Spring 2026.</a:t>
            </a:r>
            <a:endParaRPr lang="en-US" sz="1550" dirty="0"/>
          </a:p>
        </p:txBody>
      </p:sp>
      <p:sp>
        <p:nvSpPr>
          <p:cNvPr id="6" name="Shape 4"/>
          <p:cNvSpPr/>
          <p:nvPr/>
        </p:nvSpPr>
        <p:spPr>
          <a:xfrm>
            <a:off x="793790" y="4068128"/>
            <a:ext cx="13042821" cy="1158716"/>
          </a:xfrm>
          <a:prstGeom prst="roundRect">
            <a:avLst>
              <a:gd name="adj" fmla="val 2569"/>
            </a:avLst>
          </a:prstGeom>
          <a:solidFill>
            <a:srgbClr val="3C3C3A"/>
          </a:solidFill>
          <a:ln/>
        </p:spPr>
      </p:sp>
      <p:sp>
        <p:nvSpPr>
          <p:cNvPr id="7" name="Text 5"/>
          <p:cNvSpPr/>
          <p:nvPr/>
        </p:nvSpPr>
        <p:spPr>
          <a:xfrm>
            <a:off x="992148" y="4266486"/>
            <a:ext cx="2480905" cy="325398"/>
          </a:xfrm>
          <a:prstGeom prst="rect">
            <a:avLst/>
          </a:prstGeom>
          <a:noFill/>
          <a:ln/>
        </p:spPr>
        <p:txBody>
          <a:bodyPr wrap="none" lIns="0" tIns="0" rIns="0" bIns="0" rtlCol="0" anchor="t"/>
          <a:lstStyle/>
          <a:p>
            <a:pPr algn="l" indent="0" marL="0">
              <a:lnSpc>
                <a:spcPts val="2400"/>
              </a:lnSpc>
              <a:buNone/>
            </a:pPr>
            <a:r>
              <a:rPr lang="en-US" sz="1950" dirty="0">
                <a:solidFill>
                  <a:srgbClr val="000000"/>
                </a:solidFill>
                <a:latin typeface="Tomorrow Semi Bold" pitchFamily="34" charset="0"/>
                <a:ea typeface="Tomorrow Semi Bold" pitchFamily="34" charset="-122"/>
                <a:cs typeface="Tomorrow Semi Bold" pitchFamily="34" charset="-120"/>
              </a:rPr>
              <a:t>📁</a:t>
            </a:r>
            <a:pPr algn="l" indent="0" marL="0">
              <a:lnSpc>
                <a:spcPts val="2400"/>
              </a:lnSpc>
              <a:buNone/>
            </a:pPr>
            <a:r>
              <a:rPr lang="en-US" sz="1950" dirty="0">
                <a:solidFill>
                  <a:srgbClr val="C9C9C0"/>
                </a:solidFill>
                <a:latin typeface="Tomorrow Semi Bold" pitchFamily="34" charset="0"/>
                <a:ea typeface="Tomorrow Semi Bold" pitchFamily="34" charset="-122"/>
                <a:cs typeface="Tomorrow Semi Bold" pitchFamily="34" charset="-120"/>
              </a:rPr>
              <a:t> Team Repository</a:t>
            </a:r>
            <a:endParaRPr lang="en-US" sz="1950" dirty="0"/>
          </a:p>
        </p:txBody>
      </p:sp>
      <p:sp>
        <p:nvSpPr>
          <p:cNvPr id="8" name="Text 6"/>
          <p:cNvSpPr/>
          <p:nvPr/>
        </p:nvSpPr>
        <p:spPr>
          <a:xfrm>
            <a:off x="992148" y="4710946"/>
            <a:ext cx="12646104" cy="317540"/>
          </a:xfrm>
          <a:prstGeom prst="rect">
            <a:avLst/>
          </a:prstGeom>
          <a:noFill/>
          <a:ln/>
        </p:spPr>
        <p:txBody>
          <a:bodyPr wrap="none" lIns="0" tIns="0" rIns="0" bIns="0" rtlCol="0" anchor="t"/>
          <a:lstStyle/>
          <a:p>
            <a:pPr algn="l" indent="0" marL="0">
              <a:lnSpc>
                <a:spcPts val="2500"/>
              </a:lnSpc>
              <a:buNone/>
            </a:pPr>
            <a:r>
              <a:rPr lang="en-US" sz="1550" u="sng" dirty="0">
                <a:solidFill>
                  <a:srgbClr val="E1E1DF"/>
                </a:solidFill>
                <a:latin typeface="Tomorrow" pitchFamily="34" charset="0"/>
                <a:ea typeface="Tomorrow" pitchFamily="34" charset="-122"/>
                <a:cs typeface="Tomorrow" pitchFamily="34" charset="-120"/>
                <a:hlinkClick r:id="rId1" invalidUrl="" action="" tgtFrame="" tooltip="" history="1" highlightClick="0" endSnd="0">
                  <a:extLst>
                    <a:ext uri="{A12FA001-AC4F-418D-AE19-62706E023703}">
                      <ahyp:hlinkClr xmlns:ahyp="http://schemas.microsoft.com/office/drawing/2018/hyperlinkcolor" val="tx"/>
                    </a:ext>
                  </a:extLst>
                </a:hlinkClick>
              </a:rPr>
              <a:t>github.com/ACM-Franklin/Fall-2025-Team-NCL-Terminalators</a:t>
            </a:r>
            <a:endParaRPr lang="en-US" sz="1550" dirty="0"/>
          </a:p>
        </p:txBody>
      </p:sp>
      <p:sp>
        <p:nvSpPr>
          <p:cNvPr id="9" name="Text 7"/>
          <p:cNvSpPr/>
          <p:nvPr/>
        </p:nvSpPr>
        <p:spPr>
          <a:xfrm>
            <a:off x="793790" y="5450086"/>
            <a:ext cx="13042821" cy="952619"/>
          </a:xfrm>
          <a:prstGeom prst="rect">
            <a:avLst/>
          </a:prstGeom>
          <a:noFill/>
          <a:ln/>
        </p:spPr>
        <p:txBody>
          <a:bodyPr wrap="square" lIns="0" tIns="0" rIns="0" bIns="0" rtlCol="0" anchor="t"/>
          <a:lstStyle/>
          <a:p>
            <a:pPr algn="l" indent="0" marL="0">
              <a:lnSpc>
                <a:spcPts val="2500"/>
              </a:lnSpc>
              <a:buNone/>
            </a:pPr>
            <a:r>
              <a:rPr lang="en-US" sz="1550" dirty="0">
                <a:solidFill>
                  <a:srgbClr val="C9C9C0"/>
                </a:solidFill>
                <a:latin typeface="Tomorrow" pitchFamily="34" charset="0"/>
                <a:ea typeface="Tomorrow" pitchFamily="34" charset="-122"/>
                <a:cs typeface="Tomorrow" pitchFamily="34" charset="-120"/>
              </a:rPr>
              <a:t>Inside you'll find challenge writeups organized by category, custom Python scripts for network traffic and log parsing, hashcat rule files and wordlists, and Ghidra project files for the reverse engineering challenges. Fork the repo, add your own notes as you practice, and let's build on what we've learned.</a:t>
            </a:r>
            <a:endParaRPr lang="en-US" sz="1550" dirty="0"/>
          </a:p>
        </p:txBody>
      </p:sp>
      <p:sp>
        <p:nvSpPr>
          <p:cNvPr id="10" name="Text 8"/>
          <p:cNvSpPr/>
          <p:nvPr/>
        </p:nvSpPr>
        <p:spPr>
          <a:xfrm>
            <a:off x="793790" y="6685478"/>
            <a:ext cx="808196" cy="254079"/>
          </a:xfrm>
          <a:prstGeom prst="rect">
            <a:avLst/>
          </a:prstGeom>
          <a:noFill/>
          <a:ln/>
        </p:spPr>
        <p:txBody>
          <a:bodyPr wrap="none" lIns="0" tIns="0" rIns="0" bIns="0" rtlCol="0" anchor="t"/>
          <a:lstStyle/>
          <a:p>
            <a:pPr algn="l" indent="0" marL="0">
              <a:lnSpc>
                <a:spcPts val="2000"/>
              </a:lnSpc>
              <a:buNone/>
            </a:pPr>
            <a:r>
              <a:rPr lang="en-US" sz="1250" dirty="0">
                <a:solidFill>
                  <a:srgbClr val="E1E1DF"/>
                </a:solidFill>
                <a:latin typeface="Tomorrow" pitchFamily="34" charset="0"/>
                <a:ea typeface="Tomorrow" pitchFamily="34" charset="-122"/>
                <a:cs typeface="Tomorrow" pitchFamily="34" charset="-120"/>
              </a:rPr>
              <a:t>FALL 2025</a:t>
            </a:r>
            <a:endParaRPr lang="en-US" sz="1250" dirty="0"/>
          </a:p>
        </p:txBody>
      </p:sp>
      <p:sp>
        <p:nvSpPr>
          <p:cNvPr id="11" name="Text 9"/>
          <p:cNvSpPr/>
          <p:nvPr/>
        </p:nvSpPr>
        <p:spPr>
          <a:xfrm>
            <a:off x="1701165" y="6685478"/>
            <a:ext cx="1268492" cy="254079"/>
          </a:xfrm>
          <a:prstGeom prst="rect">
            <a:avLst/>
          </a:prstGeom>
          <a:noFill/>
          <a:ln/>
        </p:spPr>
        <p:txBody>
          <a:bodyPr wrap="none" lIns="0" tIns="0" rIns="0" bIns="0" rtlCol="0" anchor="t"/>
          <a:lstStyle/>
          <a:p>
            <a:pPr algn="l" indent="0" marL="0">
              <a:lnSpc>
                <a:spcPts val="2000"/>
              </a:lnSpc>
              <a:buNone/>
            </a:pPr>
            <a:r>
              <a:rPr lang="en-US" sz="1250" dirty="0">
                <a:solidFill>
                  <a:srgbClr val="E1E1DF"/>
                </a:solidFill>
                <a:latin typeface="Tomorrow" pitchFamily="34" charset="0"/>
                <a:ea typeface="Tomorrow" pitchFamily="34" charset="-122"/>
                <a:cs typeface="Tomorrow" pitchFamily="34" charset="-120"/>
              </a:rPr>
              <a:t>NCL TEAM GAME</a:t>
            </a:r>
            <a:endParaRPr lang="en-US" sz="1250" dirty="0"/>
          </a:p>
        </p:txBody>
      </p:sp>
      <p:sp>
        <p:nvSpPr>
          <p:cNvPr id="12" name="Text 10"/>
          <p:cNvSpPr/>
          <p:nvPr/>
        </p:nvSpPr>
        <p:spPr>
          <a:xfrm>
            <a:off x="3068836" y="6685478"/>
            <a:ext cx="1312307" cy="254079"/>
          </a:xfrm>
          <a:prstGeom prst="rect">
            <a:avLst/>
          </a:prstGeom>
          <a:noFill/>
          <a:ln/>
        </p:spPr>
        <p:txBody>
          <a:bodyPr wrap="none" lIns="0" tIns="0" rIns="0" bIns="0" rtlCol="0" anchor="t"/>
          <a:lstStyle/>
          <a:p>
            <a:pPr algn="l" indent="0" marL="0">
              <a:lnSpc>
                <a:spcPts val="2000"/>
              </a:lnSpc>
              <a:buNone/>
            </a:pPr>
            <a:r>
              <a:rPr lang="en-US" sz="1250" dirty="0">
                <a:solidFill>
                  <a:srgbClr val="E1E1DF"/>
                </a:solidFill>
                <a:latin typeface="Tomorrow" pitchFamily="34" charset="0"/>
                <a:ea typeface="Tomorrow" pitchFamily="34" charset="-122"/>
                <a:cs typeface="Tomorrow" pitchFamily="34" charset="-120"/>
              </a:rPr>
              <a:t>TERMINALATORS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2026-02-25T21:48:41Z</dcterms:created>
  <dcterms:modified xsi:type="dcterms:W3CDTF">2026-02-25T21:48:41Z</dcterms:modified>
</cp:coreProperties>
</file>