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66863" autoAdjust="0"/>
  </p:normalViewPr>
  <p:slideViewPr>
    <p:cSldViewPr snapToGrid="0">
      <p:cViewPr varScale="1">
        <p:scale>
          <a:sx n="106" d="100"/>
          <a:sy n="106" d="100"/>
        </p:scale>
        <p:origin x="146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FCBAB3-F734-4F78-BDC4-4D3DC1B0745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A33AE72-2C61-4C3C-A17A-F7E5B150AC49}">
      <dgm:prSet/>
      <dgm:spPr/>
      <dgm:t>
        <a:bodyPr/>
        <a:lstStyle/>
        <a:p>
          <a:pPr>
            <a:defRPr cap="all"/>
          </a:pPr>
          <a:r>
            <a:rPr lang="en-US" b="0" i="0" baseline="0"/>
            <a:t>Recruit VP and Senior Officer</a:t>
          </a:r>
          <a:endParaRPr lang="en-US"/>
        </a:p>
      </dgm:t>
    </dgm:pt>
    <dgm:pt modelId="{127A6787-FB8B-4F1F-A7A9-BC67187B1500}" type="parTrans" cxnId="{46EACF90-AEE6-4481-AE13-BC031D8F2147}">
      <dgm:prSet/>
      <dgm:spPr/>
      <dgm:t>
        <a:bodyPr/>
        <a:lstStyle/>
        <a:p>
          <a:endParaRPr lang="en-US"/>
        </a:p>
      </dgm:t>
    </dgm:pt>
    <dgm:pt modelId="{EBF1C582-3269-41CE-BD19-6BADA05B0725}" type="sibTrans" cxnId="{46EACF90-AEE6-4481-AE13-BC031D8F2147}">
      <dgm:prSet/>
      <dgm:spPr/>
      <dgm:t>
        <a:bodyPr/>
        <a:lstStyle/>
        <a:p>
          <a:endParaRPr lang="en-US"/>
        </a:p>
      </dgm:t>
    </dgm:pt>
    <dgm:pt modelId="{043C63ED-4D03-4DC7-A00F-52891CEE58B9}">
      <dgm:prSet/>
      <dgm:spPr/>
      <dgm:t>
        <a:bodyPr/>
        <a:lstStyle/>
        <a:p>
          <a:pPr>
            <a:defRPr cap="all"/>
          </a:pPr>
          <a:r>
            <a:rPr lang="en-US" b="0" i="0" baseline="0"/>
            <a:t>Finalize project intake form</a:t>
          </a:r>
          <a:endParaRPr lang="en-US"/>
        </a:p>
      </dgm:t>
    </dgm:pt>
    <dgm:pt modelId="{19C3CD12-179F-42A9-A4EE-92E19605767F}" type="parTrans" cxnId="{3983F3EE-8F32-4B16-B6A4-ED268900AFEE}">
      <dgm:prSet/>
      <dgm:spPr/>
      <dgm:t>
        <a:bodyPr/>
        <a:lstStyle/>
        <a:p>
          <a:endParaRPr lang="en-US"/>
        </a:p>
      </dgm:t>
    </dgm:pt>
    <dgm:pt modelId="{A746A885-D49B-4A3C-B6F5-8247735679F2}" type="sibTrans" cxnId="{3983F3EE-8F32-4B16-B6A4-ED268900AFEE}">
      <dgm:prSet/>
      <dgm:spPr/>
      <dgm:t>
        <a:bodyPr/>
        <a:lstStyle/>
        <a:p>
          <a:endParaRPr lang="en-US"/>
        </a:p>
      </dgm:t>
    </dgm:pt>
    <dgm:pt modelId="{6EC22861-2E12-4F78-B83E-2F443E7BD272}">
      <dgm:prSet/>
      <dgm:spPr/>
      <dgm:t>
        <a:bodyPr/>
        <a:lstStyle/>
        <a:p>
          <a:pPr>
            <a:defRPr cap="all"/>
          </a:pPr>
          <a:r>
            <a:rPr lang="en-US" b="0" i="0" baseline="0"/>
            <a:t>Launch skills survey and onboarding packet</a:t>
          </a:r>
          <a:endParaRPr lang="en-US"/>
        </a:p>
      </dgm:t>
    </dgm:pt>
    <dgm:pt modelId="{BF401B0C-C496-45CD-A841-AB7000A4029B}" type="parTrans" cxnId="{A680F7A2-00D9-4F6F-8911-70F9F915493D}">
      <dgm:prSet/>
      <dgm:spPr/>
      <dgm:t>
        <a:bodyPr/>
        <a:lstStyle/>
        <a:p>
          <a:endParaRPr lang="en-US"/>
        </a:p>
      </dgm:t>
    </dgm:pt>
    <dgm:pt modelId="{7C7CCE3A-1B09-40D9-B61F-7F249A91560E}" type="sibTrans" cxnId="{A680F7A2-00D9-4F6F-8911-70F9F915493D}">
      <dgm:prSet/>
      <dgm:spPr/>
      <dgm:t>
        <a:bodyPr/>
        <a:lstStyle/>
        <a:p>
          <a:endParaRPr lang="en-US"/>
        </a:p>
      </dgm:t>
    </dgm:pt>
    <dgm:pt modelId="{56474154-E0DF-4A12-A1F9-358697F3EC52}">
      <dgm:prSet/>
      <dgm:spPr/>
      <dgm:t>
        <a:bodyPr/>
        <a:lstStyle/>
        <a:p>
          <a:pPr>
            <a:defRPr cap="all"/>
          </a:pPr>
          <a:r>
            <a:rPr lang="en-US" b="0" i="0" baseline="0"/>
            <a:t>Run first A-Week check-ins</a:t>
          </a:r>
          <a:endParaRPr lang="en-US"/>
        </a:p>
      </dgm:t>
    </dgm:pt>
    <dgm:pt modelId="{5E9D26C7-FD75-478B-B379-0236677844F9}" type="parTrans" cxnId="{CBBD98B9-96A6-47EB-9988-16788B021403}">
      <dgm:prSet/>
      <dgm:spPr/>
      <dgm:t>
        <a:bodyPr/>
        <a:lstStyle/>
        <a:p>
          <a:endParaRPr lang="en-US"/>
        </a:p>
      </dgm:t>
    </dgm:pt>
    <dgm:pt modelId="{C7887150-CA6B-4E82-A416-3B6A5F057A48}" type="sibTrans" cxnId="{CBBD98B9-96A6-47EB-9988-16788B021403}">
      <dgm:prSet/>
      <dgm:spPr/>
      <dgm:t>
        <a:bodyPr/>
        <a:lstStyle/>
        <a:p>
          <a:endParaRPr lang="en-US"/>
        </a:p>
      </dgm:t>
    </dgm:pt>
    <dgm:pt modelId="{9972D8A1-7D81-4A51-8269-7EA1949C33A2}" type="pres">
      <dgm:prSet presAssocID="{2DFCBAB3-F734-4F78-BDC4-4D3DC1B07450}" presName="root" presStyleCnt="0">
        <dgm:presLayoutVars>
          <dgm:dir/>
          <dgm:resizeHandles val="exact"/>
        </dgm:presLayoutVars>
      </dgm:prSet>
      <dgm:spPr/>
    </dgm:pt>
    <dgm:pt modelId="{7EDACACA-47D1-4170-BD83-234A41157F4D}" type="pres">
      <dgm:prSet presAssocID="{0A33AE72-2C61-4C3C-A17A-F7E5B150AC49}" presName="compNode" presStyleCnt="0"/>
      <dgm:spPr/>
    </dgm:pt>
    <dgm:pt modelId="{83CF91CD-266D-4EAC-A033-7910EDE40A53}" type="pres">
      <dgm:prSet presAssocID="{0A33AE72-2C61-4C3C-A17A-F7E5B150AC49}" presName="iconBgRect" presStyleLbl="bgShp" presStyleIdx="0" presStyleCnt="4"/>
      <dgm:spPr/>
    </dgm:pt>
    <dgm:pt modelId="{CEDB5F9B-262C-440A-91C2-61E34340A8CE}" type="pres">
      <dgm:prSet presAssocID="{0A33AE72-2C61-4C3C-A17A-F7E5B150AC4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621250DC-867B-465C-94FA-FD5EAD463E23}" type="pres">
      <dgm:prSet presAssocID="{0A33AE72-2C61-4C3C-A17A-F7E5B150AC49}" presName="spaceRect" presStyleCnt="0"/>
      <dgm:spPr/>
    </dgm:pt>
    <dgm:pt modelId="{4DE7629E-E533-4A08-8920-0E952052EFA8}" type="pres">
      <dgm:prSet presAssocID="{0A33AE72-2C61-4C3C-A17A-F7E5B150AC49}" presName="textRect" presStyleLbl="revTx" presStyleIdx="0" presStyleCnt="4">
        <dgm:presLayoutVars>
          <dgm:chMax val="1"/>
          <dgm:chPref val="1"/>
        </dgm:presLayoutVars>
      </dgm:prSet>
      <dgm:spPr/>
    </dgm:pt>
    <dgm:pt modelId="{614586FB-7802-4F41-B064-D891C34CC5D7}" type="pres">
      <dgm:prSet presAssocID="{EBF1C582-3269-41CE-BD19-6BADA05B0725}" presName="sibTrans" presStyleCnt="0"/>
      <dgm:spPr/>
    </dgm:pt>
    <dgm:pt modelId="{D57658A0-A49B-4AC1-B1CC-2E0D4480E78C}" type="pres">
      <dgm:prSet presAssocID="{043C63ED-4D03-4DC7-A00F-52891CEE58B9}" presName="compNode" presStyleCnt="0"/>
      <dgm:spPr/>
    </dgm:pt>
    <dgm:pt modelId="{4B912F47-D50E-4CDE-8612-84FE01B01630}" type="pres">
      <dgm:prSet presAssocID="{043C63ED-4D03-4DC7-A00F-52891CEE58B9}" presName="iconBgRect" presStyleLbl="bgShp" presStyleIdx="1" presStyleCnt="4"/>
      <dgm:spPr/>
    </dgm:pt>
    <dgm:pt modelId="{30326F27-FD9B-4CA3-813C-DCD359CA93CA}" type="pres">
      <dgm:prSet presAssocID="{043C63ED-4D03-4DC7-A00F-52891CEE58B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22212EE3-DE6C-4404-9C0E-2CE6F07BBACF}" type="pres">
      <dgm:prSet presAssocID="{043C63ED-4D03-4DC7-A00F-52891CEE58B9}" presName="spaceRect" presStyleCnt="0"/>
      <dgm:spPr/>
    </dgm:pt>
    <dgm:pt modelId="{0E8265A0-4456-49BF-B7EE-7CE2F5F1ECF1}" type="pres">
      <dgm:prSet presAssocID="{043C63ED-4D03-4DC7-A00F-52891CEE58B9}" presName="textRect" presStyleLbl="revTx" presStyleIdx="1" presStyleCnt="4">
        <dgm:presLayoutVars>
          <dgm:chMax val="1"/>
          <dgm:chPref val="1"/>
        </dgm:presLayoutVars>
      </dgm:prSet>
      <dgm:spPr/>
    </dgm:pt>
    <dgm:pt modelId="{3E917768-14EF-428B-910A-8C28863B946D}" type="pres">
      <dgm:prSet presAssocID="{A746A885-D49B-4A3C-B6F5-8247735679F2}" presName="sibTrans" presStyleCnt="0"/>
      <dgm:spPr/>
    </dgm:pt>
    <dgm:pt modelId="{EE1B9990-CF3F-4E61-9071-A962B7E4804A}" type="pres">
      <dgm:prSet presAssocID="{6EC22861-2E12-4F78-B83E-2F443E7BD272}" presName="compNode" presStyleCnt="0"/>
      <dgm:spPr/>
    </dgm:pt>
    <dgm:pt modelId="{1744D0EE-0978-4C58-A24B-83028CFFEF28}" type="pres">
      <dgm:prSet presAssocID="{6EC22861-2E12-4F78-B83E-2F443E7BD272}" presName="iconBgRect" presStyleLbl="bgShp" presStyleIdx="2" presStyleCnt="4"/>
      <dgm:spPr/>
    </dgm:pt>
    <dgm:pt modelId="{D43BC7DE-A08F-4674-A99E-E5BD057A1D52}" type="pres">
      <dgm:prSet presAssocID="{6EC22861-2E12-4F78-B83E-2F443E7BD27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C0136273-A395-4144-801B-EB9ED5A8880E}" type="pres">
      <dgm:prSet presAssocID="{6EC22861-2E12-4F78-B83E-2F443E7BD272}" presName="spaceRect" presStyleCnt="0"/>
      <dgm:spPr/>
    </dgm:pt>
    <dgm:pt modelId="{2B11CB4F-F422-4C0A-A584-AE6513F29D25}" type="pres">
      <dgm:prSet presAssocID="{6EC22861-2E12-4F78-B83E-2F443E7BD272}" presName="textRect" presStyleLbl="revTx" presStyleIdx="2" presStyleCnt="4">
        <dgm:presLayoutVars>
          <dgm:chMax val="1"/>
          <dgm:chPref val="1"/>
        </dgm:presLayoutVars>
      </dgm:prSet>
      <dgm:spPr/>
    </dgm:pt>
    <dgm:pt modelId="{C228CBA7-FFC8-449E-8EEE-3A6BC9205EC3}" type="pres">
      <dgm:prSet presAssocID="{7C7CCE3A-1B09-40D9-B61F-7F249A91560E}" presName="sibTrans" presStyleCnt="0"/>
      <dgm:spPr/>
    </dgm:pt>
    <dgm:pt modelId="{B662D600-AF1C-483C-9ECD-2D438E0AAC28}" type="pres">
      <dgm:prSet presAssocID="{56474154-E0DF-4A12-A1F9-358697F3EC52}" presName="compNode" presStyleCnt="0"/>
      <dgm:spPr/>
    </dgm:pt>
    <dgm:pt modelId="{24B52C4F-7E7E-401C-BCA0-3A586867FC5A}" type="pres">
      <dgm:prSet presAssocID="{56474154-E0DF-4A12-A1F9-358697F3EC52}" presName="iconBgRect" presStyleLbl="bgShp" presStyleIdx="3" presStyleCnt="4"/>
      <dgm:spPr/>
    </dgm:pt>
    <dgm:pt modelId="{BE9380DD-B616-4304-8DF8-17EEA4AAA1DF}" type="pres">
      <dgm:prSet presAssocID="{56474154-E0DF-4A12-A1F9-358697F3EC5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rawl"/>
        </a:ext>
      </dgm:extLst>
    </dgm:pt>
    <dgm:pt modelId="{E5B7E136-3ED5-4181-8732-81B33065F83E}" type="pres">
      <dgm:prSet presAssocID="{56474154-E0DF-4A12-A1F9-358697F3EC52}" presName="spaceRect" presStyleCnt="0"/>
      <dgm:spPr/>
    </dgm:pt>
    <dgm:pt modelId="{D438565E-B823-458F-A752-DED737FDFD6D}" type="pres">
      <dgm:prSet presAssocID="{56474154-E0DF-4A12-A1F9-358697F3EC52}" presName="textRect" presStyleLbl="revTx" presStyleIdx="3" presStyleCnt="4">
        <dgm:presLayoutVars>
          <dgm:chMax val="1"/>
          <dgm:chPref val="1"/>
        </dgm:presLayoutVars>
      </dgm:prSet>
      <dgm:spPr/>
    </dgm:pt>
  </dgm:ptLst>
  <dgm:cxnLst>
    <dgm:cxn modelId="{B1C43F43-0F4D-4003-B257-696ADF288437}" type="presOf" srcId="{043C63ED-4D03-4DC7-A00F-52891CEE58B9}" destId="{0E8265A0-4456-49BF-B7EE-7CE2F5F1ECF1}" srcOrd="0" destOrd="0" presId="urn:microsoft.com/office/officeart/2018/5/layout/IconCircleLabelList"/>
    <dgm:cxn modelId="{46EACF90-AEE6-4481-AE13-BC031D8F2147}" srcId="{2DFCBAB3-F734-4F78-BDC4-4D3DC1B07450}" destId="{0A33AE72-2C61-4C3C-A17A-F7E5B150AC49}" srcOrd="0" destOrd="0" parTransId="{127A6787-FB8B-4F1F-A7A9-BC67187B1500}" sibTransId="{EBF1C582-3269-41CE-BD19-6BADA05B0725}"/>
    <dgm:cxn modelId="{B9E80095-5533-4A02-9A3D-0CB348280E5F}" type="presOf" srcId="{6EC22861-2E12-4F78-B83E-2F443E7BD272}" destId="{2B11CB4F-F422-4C0A-A584-AE6513F29D25}" srcOrd="0" destOrd="0" presId="urn:microsoft.com/office/officeart/2018/5/layout/IconCircleLabelList"/>
    <dgm:cxn modelId="{A680F7A2-00D9-4F6F-8911-70F9F915493D}" srcId="{2DFCBAB3-F734-4F78-BDC4-4D3DC1B07450}" destId="{6EC22861-2E12-4F78-B83E-2F443E7BD272}" srcOrd="2" destOrd="0" parTransId="{BF401B0C-C496-45CD-A841-AB7000A4029B}" sibTransId="{7C7CCE3A-1B09-40D9-B61F-7F249A91560E}"/>
    <dgm:cxn modelId="{CBBD98B9-96A6-47EB-9988-16788B021403}" srcId="{2DFCBAB3-F734-4F78-BDC4-4D3DC1B07450}" destId="{56474154-E0DF-4A12-A1F9-358697F3EC52}" srcOrd="3" destOrd="0" parTransId="{5E9D26C7-FD75-478B-B379-0236677844F9}" sibTransId="{C7887150-CA6B-4E82-A416-3B6A5F057A48}"/>
    <dgm:cxn modelId="{667648DA-A467-495D-948E-DD84DFE0B9CA}" type="presOf" srcId="{56474154-E0DF-4A12-A1F9-358697F3EC52}" destId="{D438565E-B823-458F-A752-DED737FDFD6D}" srcOrd="0" destOrd="0" presId="urn:microsoft.com/office/officeart/2018/5/layout/IconCircleLabelList"/>
    <dgm:cxn modelId="{9411B0DB-4B6E-4D49-9AFC-BEB5649D7454}" type="presOf" srcId="{2DFCBAB3-F734-4F78-BDC4-4D3DC1B07450}" destId="{9972D8A1-7D81-4A51-8269-7EA1949C33A2}" srcOrd="0" destOrd="0" presId="urn:microsoft.com/office/officeart/2018/5/layout/IconCircleLabelList"/>
    <dgm:cxn modelId="{64F8F6E8-00A1-4A38-BA05-4101B63481C9}" type="presOf" srcId="{0A33AE72-2C61-4C3C-A17A-F7E5B150AC49}" destId="{4DE7629E-E533-4A08-8920-0E952052EFA8}" srcOrd="0" destOrd="0" presId="urn:microsoft.com/office/officeart/2018/5/layout/IconCircleLabelList"/>
    <dgm:cxn modelId="{3983F3EE-8F32-4B16-B6A4-ED268900AFEE}" srcId="{2DFCBAB3-F734-4F78-BDC4-4D3DC1B07450}" destId="{043C63ED-4D03-4DC7-A00F-52891CEE58B9}" srcOrd="1" destOrd="0" parTransId="{19C3CD12-179F-42A9-A4EE-92E19605767F}" sibTransId="{A746A885-D49B-4A3C-B6F5-8247735679F2}"/>
    <dgm:cxn modelId="{2FA012F1-81FC-4184-8653-B4AD2CD0D5A3}" type="presParOf" srcId="{9972D8A1-7D81-4A51-8269-7EA1949C33A2}" destId="{7EDACACA-47D1-4170-BD83-234A41157F4D}" srcOrd="0" destOrd="0" presId="urn:microsoft.com/office/officeart/2018/5/layout/IconCircleLabelList"/>
    <dgm:cxn modelId="{69A77D08-1399-4877-9D44-249F7A221A48}" type="presParOf" srcId="{7EDACACA-47D1-4170-BD83-234A41157F4D}" destId="{83CF91CD-266D-4EAC-A033-7910EDE40A53}" srcOrd="0" destOrd="0" presId="urn:microsoft.com/office/officeart/2018/5/layout/IconCircleLabelList"/>
    <dgm:cxn modelId="{02513523-699D-4814-985C-E05DC575E67B}" type="presParOf" srcId="{7EDACACA-47D1-4170-BD83-234A41157F4D}" destId="{CEDB5F9B-262C-440A-91C2-61E34340A8CE}" srcOrd="1" destOrd="0" presId="urn:microsoft.com/office/officeart/2018/5/layout/IconCircleLabelList"/>
    <dgm:cxn modelId="{6F6E34FB-8D64-4F93-8912-CC59E29B6082}" type="presParOf" srcId="{7EDACACA-47D1-4170-BD83-234A41157F4D}" destId="{621250DC-867B-465C-94FA-FD5EAD463E23}" srcOrd="2" destOrd="0" presId="urn:microsoft.com/office/officeart/2018/5/layout/IconCircleLabelList"/>
    <dgm:cxn modelId="{739873AB-EC38-45CE-B199-B0FEC644552F}" type="presParOf" srcId="{7EDACACA-47D1-4170-BD83-234A41157F4D}" destId="{4DE7629E-E533-4A08-8920-0E952052EFA8}" srcOrd="3" destOrd="0" presId="urn:microsoft.com/office/officeart/2018/5/layout/IconCircleLabelList"/>
    <dgm:cxn modelId="{22982DF8-5C33-4CA4-9AEE-827A0601FA7D}" type="presParOf" srcId="{9972D8A1-7D81-4A51-8269-7EA1949C33A2}" destId="{614586FB-7802-4F41-B064-D891C34CC5D7}" srcOrd="1" destOrd="0" presId="urn:microsoft.com/office/officeart/2018/5/layout/IconCircleLabelList"/>
    <dgm:cxn modelId="{A341C3EF-7C03-4E79-B244-D8F7FB809578}" type="presParOf" srcId="{9972D8A1-7D81-4A51-8269-7EA1949C33A2}" destId="{D57658A0-A49B-4AC1-B1CC-2E0D4480E78C}" srcOrd="2" destOrd="0" presId="urn:microsoft.com/office/officeart/2018/5/layout/IconCircleLabelList"/>
    <dgm:cxn modelId="{830350C0-1BC8-4F57-BCCD-C0CDBFE2FE0F}" type="presParOf" srcId="{D57658A0-A49B-4AC1-B1CC-2E0D4480E78C}" destId="{4B912F47-D50E-4CDE-8612-84FE01B01630}" srcOrd="0" destOrd="0" presId="urn:microsoft.com/office/officeart/2018/5/layout/IconCircleLabelList"/>
    <dgm:cxn modelId="{99C39F12-CECE-4817-A077-F34F739497F7}" type="presParOf" srcId="{D57658A0-A49B-4AC1-B1CC-2E0D4480E78C}" destId="{30326F27-FD9B-4CA3-813C-DCD359CA93CA}" srcOrd="1" destOrd="0" presId="urn:microsoft.com/office/officeart/2018/5/layout/IconCircleLabelList"/>
    <dgm:cxn modelId="{5B5DE315-C7B4-4F90-BA80-A4F3BDB62F27}" type="presParOf" srcId="{D57658A0-A49B-4AC1-B1CC-2E0D4480E78C}" destId="{22212EE3-DE6C-4404-9C0E-2CE6F07BBACF}" srcOrd="2" destOrd="0" presId="urn:microsoft.com/office/officeart/2018/5/layout/IconCircleLabelList"/>
    <dgm:cxn modelId="{02D74C4C-D4A4-4253-82F0-728F41C3A71D}" type="presParOf" srcId="{D57658A0-A49B-4AC1-B1CC-2E0D4480E78C}" destId="{0E8265A0-4456-49BF-B7EE-7CE2F5F1ECF1}" srcOrd="3" destOrd="0" presId="urn:microsoft.com/office/officeart/2018/5/layout/IconCircleLabelList"/>
    <dgm:cxn modelId="{784CB565-3034-4544-AB4A-F8C62B203702}" type="presParOf" srcId="{9972D8A1-7D81-4A51-8269-7EA1949C33A2}" destId="{3E917768-14EF-428B-910A-8C28863B946D}" srcOrd="3" destOrd="0" presId="urn:microsoft.com/office/officeart/2018/5/layout/IconCircleLabelList"/>
    <dgm:cxn modelId="{62D42FB5-F1D8-493C-976C-063808402A30}" type="presParOf" srcId="{9972D8A1-7D81-4A51-8269-7EA1949C33A2}" destId="{EE1B9990-CF3F-4E61-9071-A962B7E4804A}" srcOrd="4" destOrd="0" presId="urn:microsoft.com/office/officeart/2018/5/layout/IconCircleLabelList"/>
    <dgm:cxn modelId="{ED15E961-B471-4385-BEA0-446D78449265}" type="presParOf" srcId="{EE1B9990-CF3F-4E61-9071-A962B7E4804A}" destId="{1744D0EE-0978-4C58-A24B-83028CFFEF28}" srcOrd="0" destOrd="0" presId="urn:microsoft.com/office/officeart/2018/5/layout/IconCircleLabelList"/>
    <dgm:cxn modelId="{C5CDBF48-393F-4CCD-95B1-536DA73B9603}" type="presParOf" srcId="{EE1B9990-CF3F-4E61-9071-A962B7E4804A}" destId="{D43BC7DE-A08F-4674-A99E-E5BD057A1D52}" srcOrd="1" destOrd="0" presId="urn:microsoft.com/office/officeart/2018/5/layout/IconCircleLabelList"/>
    <dgm:cxn modelId="{C1EB7D08-527C-481B-A127-967911F2CFA9}" type="presParOf" srcId="{EE1B9990-CF3F-4E61-9071-A962B7E4804A}" destId="{C0136273-A395-4144-801B-EB9ED5A8880E}" srcOrd="2" destOrd="0" presId="urn:microsoft.com/office/officeart/2018/5/layout/IconCircleLabelList"/>
    <dgm:cxn modelId="{86ED5678-2F37-4BA6-8C86-AB5F7493D2B5}" type="presParOf" srcId="{EE1B9990-CF3F-4E61-9071-A962B7E4804A}" destId="{2B11CB4F-F422-4C0A-A584-AE6513F29D25}" srcOrd="3" destOrd="0" presId="urn:microsoft.com/office/officeart/2018/5/layout/IconCircleLabelList"/>
    <dgm:cxn modelId="{A3F8AED9-A05E-43C4-97E5-B9B0055C2A79}" type="presParOf" srcId="{9972D8A1-7D81-4A51-8269-7EA1949C33A2}" destId="{C228CBA7-FFC8-449E-8EEE-3A6BC9205EC3}" srcOrd="5" destOrd="0" presId="urn:microsoft.com/office/officeart/2018/5/layout/IconCircleLabelList"/>
    <dgm:cxn modelId="{6F05D4EB-198E-40F8-A330-E59D67AEFF12}" type="presParOf" srcId="{9972D8A1-7D81-4A51-8269-7EA1949C33A2}" destId="{B662D600-AF1C-483C-9ECD-2D438E0AAC28}" srcOrd="6" destOrd="0" presId="urn:microsoft.com/office/officeart/2018/5/layout/IconCircleLabelList"/>
    <dgm:cxn modelId="{D5F62C04-F7BD-436D-A1E4-242698E9CE07}" type="presParOf" srcId="{B662D600-AF1C-483C-9ECD-2D438E0AAC28}" destId="{24B52C4F-7E7E-401C-BCA0-3A586867FC5A}" srcOrd="0" destOrd="0" presId="urn:microsoft.com/office/officeart/2018/5/layout/IconCircleLabelList"/>
    <dgm:cxn modelId="{59C91442-4305-46B2-A06C-C79B9052F76B}" type="presParOf" srcId="{B662D600-AF1C-483C-9ECD-2D438E0AAC28}" destId="{BE9380DD-B616-4304-8DF8-17EEA4AAA1DF}" srcOrd="1" destOrd="0" presId="urn:microsoft.com/office/officeart/2018/5/layout/IconCircleLabelList"/>
    <dgm:cxn modelId="{C51FB841-5A6D-433A-BDA7-4AB1089628C0}" type="presParOf" srcId="{B662D600-AF1C-483C-9ECD-2D438E0AAC28}" destId="{E5B7E136-3ED5-4181-8732-81B33065F83E}" srcOrd="2" destOrd="0" presId="urn:microsoft.com/office/officeart/2018/5/layout/IconCircleLabelList"/>
    <dgm:cxn modelId="{E846531C-5896-4396-8EEC-0F8978328F3A}" type="presParOf" srcId="{B662D600-AF1C-483C-9ECD-2D438E0AAC28}" destId="{D438565E-B823-458F-A752-DED737FDFD6D}"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CF91CD-266D-4EAC-A033-7910EDE40A53}">
      <dsp:nvSpPr>
        <dsp:cNvPr id="0" name=""/>
        <dsp:cNvSpPr/>
      </dsp:nvSpPr>
      <dsp:spPr>
        <a:xfrm>
          <a:off x="861950" y="500034"/>
          <a:ext cx="1259270" cy="125927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DB5F9B-262C-440A-91C2-61E34340A8CE}">
      <dsp:nvSpPr>
        <dsp:cNvPr id="0" name=""/>
        <dsp:cNvSpPr/>
      </dsp:nvSpPr>
      <dsp:spPr>
        <a:xfrm>
          <a:off x="1130320" y="768403"/>
          <a:ext cx="722532" cy="722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E7629E-E533-4A08-8920-0E952052EFA8}">
      <dsp:nvSpPr>
        <dsp:cNvPr id="0" name=""/>
        <dsp:cNvSpPr/>
      </dsp:nvSpPr>
      <dsp:spPr>
        <a:xfrm>
          <a:off x="459397" y="2151536"/>
          <a:ext cx="206437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b="0" i="0" kern="1200" baseline="0"/>
            <a:t>Recruit VP and Senior Officer</a:t>
          </a:r>
          <a:endParaRPr lang="en-US" sz="1600" kern="1200"/>
        </a:p>
      </dsp:txBody>
      <dsp:txXfrm>
        <a:off x="459397" y="2151536"/>
        <a:ext cx="2064378" cy="720000"/>
      </dsp:txXfrm>
    </dsp:sp>
    <dsp:sp modelId="{4B912F47-D50E-4CDE-8612-84FE01B01630}">
      <dsp:nvSpPr>
        <dsp:cNvPr id="0" name=""/>
        <dsp:cNvSpPr/>
      </dsp:nvSpPr>
      <dsp:spPr>
        <a:xfrm>
          <a:off x="3287595" y="500034"/>
          <a:ext cx="1259270" cy="125927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326F27-FD9B-4CA3-813C-DCD359CA93CA}">
      <dsp:nvSpPr>
        <dsp:cNvPr id="0" name=""/>
        <dsp:cNvSpPr/>
      </dsp:nvSpPr>
      <dsp:spPr>
        <a:xfrm>
          <a:off x="3555964" y="768403"/>
          <a:ext cx="722532" cy="722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8265A0-4456-49BF-B7EE-7CE2F5F1ECF1}">
      <dsp:nvSpPr>
        <dsp:cNvPr id="0" name=""/>
        <dsp:cNvSpPr/>
      </dsp:nvSpPr>
      <dsp:spPr>
        <a:xfrm>
          <a:off x="2885041" y="2151536"/>
          <a:ext cx="206437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b="0" i="0" kern="1200" baseline="0"/>
            <a:t>Finalize project intake form</a:t>
          </a:r>
          <a:endParaRPr lang="en-US" sz="1600" kern="1200"/>
        </a:p>
      </dsp:txBody>
      <dsp:txXfrm>
        <a:off x="2885041" y="2151536"/>
        <a:ext cx="2064378" cy="720000"/>
      </dsp:txXfrm>
    </dsp:sp>
    <dsp:sp modelId="{1744D0EE-0978-4C58-A24B-83028CFFEF28}">
      <dsp:nvSpPr>
        <dsp:cNvPr id="0" name=""/>
        <dsp:cNvSpPr/>
      </dsp:nvSpPr>
      <dsp:spPr>
        <a:xfrm>
          <a:off x="5713239" y="500034"/>
          <a:ext cx="1259270" cy="125927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3BC7DE-A08F-4674-A99E-E5BD057A1D52}">
      <dsp:nvSpPr>
        <dsp:cNvPr id="0" name=""/>
        <dsp:cNvSpPr/>
      </dsp:nvSpPr>
      <dsp:spPr>
        <a:xfrm>
          <a:off x="5981609" y="768403"/>
          <a:ext cx="722532" cy="7225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1CB4F-F422-4C0A-A584-AE6513F29D25}">
      <dsp:nvSpPr>
        <dsp:cNvPr id="0" name=""/>
        <dsp:cNvSpPr/>
      </dsp:nvSpPr>
      <dsp:spPr>
        <a:xfrm>
          <a:off x="5310686" y="2151536"/>
          <a:ext cx="206437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b="0" i="0" kern="1200" baseline="0"/>
            <a:t>Launch skills survey and onboarding packet</a:t>
          </a:r>
          <a:endParaRPr lang="en-US" sz="1600" kern="1200"/>
        </a:p>
      </dsp:txBody>
      <dsp:txXfrm>
        <a:off x="5310686" y="2151536"/>
        <a:ext cx="2064378" cy="720000"/>
      </dsp:txXfrm>
    </dsp:sp>
    <dsp:sp modelId="{24B52C4F-7E7E-401C-BCA0-3A586867FC5A}">
      <dsp:nvSpPr>
        <dsp:cNvPr id="0" name=""/>
        <dsp:cNvSpPr/>
      </dsp:nvSpPr>
      <dsp:spPr>
        <a:xfrm>
          <a:off x="8138884" y="500034"/>
          <a:ext cx="1259270" cy="125927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9380DD-B616-4304-8DF8-17EEA4AAA1DF}">
      <dsp:nvSpPr>
        <dsp:cNvPr id="0" name=""/>
        <dsp:cNvSpPr/>
      </dsp:nvSpPr>
      <dsp:spPr>
        <a:xfrm>
          <a:off x="8407253" y="768403"/>
          <a:ext cx="722532" cy="72253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38565E-B823-458F-A752-DED737FDFD6D}">
      <dsp:nvSpPr>
        <dsp:cNvPr id="0" name=""/>
        <dsp:cNvSpPr/>
      </dsp:nvSpPr>
      <dsp:spPr>
        <a:xfrm>
          <a:off x="7736330" y="2151536"/>
          <a:ext cx="206437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b="0" i="0" kern="1200" baseline="0"/>
            <a:t>Run first A-Week check-ins</a:t>
          </a:r>
          <a:endParaRPr lang="en-US" sz="1600" kern="1200"/>
        </a:p>
      </dsp:txBody>
      <dsp:txXfrm>
        <a:off x="7736330" y="2151536"/>
        <a:ext cx="2064378"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A95082-784D-410B-93C4-B7943D65059C}" type="datetimeFigureOut">
              <a:rPr lang="en-US" smtClean="0"/>
              <a:t>8/21/2025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4C1C22-69D3-4A8B-93AD-7727AA2E4634}" type="slidenum">
              <a:rPr lang="en-US" smtClean="0"/>
              <a:t>‹#›</a:t>
            </a:fld>
            <a:endParaRPr lang="en-US"/>
          </a:p>
        </p:txBody>
      </p:sp>
    </p:spTree>
    <p:extLst>
      <p:ext uri="{BB962C8B-B14F-4D97-AF65-F5344CB8AC3E}">
        <p14:creationId xmlns:p14="http://schemas.microsoft.com/office/powerpoint/2010/main" val="3124227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our first meeting under the updated Programming SIG structure. I want to walk you through our mission, how we’ll operate this semester, and the roles and opportunities available.</a:t>
            </a:r>
          </a:p>
        </p:txBody>
      </p:sp>
      <p:sp>
        <p:nvSpPr>
          <p:cNvPr id="4" name="Slide Number Placeholder 3"/>
          <p:cNvSpPr>
            <a:spLocks noGrp="1"/>
          </p:cNvSpPr>
          <p:nvPr>
            <p:ph type="sldNum" sz="quarter" idx="5"/>
          </p:nvPr>
        </p:nvSpPr>
        <p:spPr/>
        <p:txBody>
          <a:bodyPr/>
          <a:lstStyle/>
          <a:p>
            <a:fld id="{F44C1C22-69D3-4A8B-93AD-7727AA2E4634}" type="slidenum">
              <a:rPr lang="en-US" smtClean="0"/>
              <a:t>1</a:t>
            </a:fld>
            <a:endParaRPr lang="en-US"/>
          </a:p>
        </p:txBody>
      </p:sp>
    </p:spTree>
    <p:extLst>
      <p:ext uri="{BB962C8B-B14F-4D97-AF65-F5344CB8AC3E}">
        <p14:creationId xmlns:p14="http://schemas.microsoft.com/office/powerpoint/2010/main" val="3893295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mission is simple: learn, build, and share. We’ll work across major languages, not just Python, and give space for both projects and learning. I’d also like to bring in a guest speaker monthly.</a:t>
            </a:r>
          </a:p>
        </p:txBody>
      </p:sp>
      <p:sp>
        <p:nvSpPr>
          <p:cNvPr id="4" name="Slide Number Placeholder 3"/>
          <p:cNvSpPr>
            <a:spLocks noGrp="1"/>
          </p:cNvSpPr>
          <p:nvPr>
            <p:ph type="sldNum" sz="quarter" idx="5"/>
          </p:nvPr>
        </p:nvSpPr>
        <p:spPr/>
        <p:txBody>
          <a:bodyPr/>
          <a:lstStyle/>
          <a:p>
            <a:fld id="{F44C1C22-69D3-4A8B-93AD-7727AA2E4634}" type="slidenum">
              <a:rPr lang="en-US" smtClean="0"/>
              <a:t>2</a:t>
            </a:fld>
            <a:endParaRPr lang="en-US"/>
          </a:p>
        </p:txBody>
      </p:sp>
    </p:spTree>
    <p:extLst>
      <p:ext uri="{BB962C8B-B14F-4D97-AF65-F5344CB8AC3E}">
        <p14:creationId xmlns:p14="http://schemas.microsoft.com/office/powerpoint/2010/main" val="2177539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Membership is open to anyone, no matter their background or experience. Contribute what you can. I’ll continue as the primary decision maker, but I want input from the VP and from all of you.</a:t>
            </a:r>
          </a:p>
        </p:txBody>
      </p:sp>
      <p:sp>
        <p:nvSpPr>
          <p:cNvPr id="4" name="Slide Number Placeholder 3"/>
          <p:cNvSpPr>
            <a:spLocks noGrp="1"/>
          </p:cNvSpPr>
          <p:nvPr>
            <p:ph type="sldNum" sz="quarter" idx="5"/>
          </p:nvPr>
        </p:nvSpPr>
        <p:spPr/>
        <p:txBody>
          <a:bodyPr/>
          <a:lstStyle/>
          <a:p>
            <a:fld id="{F44C1C22-69D3-4A8B-93AD-7727AA2E4634}" type="slidenum">
              <a:rPr lang="en-US" smtClean="0"/>
              <a:t>3</a:t>
            </a:fld>
            <a:endParaRPr lang="en-US"/>
          </a:p>
        </p:txBody>
      </p:sp>
    </p:spTree>
    <p:extLst>
      <p:ext uri="{BB962C8B-B14F-4D97-AF65-F5344CB8AC3E}">
        <p14:creationId xmlns:p14="http://schemas.microsoft.com/office/powerpoint/2010/main" val="987922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rotate weekly. A-Weeks are focused on project progress. B-Weeks are for learning and showcasing. This keeps momentum steady and gives time for both progress and learning.</a:t>
            </a:r>
          </a:p>
        </p:txBody>
      </p:sp>
      <p:sp>
        <p:nvSpPr>
          <p:cNvPr id="4" name="Slide Number Placeholder 3"/>
          <p:cNvSpPr>
            <a:spLocks noGrp="1"/>
          </p:cNvSpPr>
          <p:nvPr>
            <p:ph type="sldNum" sz="quarter" idx="5"/>
          </p:nvPr>
        </p:nvSpPr>
        <p:spPr/>
        <p:txBody>
          <a:bodyPr/>
          <a:lstStyle/>
          <a:p>
            <a:fld id="{F44C1C22-69D3-4A8B-93AD-7727AA2E4634}" type="slidenum">
              <a:rPr lang="en-US" smtClean="0"/>
              <a:t>4</a:t>
            </a:fld>
            <a:endParaRPr lang="en-US"/>
          </a:p>
        </p:txBody>
      </p:sp>
    </p:spTree>
    <p:extLst>
      <p:ext uri="{BB962C8B-B14F-4D97-AF65-F5344CB8AC3E}">
        <p14:creationId xmlns:p14="http://schemas.microsoft.com/office/powerpoint/2010/main" val="1312718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two key officer roles. VP keeps projects on track and helps me run meetings. The Senior Officer focuses on onboarding, communication, and summaries. Each has a reasonable time commitment.</a:t>
            </a:r>
          </a:p>
        </p:txBody>
      </p:sp>
      <p:sp>
        <p:nvSpPr>
          <p:cNvPr id="4" name="Slide Number Placeholder 3"/>
          <p:cNvSpPr>
            <a:spLocks noGrp="1"/>
          </p:cNvSpPr>
          <p:nvPr>
            <p:ph type="sldNum" sz="quarter" idx="5"/>
          </p:nvPr>
        </p:nvSpPr>
        <p:spPr/>
        <p:txBody>
          <a:bodyPr/>
          <a:lstStyle/>
          <a:p>
            <a:fld id="{F44C1C22-69D3-4A8B-93AD-7727AA2E4634}" type="slidenum">
              <a:rPr lang="en-US" smtClean="0"/>
              <a:t>5</a:t>
            </a:fld>
            <a:endParaRPr lang="en-US"/>
          </a:p>
        </p:txBody>
      </p:sp>
    </p:spTree>
    <p:extLst>
      <p:ext uri="{BB962C8B-B14F-4D97-AF65-F5344CB8AC3E}">
        <p14:creationId xmlns:p14="http://schemas.microsoft.com/office/powerpoint/2010/main" val="3207650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officer roles, but important tags. Language Specialists help curate and answer questions for their language of choice. Project Leads are simply the people who start projects and help keep them organized.</a:t>
            </a:r>
          </a:p>
        </p:txBody>
      </p:sp>
      <p:sp>
        <p:nvSpPr>
          <p:cNvPr id="4" name="Slide Number Placeholder 3"/>
          <p:cNvSpPr>
            <a:spLocks noGrp="1"/>
          </p:cNvSpPr>
          <p:nvPr>
            <p:ph type="sldNum" sz="quarter" idx="5"/>
          </p:nvPr>
        </p:nvSpPr>
        <p:spPr/>
        <p:txBody>
          <a:bodyPr/>
          <a:lstStyle/>
          <a:p>
            <a:fld id="{F44C1C22-69D3-4A8B-93AD-7727AA2E4634}" type="slidenum">
              <a:rPr lang="en-US" smtClean="0"/>
              <a:t>6</a:t>
            </a:fld>
            <a:endParaRPr lang="en-US"/>
          </a:p>
        </p:txBody>
      </p:sp>
    </p:spTree>
    <p:extLst>
      <p:ext uri="{BB962C8B-B14F-4D97-AF65-F5344CB8AC3E}">
        <p14:creationId xmlns:p14="http://schemas.microsoft.com/office/powerpoint/2010/main" val="3590356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supportive and respectful space. We want curiosity and kindness to define our culture. If there’s ever a problem, reach out directly to me or the VP-to-be. I don't think this will ever be an issue, but I figured I might as well plan for it.</a:t>
            </a:r>
          </a:p>
        </p:txBody>
      </p:sp>
      <p:sp>
        <p:nvSpPr>
          <p:cNvPr id="4" name="Slide Number Placeholder 3"/>
          <p:cNvSpPr>
            <a:spLocks noGrp="1"/>
          </p:cNvSpPr>
          <p:nvPr>
            <p:ph type="sldNum" sz="quarter" idx="5"/>
          </p:nvPr>
        </p:nvSpPr>
        <p:spPr/>
        <p:txBody>
          <a:bodyPr/>
          <a:lstStyle/>
          <a:p>
            <a:fld id="{F44C1C22-69D3-4A8B-93AD-7727AA2E4634}" type="slidenum">
              <a:rPr lang="en-US" smtClean="0"/>
              <a:t>7</a:t>
            </a:fld>
            <a:endParaRPr lang="en-US"/>
          </a:p>
        </p:txBody>
      </p:sp>
    </p:spTree>
    <p:extLst>
      <p:ext uri="{BB962C8B-B14F-4D97-AF65-F5344CB8AC3E}">
        <p14:creationId xmlns:p14="http://schemas.microsoft.com/office/powerpoint/2010/main" val="2020648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is our hub, with tags to help reach the right groups. GitHub will come online soon for code and project tracking. Onboarding is being developed: a survey, picking your tags, and joining or proposing a project. I have a welcome survey already built. I'm going to clean it up and refine it.</a:t>
            </a:r>
          </a:p>
        </p:txBody>
      </p:sp>
      <p:sp>
        <p:nvSpPr>
          <p:cNvPr id="4" name="Slide Number Placeholder 3"/>
          <p:cNvSpPr>
            <a:spLocks noGrp="1"/>
          </p:cNvSpPr>
          <p:nvPr>
            <p:ph type="sldNum" sz="quarter" idx="5"/>
          </p:nvPr>
        </p:nvSpPr>
        <p:spPr/>
        <p:txBody>
          <a:bodyPr/>
          <a:lstStyle/>
          <a:p>
            <a:fld id="{F44C1C22-69D3-4A8B-93AD-7727AA2E4634}" type="slidenum">
              <a:rPr lang="en-US" smtClean="0"/>
              <a:t>8</a:t>
            </a:fld>
            <a:endParaRPr lang="en-US"/>
          </a:p>
        </p:txBody>
      </p:sp>
    </p:spTree>
    <p:extLst>
      <p:ext uri="{BB962C8B-B14F-4D97-AF65-F5344CB8AC3E}">
        <p14:creationId xmlns:p14="http://schemas.microsoft.com/office/powerpoint/2010/main" val="455823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avoid the common pitfalls: stalling out or unclear responsibilities. The Help Wanted list will track open needs, and every meeting will include clear asks and next steps.</a:t>
            </a:r>
          </a:p>
        </p:txBody>
      </p:sp>
      <p:sp>
        <p:nvSpPr>
          <p:cNvPr id="4" name="Slide Number Placeholder 3"/>
          <p:cNvSpPr>
            <a:spLocks noGrp="1"/>
          </p:cNvSpPr>
          <p:nvPr>
            <p:ph type="sldNum" sz="quarter" idx="5"/>
          </p:nvPr>
        </p:nvSpPr>
        <p:spPr/>
        <p:txBody>
          <a:bodyPr/>
          <a:lstStyle/>
          <a:p>
            <a:fld id="{F44C1C22-69D3-4A8B-93AD-7727AA2E4634}" type="slidenum">
              <a:rPr lang="en-US" smtClean="0"/>
              <a:t>9</a:t>
            </a:fld>
            <a:endParaRPr lang="en-US"/>
          </a:p>
        </p:txBody>
      </p:sp>
    </p:spTree>
    <p:extLst>
      <p:ext uri="{BB962C8B-B14F-4D97-AF65-F5344CB8AC3E}">
        <p14:creationId xmlns:p14="http://schemas.microsoft.com/office/powerpoint/2010/main" val="188699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immediate next steps are to fill officer roles, finalize the intake form, and get onboarding live. Our very next meeting will be an A-Week check-in to start tracking projects, but I will postpone it until the 4</a:t>
            </a:r>
            <a:r>
              <a:rPr lang="en-US" baseline="30000" dirty="0"/>
              <a:t>th</a:t>
            </a:r>
            <a:r>
              <a:rPr lang="en-US" dirty="0"/>
              <a:t> of September to give myself enough time to work on all of this. In the meantime, If you are interested in becoming the vice president, please reach out to me directly. If there's enough open interest, an election will be run via polling.</a:t>
            </a:r>
          </a:p>
        </p:txBody>
      </p:sp>
      <p:sp>
        <p:nvSpPr>
          <p:cNvPr id="4" name="Slide Number Placeholder 3"/>
          <p:cNvSpPr>
            <a:spLocks noGrp="1"/>
          </p:cNvSpPr>
          <p:nvPr>
            <p:ph type="sldNum" sz="quarter" idx="5"/>
          </p:nvPr>
        </p:nvSpPr>
        <p:spPr/>
        <p:txBody>
          <a:bodyPr/>
          <a:lstStyle/>
          <a:p>
            <a:fld id="{F44C1C22-69D3-4A8B-93AD-7727AA2E4634}" type="slidenum">
              <a:rPr lang="en-US" smtClean="0"/>
              <a:t>10</a:t>
            </a:fld>
            <a:endParaRPr lang="en-US"/>
          </a:p>
        </p:txBody>
      </p:sp>
    </p:spTree>
    <p:extLst>
      <p:ext uri="{BB962C8B-B14F-4D97-AF65-F5344CB8AC3E}">
        <p14:creationId xmlns:p14="http://schemas.microsoft.com/office/powerpoint/2010/main" val="3660793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E01E8-00BC-91BA-6E91-A0A436FF7A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347612-2120-5807-825D-DF43DCBE2F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E92BE3-BB76-DCA5-5B4C-FDD7328F8203}"/>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5" name="Footer Placeholder 4">
            <a:extLst>
              <a:ext uri="{FF2B5EF4-FFF2-40B4-BE49-F238E27FC236}">
                <a16:creationId xmlns:a16="http://schemas.microsoft.com/office/drawing/2014/main" id="{5097C2AA-85DE-856F-086D-955944157E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BFEDA9-33C9-D325-1A32-0761162C18E0}"/>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3222097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083FF-6351-98DF-28B5-D9731074E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BE40B2-29BE-D2CE-3E2F-83E3BD02E8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B120EB-080C-D15A-CE83-4768691EED72}"/>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5" name="Footer Placeholder 4">
            <a:extLst>
              <a:ext uri="{FF2B5EF4-FFF2-40B4-BE49-F238E27FC236}">
                <a16:creationId xmlns:a16="http://schemas.microsoft.com/office/drawing/2014/main" id="{E3B74C83-AB43-EB39-9F4E-3169ED928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D0191C-84BF-AB17-3F21-4ADE5271C108}"/>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1452204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87AA9-C3DA-70DF-3F6F-3A5E40C877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838B6C-D967-4310-2391-BCCD236386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D0F99A-967B-0745-54FB-DA20E660D7EF}"/>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5" name="Footer Placeholder 4">
            <a:extLst>
              <a:ext uri="{FF2B5EF4-FFF2-40B4-BE49-F238E27FC236}">
                <a16:creationId xmlns:a16="http://schemas.microsoft.com/office/drawing/2014/main" id="{C4CD4FA2-E871-9407-855F-7B6E74C13F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EBD6D-BEDD-0A6A-40FF-0EE9DEDEB6BF}"/>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759543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A16E-B917-2A0B-71DA-2488A008B7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1043EE-1A85-7CA5-18B4-21901C9E4C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D3844D-A439-5DD3-3C42-CBC0BC138B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971715-8B11-75FF-DCFD-3129F1EED2E6}"/>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6" name="Footer Placeholder 5">
            <a:extLst>
              <a:ext uri="{FF2B5EF4-FFF2-40B4-BE49-F238E27FC236}">
                <a16:creationId xmlns:a16="http://schemas.microsoft.com/office/drawing/2014/main" id="{D54FB9F2-6AA8-D161-AD12-3C6735AB3D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5DEA05-B559-70F4-16B2-E7F5D56B994D}"/>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399377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DB3D7-E002-C670-37DC-703C83F906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3BA922-901D-6302-0E3B-BF5A47ACF9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50F728-F3B6-9455-824C-859A5DC5EC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0DD5B9-E1E5-25B4-7A0F-44C3BBCAF7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31B88-7D51-7BB6-1FED-1392752EDA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D9D2CF-B6E0-1B16-E521-AE2B22F5DF82}"/>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8" name="Footer Placeholder 7">
            <a:extLst>
              <a:ext uri="{FF2B5EF4-FFF2-40B4-BE49-F238E27FC236}">
                <a16:creationId xmlns:a16="http://schemas.microsoft.com/office/drawing/2014/main" id="{E17E6F18-63FB-28BF-DC0E-577F39F53A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689B65-8199-9596-9B6D-D27761690C27}"/>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2893764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AB800-1EC6-781B-D218-FA0C1AB6AB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92BF8B-55D7-B8AC-556C-4AB018466DD4}"/>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4" name="Footer Placeholder 3">
            <a:extLst>
              <a:ext uri="{FF2B5EF4-FFF2-40B4-BE49-F238E27FC236}">
                <a16:creationId xmlns:a16="http://schemas.microsoft.com/office/drawing/2014/main" id="{7BEDC675-AC33-0091-2758-5E7D817B5E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3ED941-F659-AF1E-8DD1-E0F70CCBC74C}"/>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1020025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2A3976-C008-505D-39CD-5083D8FD829B}"/>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3" name="Footer Placeholder 2">
            <a:extLst>
              <a:ext uri="{FF2B5EF4-FFF2-40B4-BE49-F238E27FC236}">
                <a16:creationId xmlns:a16="http://schemas.microsoft.com/office/drawing/2014/main" id="{3D6C20DE-074E-112A-805E-9E12709A71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4F4CB-DB7F-5AB1-31F8-15B11158BEA9}"/>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699538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9A048-48EC-FF03-C8E3-A08732B8DB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552C47-9548-A949-3428-DFEC90B52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FC442F-3AA7-F428-03DE-BBB8EB014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1EF65E-4376-129D-863F-16D6B966F19A}"/>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6" name="Footer Placeholder 5">
            <a:extLst>
              <a:ext uri="{FF2B5EF4-FFF2-40B4-BE49-F238E27FC236}">
                <a16:creationId xmlns:a16="http://schemas.microsoft.com/office/drawing/2014/main" id="{1A8C99CC-B9EB-7B1A-B02B-CC5F4849D3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F00E2-0719-1DC1-82D3-43FA53FC2529}"/>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1013501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B990-17A1-E9FC-DEB5-A62BF7A5ED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AD2DD4-E641-C83C-C4D6-BA9F76D33D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F0D3E7-C032-D50C-A17E-1EACF77605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0CD04C-6911-E10B-0550-F8BD446560E4}"/>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6" name="Footer Placeholder 5">
            <a:extLst>
              <a:ext uri="{FF2B5EF4-FFF2-40B4-BE49-F238E27FC236}">
                <a16:creationId xmlns:a16="http://schemas.microsoft.com/office/drawing/2014/main" id="{0593EA09-BC18-1031-EF39-43B8EC3C0E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52CAAD-D9B0-3CD7-B25C-48573225649D}"/>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1527680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C656F-6EC1-85C6-27D5-31CB44205A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1A3290-5BEA-B2B5-0B62-B318702ED2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888D2-28FE-97DE-22BF-2F79BCC3839F}"/>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5" name="Footer Placeholder 4">
            <a:extLst>
              <a:ext uri="{FF2B5EF4-FFF2-40B4-BE49-F238E27FC236}">
                <a16:creationId xmlns:a16="http://schemas.microsoft.com/office/drawing/2014/main" id="{221CB150-EE5F-4FC3-67E2-5C0F8688C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3264B-B347-6A65-CFBE-F3961F6D10DC}"/>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3025872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A6BCC-9C87-D6E8-BDF3-E0F2E9C601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C75AF4-5728-C64F-9248-05EAB8FC2D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B073D3-6A5E-19EC-5F7A-7EA91C5E9D50}"/>
              </a:ext>
            </a:extLst>
          </p:cNvPr>
          <p:cNvSpPr>
            <a:spLocks noGrp="1"/>
          </p:cNvSpPr>
          <p:nvPr>
            <p:ph type="dt" sz="half" idx="10"/>
          </p:nvPr>
        </p:nvSpPr>
        <p:spPr/>
        <p:txBody>
          <a:bodyPr/>
          <a:lstStyle/>
          <a:p>
            <a:fld id="{12590DCE-7219-46D5-83D1-FC532D53B2C3}" type="datetimeFigureOut">
              <a:rPr lang="en-US" smtClean="0"/>
              <a:t>8/21/2025</a:t>
            </a:fld>
            <a:endParaRPr lang="en-US"/>
          </a:p>
        </p:txBody>
      </p:sp>
      <p:sp>
        <p:nvSpPr>
          <p:cNvPr id="5" name="Footer Placeholder 4">
            <a:extLst>
              <a:ext uri="{FF2B5EF4-FFF2-40B4-BE49-F238E27FC236}">
                <a16:creationId xmlns:a16="http://schemas.microsoft.com/office/drawing/2014/main" id="{6368E0EF-952F-8A64-ECD9-7BBB30D306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88029-C0A1-55E0-AD85-73EE4DA76035}"/>
              </a:ext>
            </a:extLst>
          </p:cNvPr>
          <p:cNvSpPr>
            <a:spLocks noGrp="1"/>
          </p:cNvSpPr>
          <p:nvPr>
            <p:ph type="sldNum" sz="quarter" idx="12"/>
          </p:nvPr>
        </p:nvSpPr>
        <p:spPr/>
        <p:txBody>
          <a:bodyPr/>
          <a:lstStyle/>
          <a:p>
            <a:fld id="{B843146D-34F9-4B23-B74A-77E8438DAD85}" type="slidenum">
              <a:rPr lang="en-US" smtClean="0"/>
              <a:t>‹#›</a:t>
            </a:fld>
            <a:endParaRPr lang="en-US"/>
          </a:p>
        </p:txBody>
      </p:sp>
    </p:spTree>
    <p:extLst>
      <p:ext uri="{BB962C8B-B14F-4D97-AF65-F5344CB8AC3E}">
        <p14:creationId xmlns:p14="http://schemas.microsoft.com/office/powerpoint/2010/main" val="3232240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309D6E-8F9F-6597-ACA0-6599008065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555857-A5B4-0352-2E03-DE5B9B3B98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AAC77B-EF80-64A0-5F7B-95C9389176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590DCE-7219-46D5-83D1-FC532D53B2C3}" type="datetimeFigureOut">
              <a:rPr lang="en-US" smtClean="0"/>
              <a:t>8/21/2025</a:t>
            </a:fld>
            <a:endParaRPr lang="en-US"/>
          </a:p>
        </p:txBody>
      </p:sp>
      <p:sp>
        <p:nvSpPr>
          <p:cNvPr id="5" name="Footer Placeholder 4">
            <a:extLst>
              <a:ext uri="{FF2B5EF4-FFF2-40B4-BE49-F238E27FC236}">
                <a16:creationId xmlns:a16="http://schemas.microsoft.com/office/drawing/2014/main" id="{04880A7A-9890-15A4-12D9-4D6520A41F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C12D3B3-8C89-2851-ECB6-B4985AAB3A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43146D-34F9-4B23-B74A-77E8438DAD85}" type="slidenum">
              <a:rPr lang="en-US" smtClean="0"/>
              <a:t>‹#›</a:t>
            </a:fld>
            <a:endParaRPr lang="en-US"/>
          </a:p>
        </p:txBody>
      </p:sp>
    </p:spTree>
    <p:extLst>
      <p:ext uri="{BB962C8B-B14F-4D97-AF65-F5344CB8AC3E}">
        <p14:creationId xmlns:p14="http://schemas.microsoft.com/office/powerpoint/2010/main" val="2041027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mputer script on a screen">
            <a:extLst>
              <a:ext uri="{FF2B5EF4-FFF2-40B4-BE49-F238E27FC236}">
                <a16:creationId xmlns:a16="http://schemas.microsoft.com/office/drawing/2014/main" id="{0E5C4392-619D-148D-ACCD-35EF62FF712A}"/>
              </a:ext>
            </a:extLst>
          </p:cNvPr>
          <p:cNvPicPr>
            <a:picLocks noChangeAspect="1"/>
          </p:cNvPicPr>
          <p:nvPr/>
        </p:nvPicPr>
        <p:blipFill>
          <a:blip r:embed="rId3"/>
          <a:srcRect r="20783"/>
          <a:stretch>
            <a:fillRect/>
          </a:stretch>
        </p:blipFill>
        <p:spPr>
          <a:xfrm>
            <a:off x="4038599" y="10"/>
            <a:ext cx="8160026" cy="6875809"/>
          </a:xfrm>
          <a:prstGeom prst="rect">
            <a:avLst/>
          </a:prstGeom>
        </p:spPr>
      </p:pic>
      <p:sp>
        <p:nvSpPr>
          <p:cNvPr id="25" name="Freeform: Shape 2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F939E59-69F7-0D25-AAF8-A71830EFB9E0}"/>
              </a:ext>
            </a:extLst>
          </p:cNvPr>
          <p:cNvSpPr>
            <a:spLocks noGrp="1"/>
          </p:cNvSpPr>
          <p:nvPr>
            <p:ph type="ctrTitle"/>
          </p:nvPr>
        </p:nvSpPr>
        <p:spPr>
          <a:xfrm>
            <a:off x="534473" y="2950387"/>
            <a:ext cx="3052293" cy="3531403"/>
          </a:xfrm>
        </p:spPr>
        <p:txBody>
          <a:bodyPr anchor="t">
            <a:normAutofit/>
          </a:bodyPr>
          <a:lstStyle/>
          <a:p>
            <a:pPr algn="r"/>
            <a:r>
              <a:rPr lang="en-US" sz="4000" dirty="0">
                <a:solidFill>
                  <a:srgbClr val="FFFFFF"/>
                </a:solidFill>
              </a:rPr>
              <a:t>Programming Special Interest Group (PSIG)</a:t>
            </a:r>
          </a:p>
        </p:txBody>
      </p:sp>
      <p:sp>
        <p:nvSpPr>
          <p:cNvPr id="3" name="Subtitle 2">
            <a:extLst>
              <a:ext uri="{FF2B5EF4-FFF2-40B4-BE49-F238E27FC236}">
                <a16:creationId xmlns:a16="http://schemas.microsoft.com/office/drawing/2014/main" id="{F92E1BA8-2308-81FA-1143-D932A5486FD7}"/>
              </a:ext>
            </a:extLst>
          </p:cNvPr>
          <p:cNvSpPr>
            <a:spLocks noGrp="1"/>
          </p:cNvSpPr>
          <p:nvPr>
            <p:ph type="subTitle" idx="1"/>
          </p:nvPr>
        </p:nvSpPr>
        <p:spPr>
          <a:xfrm>
            <a:off x="777922" y="743803"/>
            <a:ext cx="2808844" cy="1382392"/>
          </a:xfrm>
        </p:spPr>
        <p:txBody>
          <a:bodyPr anchor="b">
            <a:normAutofit/>
          </a:bodyPr>
          <a:lstStyle/>
          <a:p>
            <a:pPr algn="r"/>
            <a:r>
              <a:rPr lang="en-US" sz="2000">
                <a:solidFill>
                  <a:srgbClr val="FFFFFF"/>
                </a:solidFill>
              </a:rPr>
              <a:t>Fall Kickoff Meeting</a:t>
            </a:r>
          </a:p>
        </p:txBody>
      </p:sp>
    </p:spTree>
    <p:extLst>
      <p:ext uri="{BB962C8B-B14F-4D97-AF65-F5344CB8AC3E}">
        <p14:creationId xmlns:p14="http://schemas.microsoft.com/office/powerpoint/2010/main" val="87693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D3AE57-F36C-DF65-51AD-A153C1A851D3}"/>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Mission &amp; Scope</a:t>
            </a:r>
          </a:p>
        </p:txBody>
      </p:sp>
      <p:sp>
        <p:nvSpPr>
          <p:cNvPr id="3" name="Content Placeholder 2">
            <a:extLst>
              <a:ext uri="{FF2B5EF4-FFF2-40B4-BE49-F238E27FC236}">
                <a16:creationId xmlns:a16="http://schemas.microsoft.com/office/drawing/2014/main" id="{A5697BC3-ACB2-1B5D-DAE5-E60455993CC1}"/>
              </a:ext>
            </a:extLst>
          </p:cNvPr>
          <p:cNvSpPr>
            <a:spLocks noGrp="1"/>
          </p:cNvSpPr>
          <p:nvPr>
            <p:ph idx="1"/>
          </p:nvPr>
        </p:nvSpPr>
        <p:spPr>
          <a:xfrm>
            <a:off x="1371599" y="2318197"/>
            <a:ext cx="9724031" cy="3683358"/>
          </a:xfrm>
        </p:spPr>
        <p:txBody>
          <a:bodyPr anchor="ctr">
            <a:normAutofit/>
          </a:bodyPr>
          <a:lstStyle/>
          <a:p>
            <a:pPr marL="0" indent="0">
              <a:buNone/>
            </a:pPr>
            <a:r>
              <a:rPr lang="en-US" sz="2000" b="1"/>
              <a:t>Mission</a:t>
            </a:r>
            <a:endParaRPr lang="en-US" sz="2000"/>
          </a:p>
          <a:p>
            <a:r>
              <a:rPr lang="en-US" sz="2000"/>
              <a:t>Learn, build, and share practical software skills</a:t>
            </a:r>
          </a:p>
          <a:p>
            <a:r>
              <a:rPr lang="en-US" sz="2000"/>
              <a:t>Projects, talks, and peer support</a:t>
            </a:r>
          </a:p>
          <a:p>
            <a:pPr marL="0" indent="0">
              <a:buNone/>
            </a:pPr>
            <a:r>
              <a:rPr lang="en-US" sz="2000" b="1"/>
              <a:t>Scope</a:t>
            </a:r>
            <a:endParaRPr lang="en-US" sz="2000"/>
          </a:p>
          <a:p>
            <a:r>
              <a:rPr lang="en-US" sz="2000"/>
              <a:t>Languages: Python, Java, JavaScript, Go, C#</a:t>
            </a:r>
          </a:p>
          <a:p>
            <a:r>
              <a:rPr lang="en-US" sz="2000"/>
              <a:t>Weekly working sessions, bi-weekly showcases</a:t>
            </a:r>
          </a:p>
          <a:p>
            <a:r>
              <a:rPr lang="en-US" sz="2000"/>
              <a:t>Guest speaker once per month (planned)</a:t>
            </a:r>
          </a:p>
          <a:p>
            <a:endParaRPr lang="en-US" sz="2000"/>
          </a:p>
        </p:txBody>
      </p:sp>
    </p:spTree>
    <p:extLst>
      <p:ext uri="{BB962C8B-B14F-4D97-AF65-F5344CB8AC3E}">
        <p14:creationId xmlns:p14="http://schemas.microsoft.com/office/powerpoint/2010/main" val="228191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B57993-8F4A-BA43-735D-15C9B7DDE839}"/>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Membership &amp; Decision Making</a:t>
            </a:r>
          </a:p>
        </p:txBody>
      </p:sp>
      <p:sp>
        <p:nvSpPr>
          <p:cNvPr id="3" name="Content Placeholder 2">
            <a:extLst>
              <a:ext uri="{FF2B5EF4-FFF2-40B4-BE49-F238E27FC236}">
                <a16:creationId xmlns:a16="http://schemas.microsoft.com/office/drawing/2014/main" id="{9B023A80-6BE9-1A35-74D5-63402065F304}"/>
              </a:ext>
            </a:extLst>
          </p:cNvPr>
          <p:cNvSpPr>
            <a:spLocks noGrp="1"/>
          </p:cNvSpPr>
          <p:nvPr>
            <p:ph idx="1"/>
          </p:nvPr>
        </p:nvSpPr>
        <p:spPr>
          <a:xfrm>
            <a:off x="6503158" y="649480"/>
            <a:ext cx="4862447" cy="5546047"/>
          </a:xfrm>
        </p:spPr>
        <p:txBody>
          <a:bodyPr anchor="ctr">
            <a:normAutofit/>
          </a:bodyPr>
          <a:lstStyle/>
          <a:p>
            <a:pPr marL="0" indent="0">
              <a:buNone/>
            </a:pPr>
            <a:r>
              <a:rPr lang="en-US" sz="2000" b="1"/>
              <a:t>Membership</a:t>
            </a:r>
            <a:endParaRPr lang="en-US" sz="2000"/>
          </a:p>
          <a:p>
            <a:r>
              <a:rPr lang="en-US" sz="2000"/>
              <a:t>Open to all skill levels</a:t>
            </a:r>
          </a:p>
          <a:p>
            <a:r>
              <a:rPr lang="en-US" sz="2000"/>
              <a:t>Contribute as time allows</a:t>
            </a:r>
          </a:p>
          <a:p>
            <a:pPr marL="0" indent="0">
              <a:buNone/>
            </a:pPr>
            <a:r>
              <a:rPr lang="en-US" sz="2000" b="1"/>
              <a:t>Decision Making</a:t>
            </a:r>
            <a:endParaRPr lang="en-US" sz="2000"/>
          </a:p>
          <a:p>
            <a:r>
              <a:rPr lang="en-US" sz="2000"/>
              <a:t>President = final decision maker</a:t>
            </a:r>
          </a:p>
          <a:p>
            <a:r>
              <a:rPr lang="en-US" sz="2000"/>
              <a:t>VP input and member feedback</a:t>
            </a:r>
          </a:p>
          <a:p>
            <a:endParaRPr lang="en-US" sz="2000"/>
          </a:p>
        </p:txBody>
      </p:sp>
    </p:spTree>
    <p:extLst>
      <p:ext uri="{BB962C8B-B14F-4D97-AF65-F5344CB8AC3E}">
        <p14:creationId xmlns:p14="http://schemas.microsoft.com/office/powerpoint/2010/main" val="62371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782D10-BF67-1DDE-F884-30024B0BA22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Meeting Cadence (A/B Weeks)</a:t>
            </a:r>
          </a:p>
        </p:txBody>
      </p:sp>
      <p:sp>
        <p:nvSpPr>
          <p:cNvPr id="3" name="Content Placeholder 2">
            <a:extLst>
              <a:ext uri="{FF2B5EF4-FFF2-40B4-BE49-F238E27FC236}">
                <a16:creationId xmlns:a16="http://schemas.microsoft.com/office/drawing/2014/main" id="{3877380D-4F8F-F990-6689-0CFEDE014690}"/>
              </a:ext>
            </a:extLst>
          </p:cNvPr>
          <p:cNvSpPr>
            <a:spLocks noGrp="1"/>
          </p:cNvSpPr>
          <p:nvPr>
            <p:ph idx="1"/>
          </p:nvPr>
        </p:nvSpPr>
        <p:spPr>
          <a:xfrm>
            <a:off x="1371599" y="2318197"/>
            <a:ext cx="9724031" cy="3683358"/>
          </a:xfrm>
        </p:spPr>
        <p:txBody>
          <a:bodyPr anchor="ctr">
            <a:normAutofit/>
          </a:bodyPr>
          <a:lstStyle/>
          <a:p>
            <a:pPr marL="0" indent="0">
              <a:buNone/>
            </a:pPr>
            <a:r>
              <a:rPr lang="en-US" sz="2000" b="1"/>
              <a:t>A-Week: Projects &amp; Check-ins</a:t>
            </a:r>
            <a:endParaRPr lang="en-US" sz="2000"/>
          </a:p>
          <a:p>
            <a:r>
              <a:rPr lang="en-US" sz="2000"/>
              <a:t>Wins &amp; announcements (5 min)</a:t>
            </a:r>
          </a:p>
          <a:p>
            <a:r>
              <a:rPr lang="en-US" sz="2000"/>
              <a:t>Team check-ins (30 min)</a:t>
            </a:r>
          </a:p>
          <a:p>
            <a:r>
              <a:rPr lang="en-US" sz="2000"/>
              <a:t>Co-working &amp; help (20 min)</a:t>
            </a:r>
          </a:p>
          <a:p>
            <a:r>
              <a:rPr lang="en-US" sz="2000"/>
              <a:t>Wrap-up (5 min)</a:t>
            </a:r>
          </a:p>
          <a:p>
            <a:pPr marL="0" indent="0">
              <a:buNone/>
            </a:pPr>
            <a:r>
              <a:rPr lang="en-US" sz="2000" b="1"/>
              <a:t>B-Week: Learning &amp; Showcase</a:t>
            </a:r>
            <a:endParaRPr lang="en-US" sz="2000"/>
          </a:p>
          <a:p>
            <a:r>
              <a:rPr lang="en-US" sz="2000"/>
              <a:t>Member talk or showcase (30–45 min)</a:t>
            </a:r>
          </a:p>
          <a:p>
            <a:r>
              <a:rPr lang="en-US" sz="2000"/>
              <a:t>Lightning demos/code walkthroughs (15–20 min)</a:t>
            </a:r>
          </a:p>
          <a:p>
            <a:endParaRPr lang="en-US" sz="2000"/>
          </a:p>
        </p:txBody>
      </p:sp>
    </p:spTree>
    <p:extLst>
      <p:ext uri="{BB962C8B-B14F-4D97-AF65-F5344CB8AC3E}">
        <p14:creationId xmlns:p14="http://schemas.microsoft.com/office/powerpoint/2010/main" val="2197305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2260FFE-4975-1D14-9A76-2EF6900406B6}"/>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Roles</a:t>
            </a:r>
          </a:p>
        </p:txBody>
      </p:sp>
      <p:sp>
        <p:nvSpPr>
          <p:cNvPr id="3" name="Content Placeholder 2">
            <a:extLst>
              <a:ext uri="{FF2B5EF4-FFF2-40B4-BE49-F238E27FC236}">
                <a16:creationId xmlns:a16="http://schemas.microsoft.com/office/drawing/2014/main" id="{21384159-D023-BE11-05AB-240AED9289E3}"/>
              </a:ext>
            </a:extLst>
          </p:cNvPr>
          <p:cNvSpPr>
            <a:spLocks noGrp="1"/>
          </p:cNvSpPr>
          <p:nvPr>
            <p:ph idx="1"/>
          </p:nvPr>
        </p:nvSpPr>
        <p:spPr>
          <a:xfrm>
            <a:off x="6503158" y="649480"/>
            <a:ext cx="4862447" cy="5546047"/>
          </a:xfrm>
        </p:spPr>
        <p:txBody>
          <a:bodyPr anchor="ctr">
            <a:normAutofit/>
          </a:bodyPr>
          <a:lstStyle/>
          <a:p>
            <a:pPr marL="0" indent="0">
              <a:buNone/>
            </a:pPr>
            <a:r>
              <a:rPr lang="en-US" sz="2000" b="1"/>
              <a:t>Vice President (VP)</a:t>
            </a:r>
            <a:endParaRPr lang="en-US" sz="2000"/>
          </a:p>
          <a:p>
            <a:r>
              <a:rPr lang="en-US" sz="2000"/>
              <a:t>Intake, staffing, co-runs meetings</a:t>
            </a:r>
          </a:p>
          <a:p>
            <a:r>
              <a:rPr lang="en-US" sz="2000"/>
              <a:t>Maintains repos &amp; templates (future)</a:t>
            </a:r>
          </a:p>
          <a:p>
            <a:r>
              <a:rPr lang="en-US" sz="2000"/>
              <a:t>3–5 hrs/week</a:t>
            </a:r>
          </a:p>
          <a:p>
            <a:pPr marL="0" indent="0">
              <a:buNone/>
            </a:pPr>
            <a:r>
              <a:rPr lang="en-US" sz="2000" b="1"/>
              <a:t>Senior Officer</a:t>
            </a:r>
            <a:endParaRPr lang="en-US" sz="2000"/>
          </a:p>
          <a:p>
            <a:r>
              <a:rPr lang="en-US" sz="2000"/>
              <a:t>Onboarding, comms, weekly digest</a:t>
            </a:r>
          </a:p>
          <a:p>
            <a:r>
              <a:rPr lang="en-US" sz="2000"/>
              <a:t>Notes/summaries</a:t>
            </a:r>
          </a:p>
          <a:p>
            <a:r>
              <a:rPr lang="en-US" sz="2000"/>
              <a:t>2–3 hrs/week</a:t>
            </a:r>
          </a:p>
          <a:p>
            <a:endParaRPr lang="en-US" sz="2000"/>
          </a:p>
        </p:txBody>
      </p:sp>
    </p:spTree>
    <p:extLst>
      <p:ext uri="{BB962C8B-B14F-4D97-AF65-F5344CB8AC3E}">
        <p14:creationId xmlns:p14="http://schemas.microsoft.com/office/powerpoint/2010/main" val="135749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B1221E-9AA3-06FB-ADD1-3681F17FF319}"/>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Informal Tags</a:t>
            </a:r>
          </a:p>
        </p:txBody>
      </p:sp>
      <p:sp>
        <p:nvSpPr>
          <p:cNvPr id="3" name="Content Placeholder 2">
            <a:extLst>
              <a:ext uri="{FF2B5EF4-FFF2-40B4-BE49-F238E27FC236}">
                <a16:creationId xmlns:a16="http://schemas.microsoft.com/office/drawing/2014/main" id="{E3F93FD8-B8CB-5EE5-4C51-1110DF6E5860}"/>
              </a:ext>
            </a:extLst>
          </p:cNvPr>
          <p:cNvSpPr>
            <a:spLocks noGrp="1"/>
          </p:cNvSpPr>
          <p:nvPr>
            <p:ph idx="1"/>
          </p:nvPr>
        </p:nvSpPr>
        <p:spPr>
          <a:xfrm>
            <a:off x="1371599" y="2318197"/>
            <a:ext cx="9724031" cy="3683358"/>
          </a:xfrm>
        </p:spPr>
        <p:txBody>
          <a:bodyPr anchor="ctr">
            <a:normAutofit/>
          </a:bodyPr>
          <a:lstStyle/>
          <a:p>
            <a:pPr marL="0" indent="0">
              <a:buNone/>
            </a:pPr>
            <a:r>
              <a:rPr lang="en-US" sz="2000" b="1"/>
              <a:t>Language Specialists</a:t>
            </a:r>
            <a:endParaRPr lang="en-US" sz="2000"/>
          </a:p>
          <a:p>
            <a:r>
              <a:rPr lang="en-US" sz="2000"/>
              <a:t>Curate starter resources</a:t>
            </a:r>
          </a:p>
          <a:p>
            <a:r>
              <a:rPr lang="en-US" sz="2000"/>
              <a:t>Answer questions</a:t>
            </a:r>
          </a:p>
          <a:p>
            <a:r>
              <a:rPr lang="en-US" sz="2000"/>
              <a:t>1–2 hrs/week</a:t>
            </a:r>
          </a:p>
          <a:p>
            <a:pPr marL="0" indent="0">
              <a:buNone/>
            </a:pPr>
            <a:r>
              <a:rPr lang="en-US" sz="2000" b="1"/>
              <a:t>Project Leads</a:t>
            </a:r>
            <a:endParaRPr lang="en-US" sz="2000"/>
          </a:p>
          <a:p>
            <a:r>
              <a:rPr lang="en-US" sz="2000"/>
              <a:t>Submit intake form</a:t>
            </a:r>
          </a:p>
          <a:p>
            <a:r>
              <a:rPr lang="en-US" sz="2000"/>
              <a:t>Define scope &amp; backlog</a:t>
            </a:r>
          </a:p>
          <a:p>
            <a:r>
              <a:rPr lang="en-US" sz="2000"/>
              <a:t>Give updates &amp; demos</a:t>
            </a:r>
          </a:p>
          <a:p>
            <a:endParaRPr lang="en-US" sz="2000"/>
          </a:p>
        </p:txBody>
      </p:sp>
    </p:spTree>
    <p:extLst>
      <p:ext uri="{BB962C8B-B14F-4D97-AF65-F5344CB8AC3E}">
        <p14:creationId xmlns:p14="http://schemas.microsoft.com/office/powerpoint/2010/main" val="2519806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46B993-19EA-929E-6812-FC62F4D160F4}"/>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Code of Conduct</a:t>
            </a:r>
          </a:p>
        </p:txBody>
      </p:sp>
      <p:sp>
        <p:nvSpPr>
          <p:cNvPr id="3" name="Content Placeholder 2">
            <a:extLst>
              <a:ext uri="{FF2B5EF4-FFF2-40B4-BE49-F238E27FC236}">
                <a16:creationId xmlns:a16="http://schemas.microsoft.com/office/drawing/2014/main" id="{F493F122-763A-3CDD-0891-B6A1AE7A6F64}"/>
              </a:ext>
            </a:extLst>
          </p:cNvPr>
          <p:cNvSpPr>
            <a:spLocks noGrp="1"/>
          </p:cNvSpPr>
          <p:nvPr>
            <p:ph idx="1"/>
          </p:nvPr>
        </p:nvSpPr>
        <p:spPr>
          <a:xfrm>
            <a:off x="6503158" y="649480"/>
            <a:ext cx="4862447" cy="5546047"/>
          </a:xfrm>
        </p:spPr>
        <p:txBody>
          <a:bodyPr anchor="ctr">
            <a:normAutofit/>
          </a:bodyPr>
          <a:lstStyle/>
          <a:p>
            <a:pPr marL="0" indent="0">
              <a:buNone/>
            </a:pPr>
            <a:r>
              <a:rPr lang="en-US" sz="2000" b="1"/>
              <a:t>Expectations</a:t>
            </a:r>
            <a:endParaRPr lang="en-US" sz="2000"/>
          </a:p>
          <a:p>
            <a:r>
              <a:rPr lang="en-US" sz="2000"/>
              <a:t>Be respectful, inclusive, constructive</a:t>
            </a:r>
          </a:p>
          <a:p>
            <a:r>
              <a:rPr lang="en-US" sz="2000"/>
              <a:t>Questions welcome at all levels</a:t>
            </a:r>
          </a:p>
          <a:p>
            <a:r>
              <a:rPr lang="en-US" sz="2000"/>
              <a:t>Report issues privately to President or VP</a:t>
            </a:r>
          </a:p>
        </p:txBody>
      </p:sp>
    </p:spTree>
    <p:extLst>
      <p:ext uri="{BB962C8B-B14F-4D97-AF65-F5344CB8AC3E}">
        <p14:creationId xmlns:p14="http://schemas.microsoft.com/office/powerpoint/2010/main" val="176744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33C183-2B83-5C1D-F89A-94795642EC44}"/>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Communication &amp; Tools</a:t>
            </a:r>
          </a:p>
        </p:txBody>
      </p:sp>
      <p:sp>
        <p:nvSpPr>
          <p:cNvPr id="5" name="Rectangle 2">
            <a:extLst>
              <a:ext uri="{FF2B5EF4-FFF2-40B4-BE49-F238E27FC236}">
                <a16:creationId xmlns:a16="http://schemas.microsoft.com/office/drawing/2014/main" id="{C4C357FE-32CF-EFCA-9DFF-8683D73D7F7A}"/>
              </a:ext>
            </a:extLst>
          </p:cNvPr>
          <p:cNvSpPr>
            <a:spLocks noGrp="1" noChangeArrowheads="1"/>
          </p:cNvSpPr>
          <p:nvPr>
            <p:ph idx="1"/>
          </p:nvPr>
        </p:nvSpPr>
        <p:spPr bwMode="auto">
          <a:xfrm>
            <a:off x="1371599" y="2318197"/>
            <a:ext cx="9724031" cy="36833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2000" b="1" i="0" u="none" strike="noStrike" cap="none" normalizeH="0" baseline="0">
                <a:ln>
                  <a:noFill/>
                </a:ln>
                <a:effectLst/>
                <a:latin typeface="Arial" panose="020B0604020202020204" pitchFamily="34" charset="0"/>
              </a:rPr>
              <a:t>Teams</a:t>
            </a:r>
            <a:endParaRPr kumimoji="0" lang="en-US" altLang="en-US" sz="2000" b="0" i="0" u="none" strike="noStrike" cap="none" normalizeH="0" baseline="0">
              <a:ln>
                <a:noFill/>
              </a:ln>
              <a:effectLst/>
              <a:latin typeface="Arial" panose="020B0604020202020204" pitchFamily="34" charset="0"/>
            </a:endParaRPr>
          </a:p>
          <a:p>
            <a:pPr eaLnBrk="0" fontAlgn="base" hangingPunct="0">
              <a:spcBef>
                <a:spcPct val="0"/>
              </a:spcBef>
              <a:spcAft>
                <a:spcPts val="600"/>
              </a:spcAft>
            </a:pPr>
            <a:r>
              <a:rPr kumimoji="0" lang="en-US" altLang="en-US" sz="2000" b="0" i="0" u="none" strike="noStrike" cap="none" normalizeH="0" baseline="0">
                <a:ln>
                  <a:noFill/>
                </a:ln>
                <a:effectLst/>
                <a:latin typeface="Arial" panose="020B0604020202020204" pitchFamily="34" charset="0"/>
              </a:rPr>
              <a:t>Tags: </a:t>
            </a:r>
            <a:r>
              <a:rPr kumimoji="0" lang="en-US" altLang="en-US" sz="2000" b="0" i="0" u="none" strike="noStrike" cap="none" normalizeH="0" baseline="0">
                <a:ln>
                  <a:noFill/>
                </a:ln>
                <a:effectLst/>
                <a:latin typeface="Arial Unicode MS"/>
              </a:rPr>
              <a:t>@Project-Leads</a:t>
            </a:r>
            <a:r>
              <a:rPr kumimoji="0" lang="en-US" altLang="en-US" sz="2000" b="0" i="0" u="none" strike="noStrike" cap="none" normalizeH="0" baseline="0">
                <a:ln>
                  <a:noFill/>
                </a:ln>
                <a:effectLst/>
              </a:rPr>
              <a:t>, </a:t>
            </a:r>
            <a:r>
              <a:rPr kumimoji="0" lang="en-US" altLang="en-US" sz="2000" b="0" i="0" u="none" strike="noStrike" cap="none" normalizeH="0" baseline="0">
                <a:ln>
                  <a:noFill/>
                </a:ln>
                <a:effectLst/>
                <a:latin typeface="Arial Unicode MS"/>
              </a:rPr>
              <a:t>@Members</a:t>
            </a:r>
            <a:r>
              <a:rPr kumimoji="0" lang="en-US" altLang="en-US" sz="2000" b="0" i="0" u="none" strike="noStrike" cap="none" normalizeH="0" baseline="0">
                <a:ln>
                  <a:noFill/>
                </a:ln>
                <a:effectLst/>
              </a:rPr>
              <a:t>, </a:t>
            </a:r>
            <a:r>
              <a:rPr kumimoji="0" lang="en-US" altLang="en-US" sz="2000" b="0" i="0" u="none" strike="noStrike" cap="none" normalizeH="0" baseline="0">
                <a:ln>
                  <a:noFill/>
                </a:ln>
                <a:effectLst/>
                <a:latin typeface="Arial Unicode MS"/>
              </a:rPr>
              <a:t>@Python</a:t>
            </a:r>
            <a:r>
              <a:rPr kumimoji="0" lang="en-US" altLang="en-US" sz="2000" b="0" i="0" u="none" strike="noStrike" cap="none" normalizeH="0" baseline="0">
                <a:ln>
                  <a:noFill/>
                </a:ln>
                <a:effectLst/>
              </a:rPr>
              <a:t>, </a:t>
            </a:r>
            <a:r>
              <a:rPr kumimoji="0" lang="en-US" altLang="en-US" sz="2000" b="0" i="0" u="none" strike="noStrike" cap="none" normalizeH="0" baseline="0">
                <a:ln>
                  <a:noFill/>
                </a:ln>
                <a:effectLst/>
                <a:latin typeface="Arial Unicode MS"/>
              </a:rPr>
              <a:t>@Java</a:t>
            </a:r>
            <a:r>
              <a:rPr kumimoji="0" lang="en-US" altLang="en-US" sz="2000" b="0" i="0" u="none" strike="noStrike" cap="none" normalizeH="0" baseline="0">
                <a:ln>
                  <a:noFill/>
                </a:ln>
                <a:effectLst/>
              </a:rPr>
              <a:t>, </a:t>
            </a:r>
            <a:r>
              <a:rPr kumimoji="0" lang="en-US" altLang="en-US" sz="2000" b="0" i="0" u="none" strike="noStrike" cap="none" normalizeH="0" baseline="0">
                <a:ln>
                  <a:noFill/>
                </a:ln>
                <a:effectLst/>
                <a:latin typeface="Arial Unicode MS"/>
              </a:rPr>
              <a:t>@JavaScript</a:t>
            </a:r>
            <a:r>
              <a:rPr kumimoji="0" lang="en-US" altLang="en-US" sz="2000" b="0" i="0" u="none" strike="noStrike" cap="none" normalizeH="0" baseline="0">
                <a:ln>
                  <a:noFill/>
                </a:ln>
                <a:effectLst/>
              </a:rPr>
              <a:t>, </a:t>
            </a:r>
            <a:r>
              <a:rPr kumimoji="0" lang="en-US" altLang="en-US" sz="2000" b="0" i="0" u="none" strike="noStrike" cap="none" normalizeH="0" baseline="0">
                <a:ln>
                  <a:noFill/>
                </a:ln>
                <a:effectLst/>
                <a:latin typeface="Arial Unicode MS"/>
              </a:rPr>
              <a:t>@Go</a:t>
            </a:r>
            <a:r>
              <a:rPr kumimoji="0" lang="en-US" altLang="en-US" sz="2000" b="0" i="0" u="none" strike="noStrike" cap="none" normalizeH="0" baseline="0">
                <a:ln>
                  <a:noFill/>
                </a:ln>
                <a:effectLst/>
              </a:rPr>
              <a:t>, </a:t>
            </a:r>
            <a:r>
              <a:rPr kumimoji="0" lang="en-US" altLang="en-US" sz="2000" b="0" i="0" u="none" strike="noStrike" cap="none" normalizeH="0" baseline="0">
                <a:ln>
                  <a:noFill/>
                </a:ln>
                <a:effectLst/>
                <a:latin typeface="Arial Unicode MS"/>
              </a:rPr>
              <a:t>@CSharp</a:t>
            </a:r>
            <a:endParaRPr kumimoji="0" lang="en-US"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US" altLang="en-US" sz="2000" b="1" i="0" u="none" strike="noStrike" cap="none" normalizeH="0" baseline="0">
                <a:ln>
                  <a:noFill/>
                </a:ln>
                <a:effectLst/>
                <a:latin typeface="Arial" panose="020B0604020202020204" pitchFamily="34" charset="0"/>
              </a:rPr>
              <a:t>GitHub (future)</a:t>
            </a:r>
            <a:endParaRPr kumimoji="0" lang="en-US" altLang="en-US" sz="2000" b="0" i="0" u="none" strike="noStrike" cap="none" normalizeH="0" baseline="0">
              <a:ln>
                <a:noFill/>
              </a:ln>
              <a:effectLst/>
              <a:latin typeface="Arial" panose="020B0604020202020204" pitchFamily="34" charset="0"/>
            </a:endParaRPr>
          </a:p>
          <a:p>
            <a:pPr eaLnBrk="0" fontAlgn="base" hangingPunct="0">
              <a:spcBef>
                <a:spcPct val="0"/>
              </a:spcBef>
              <a:spcAft>
                <a:spcPts val="600"/>
              </a:spcAft>
            </a:pPr>
            <a:r>
              <a:rPr kumimoji="0" lang="en-US" altLang="en-US" sz="2000" b="0" i="0" u="none" strike="noStrike" cap="none" normalizeH="0" baseline="0">
                <a:ln>
                  <a:noFill/>
                </a:ln>
                <a:effectLst/>
                <a:latin typeface="Arial" panose="020B0604020202020204" pitchFamily="34" charset="0"/>
              </a:rPr>
              <a:t>Code, issues, project tracking</a:t>
            </a:r>
          </a:p>
          <a:p>
            <a:pPr eaLnBrk="0" fontAlgn="base" hangingPunct="0">
              <a:spcBef>
                <a:spcPct val="0"/>
              </a:spcBef>
              <a:spcAft>
                <a:spcPts val="600"/>
              </a:spcAft>
            </a:pPr>
            <a:r>
              <a:rPr kumimoji="0" lang="en-US" altLang="en-US" sz="2000" b="0" i="0" u="none" strike="noStrike" cap="none" normalizeH="0" baseline="0">
                <a:ln>
                  <a:noFill/>
                </a:ln>
                <a:effectLst/>
                <a:latin typeface="Arial" panose="020B0604020202020204" pitchFamily="34" charset="0"/>
              </a:rPr>
              <a:t>Repo templates</a:t>
            </a:r>
          </a:p>
          <a:p>
            <a:pPr marL="0" marR="0" lvl="0" indent="0" defTabSz="914400" rtl="0" eaLnBrk="0" fontAlgn="base" latinLnBrk="0" hangingPunct="0">
              <a:spcBef>
                <a:spcPct val="0"/>
              </a:spcBef>
              <a:spcAft>
                <a:spcPts val="600"/>
              </a:spcAft>
              <a:buClrTx/>
              <a:buSzTx/>
              <a:buFontTx/>
              <a:buNone/>
              <a:tabLst/>
            </a:pPr>
            <a:r>
              <a:rPr kumimoji="0" lang="en-US" altLang="en-US" sz="2000" b="1" i="0" u="none" strike="noStrike" cap="none" normalizeH="0" baseline="0">
                <a:ln>
                  <a:noFill/>
                </a:ln>
                <a:effectLst/>
                <a:latin typeface="Arial" panose="020B0604020202020204" pitchFamily="34" charset="0"/>
              </a:rPr>
              <a:t>Onboarding (in progress)</a:t>
            </a:r>
            <a:endParaRPr kumimoji="0" lang="en-US" altLang="en-US" sz="2000" b="0" i="0" u="none" strike="noStrike" cap="none" normalizeH="0" baseline="0">
              <a:ln>
                <a:noFill/>
              </a:ln>
              <a:effectLst/>
              <a:latin typeface="Arial" panose="020B0604020202020204" pitchFamily="34" charset="0"/>
            </a:endParaRPr>
          </a:p>
          <a:p>
            <a:pPr eaLnBrk="0" fontAlgn="base" hangingPunct="0">
              <a:spcBef>
                <a:spcPct val="0"/>
              </a:spcBef>
              <a:spcAft>
                <a:spcPts val="600"/>
              </a:spcAft>
            </a:pPr>
            <a:r>
              <a:rPr kumimoji="0" lang="en-US" altLang="en-US" sz="2000" b="0" i="0" u="none" strike="noStrike" cap="none" normalizeH="0" baseline="0">
                <a:ln>
                  <a:noFill/>
                </a:ln>
                <a:effectLst/>
                <a:latin typeface="Arial" panose="020B0604020202020204" pitchFamily="34" charset="0"/>
              </a:rPr>
              <a:t>Skills survey (built)</a:t>
            </a:r>
          </a:p>
          <a:p>
            <a:pPr eaLnBrk="0" fontAlgn="base" hangingPunct="0">
              <a:spcBef>
                <a:spcPct val="0"/>
              </a:spcBef>
              <a:spcAft>
                <a:spcPts val="600"/>
              </a:spcAft>
            </a:pPr>
            <a:r>
              <a:rPr kumimoji="0" lang="en-US" altLang="en-US" sz="2000" b="0" i="0" u="none" strike="noStrike" cap="none" normalizeH="0" baseline="0">
                <a:ln>
                  <a:noFill/>
                </a:ln>
                <a:effectLst/>
                <a:latin typeface="Arial" panose="020B0604020202020204" pitchFamily="34" charset="0"/>
              </a:rPr>
              <a:t>Add tags</a:t>
            </a:r>
          </a:p>
          <a:p>
            <a:pPr eaLnBrk="0" fontAlgn="base" hangingPunct="0">
              <a:spcBef>
                <a:spcPct val="0"/>
              </a:spcBef>
              <a:spcAft>
                <a:spcPts val="600"/>
              </a:spcAft>
            </a:pPr>
            <a:r>
              <a:rPr kumimoji="0" lang="en-US" altLang="en-US" sz="2000" b="0" i="0" u="none" strike="noStrike" cap="none" normalizeH="0" baseline="0">
                <a:ln>
                  <a:noFill/>
                </a:ln>
                <a:effectLst/>
                <a:latin typeface="Arial" panose="020B0604020202020204" pitchFamily="34" charset="0"/>
              </a:rPr>
              <a:t>Join or propose a project</a:t>
            </a: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1097586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19712D-B2E2-E725-596C-339548C4C9B3}"/>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Pitfalls &amp; Solutions</a:t>
            </a:r>
          </a:p>
        </p:txBody>
      </p:sp>
      <p:sp>
        <p:nvSpPr>
          <p:cNvPr id="3" name="Content Placeholder 2">
            <a:extLst>
              <a:ext uri="{FF2B5EF4-FFF2-40B4-BE49-F238E27FC236}">
                <a16:creationId xmlns:a16="http://schemas.microsoft.com/office/drawing/2014/main" id="{D49EA7BB-C5C5-CF6A-8568-C2768559A5DF}"/>
              </a:ext>
            </a:extLst>
          </p:cNvPr>
          <p:cNvSpPr>
            <a:spLocks noGrp="1"/>
          </p:cNvSpPr>
          <p:nvPr>
            <p:ph idx="1"/>
          </p:nvPr>
        </p:nvSpPr>
        <p:spPr>
          <a:xfrm>
            <a:off x="6503158" y="649480"/>
            <a:ext cx="4862447" cy="5546047"/>
          </a:xfrm>
        </p:spPr>
        <p:txBody>
          <a:bodyPr anchor="ctr">
            <a:normAutofit/>
          </a:bodyPr>
          <a:lstStyle/>
          <a:p>
            <a:pPr marL="0" indent="0">
              <a:buNone/>
            </a:pPr>
            <a:r>
              <a:rPr lang="en-US" sz="2000" b="1"/>
              <a:t>Potential Issues</a:t>
            </a:r>
            <a:endParaRPr lang="en-US" sz="2000"/>
          </a:p>
          <a:p>
            <a:r>
              <a:rPr lang="en-US" sz="2000"/>
              <a:t>Losing momentum</a:t>
            </a:r>
          </a:p>
          <a:p>
            <a:r>
              <a:rPr lang="en-US" sz="2000"/>
              <a:t>Unclear asks</a:t>
            </a:r>
          </a:p>
          <a:p>
            <a:pPr marL="0" indent="0">
              <a:buNone/>
            </a:pPr>
            <a:r>
              <a:rPr lang="en-US" sz="2000" b="1"/>
              <a:t>Solution</a:t>
            </a:r>
            <a:endParaRPr lang="en-US" sz="2000"/>
          </a:p>
          <a:p>
            <a:r>
              <a:rPr lang="en-US" sz="2000"/>
              <a:t>“Help Wanted” list on SharePoint</a:t>
            </a:r>
          </a:p>
          <a:p>
            <a:r>
              <a:rPr lang="en-US" sz="2000"/>
              <a:t>Clear updates and next steps</a:t>
            </a:r>
          </a:p>
          <a:p>
            <a:endParaRPr lang="en-US" sz="2000"/>
          </a:p>
        </p:txBody>
      </p:sp>
    </p:spTree>
    <p:extLst>
      <p:ext uri="{BB962C8B-B14F-4D97-AF65-F5344CB8AC3E}">
        <p14:creationId xmlns:p14="http://schemas.microsoft.com/office/powerpoint/2010/main" val="3426424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91D354-6D27-96F5-8EFE-20A5A9063EC9}"/>
              </a:ext>
            </a:extLst>
          </p:cNvPr>
          <p:cNvSpPr>
            <a:spLocks noGrp="1"/>
          </p:cNvSpPr>
          <p:nvPr>
            <p:ph type="title"/>
          </p:nvPr>
        </p:nvSpPr>
        <p:spPr>
          <a:xfrm>
            <a:off x="1331088" y="565739"/>
            <a:ext cx="9745883" cy="1124949"/>
          </a:xfrm>
        </p:spPr>
        <p:txBody>
          <a:bodyPr>
            <a:normAutofit/>
          </a:bodyPr>
          <a:lstStyle/>
          <a:p>
            <a:r>
              <a:rPr lang="en-US">
                <a:solidFill>
                  <a:schemeClr val="bg1"/>
                </a:solidFill>
              </a:rPr>
              <a:t>Next Steps</a:t>
            </a:r>
          </a:p>
        </p:txBody>
      </p:sp>
      <p:sp>
        <p:nvSpPr>
          <p:cNvPr id="12" name="Freeform: Shape 11">
            <a:extLst>
              <a:ext uri="{FF2B5EF4-FFF2-40B4-BE49-F238E27FC236}">
                <a16:creationId xmlns:a16="http://schemas.microsoft.com/office/drawing/2014/main" id="{AAD42DD4-86F6-4FD2-869F-32D35E310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4" name="Freeform: Shape 13">
            <a:extLst>
              <a:ext uri="{FF2B5EF4-FFF2-40B4-BE49-F238E27FC236}">
                <a16:creationId xmlns:a16="http://schemas.microsoft.com/office/drawing/2014/main" id="{4C36B8C5-0DEB-41B5-911D-572E2E835E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5DC987A-A8C7-4C23-9BF5-33E9F6F21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6766" y="2256427"/>
            <a:ext cx="10855283" cy="3963398"/>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213F2CF-C6DF-4CE1-A6F0-E3B1BFBB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256427"/>
            <a:ext cx="10853849" cy="3955009"/>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325C15-4820-4911-B66E-A5F917CFA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5106" y="2125615"/>
            <a:ext cx="10855283" cy="3974760"/>
          </a:xfrm>
          <a:prstGeom prst="rect">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E061707D-D81D-CABD-0776-756017C977E0}"/>
              </a:ext>
            </a:extLst>
          </p:cNvPr>
          <p:cNvGraphicFramePr>
            <a:graphicFrameLocks noGrp="1"/>
          </p:cNvGraphicFramePr>
          <p:nvPr>
            <p:ph idx="1"/>
            <p:extLst>
              <p:ext uri="{D42A27DB-BD31-4B8C-83A1-F6EECF244321}">
                <p14:modId xmlns:p14="http://schemas.microsoft.com/office/powerpoint/2010/main" val="2085537574"/>
              </p:ext>
            </p:extLst>
          </p:nvPr>
        </p:nvGraphicFramePr>
        <p:xfrm>
          <a:off x="1093694" y="2425605"/>
          <a:ext cx="10260106" cy="3371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0687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6F0433FA65469489D59F7C7B4FCE002" ma:contentTypeVersion="14" ma:contentTypeDescription="Create a new document." ma:contentTypeScope="" ma:versionID="1667ef0557256c8fa1e9c2dd814c240c">
  <xsd:schema xmlns:xsd="http://www.w3.org/2001/XMLSchema" xmlns:xs="http://www.w3.org/2001/XMLSchema" xmlns:p="http://schemas.microsoft.com/office/2006/metadata/properties" xmlns:ns3="5158ce1c-6665-4b99-82cf-0e77a0351e4a" xmlns:ns4="1cf66eb1-063b-453d-bf89-415cb65c2f9e" targetNamespace="http://schemas.microsoft.com/office/2006/metadata/properties" ma:root="true" ma:fieldsID="feaadbd47665fc0c49c616c8577dad87" ns3:_="" ns4:_="">
    <xsd:import namespace="5158ce1c-6665-4b99-82cf-0e77a0351e4a"/>
    <xsd:import namespace="1cf66eb1-063b-453d-bf89-415cb65c2f9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SearchPropertie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58ce1c-6665-4b99-82cf-0e77a0351e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66eb1-063b-453d-bf89-415cb65c2f9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158ce1c-6665-4b99-82cf-0e77a0351e4a" xsi:nil="true"/>
  </documentManagement>
</p:properties>
</file>

<file path=customXml/itemProps1.xml><?xml version="1.0" encoding="utf-8"?>
<ds:datastoreItem xmlns:ds="http://schemas.openxmlformats.org/officeDocument/2006/customXml" ds:itemID="{52C18C32-1581-4DC0-A4D4-8BA8747521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58ce1c-6665-4b99-82cf-0e77a0351e4a"/>
    <ds:schemaRef ds:uri="1cf66eb1-063b-453d-bf89-415cb65c2f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456D12A-F102-4679-A010-1B6FCF48894F}">
  <ds:schemaRefs>
    <ds:schemaRef ds:uri="http://schemas.microsoft.com/sharepoint/v3/contenttype/forms"/>
  </ds:schemaRefs>
</ds:datastoreItem>
</file>

<file path=customXml/itemProps3.xml><?xml version="1.0" encoding="utf-8"?>
<ds:datastoreItem xmlns:ds="http://schemas.openxmlformats.org/officeDocument/2006/customXml" ds:itemID="{6A1CE155-3D30-418E-8F1F-A0AE5F6346D6}">
  <ds:schemaRefs>
    <ds:schemaRef ds:uri="5158ce1c-6665-4b99-82cf-0e77a0351e4a"/>
    <ds:schemaRef ds:uri="1cf66eb1-063b-453d-bf89-415cb65c2f9e"/>
    <ds:schemaRef ds:uri="http://purl.org/dc/elements/1.1/"/>
    <ds:schemaRef ds:uri="http://purl.org/dc/terms/"/>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12</TotalTime>
  <Words>804</Words>
  <Application>Microsoft Office PowerPoint</Application>
  <PresentationFormat>Widescreen</PresentationFormat>
  <Paragraphs>91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Arial Unicode MS</vt:lpstr>
      <vt:lpstr>Office Theme</vt:lpstr>
      <vt:lpstr>Programming Special Interest Group (PSIG)</vt:lpstr>
      <vt:lpstr>Mission &amp; Scope</vt:lpstr>
      <vt:lpstr>Membership &amp; Decision Making</vt:lpstr>
      <vt:lpstr>Meeting Cadence (A/B Weeks)</vt:lpstr>
      <vt:lpstr>Roles</vt:lpstr>
      <vt:lpstr>Informal Tags</vt:lpstr>
      <vt:lpstr>Code of Conduct</vt:lpstr>
      <vt:lpstr>Communication &amp; Tools</vt:lpstr>
      <vt:lpstr>Pitfalls &amp; Solutions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Brown</dc:creator>
  <cp:lastModifiedBy>Andrew Brown</cp:lastModifiedBy>
  <cp:revision>1</cp:revision>
  <dcterms:created xsi:type="dcterms:W3CDTF">2025-08-21T22:38:32Z</dcterms:created>
  <dcterms:modified xsi:type="dcterms:W3CDTF">2025-08-21T22:51:20Z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0x01010096F0433FA65469489D59F7C7B4FCE002</vt:lpwstr>
  </property>
</Properties>
</file>